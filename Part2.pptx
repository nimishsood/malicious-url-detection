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67" r:id="rId5"/>
    <p:sldId id="259" r:id="rId6"/>
    <p:sldId id="260" r:id="rId7"/>
    <p:sldId id="274" r:id="rId8"/>
    <p:sldId id="268" r:id="rId9"/>
    <p:sldId id="269" r:id="rId10"/>
    <p:sldId id="270" r:id="rId11"/>
    <p:sldId id="261" r:id="rId12"/>
    <p:sldId id="271" r:id="rId13"/>
    <p:sldId id="262" r:id="rId14"/>
    <p:sldId id="263" r:id="rId15"/>
    <p:sldId id="272" r:id="rId16"/>
    <p:sldId id="264" r:id="rId17"/>
    <p:sldId id="265" r:id="rId18"/>
    <p:sldId id="266"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9" d="100"/>
          <a:sy n="149" d="100"/>
        </p:scale>
        <p:origin x="50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8078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the stage. Emphasize that 'lexical features only' is the key constraint — we're asking whether the URL string itself has enough signal. Don't spend too long here; just establish the 4 classes and two tasks before moving to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imbalance early. The 18:1 ratio is the single most important data characteristic for understanding why we care about balanced accuracy and macro F1. Mention the Kaggle source for anyone who wants to look it up.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brief. Key message: the cleaning pipeline is transparent and auditable — nearly 99% of data survives. Emphasize the URL length and scheme findings because they foreshadow the model coefficients on a later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two feature sets: core (structural/count) and extended (adds suspicious token flags like 'verify', 'login'). The CV comparison showed only marginal gain from the tokens, so most signal is in the core structure. Standardization lets us compare coefficients fairly.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k-NN wins on every metric for prediction. But emphasize: we keep logistic regression because its coefficients are interpretable — that's shown on the next slide. The baseline has 0 recall on the malicious class, proving why we can't just predict 'benign' always.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interpretation slides. The 'has_scheme' coefficient is massive (+5.91) — explain this reflects dataset composition, not a causal rule. Defacement and malware are essentially always full URLs with http/https. Benign URLs in this dataset mostly skip the scheme. Don't let the class mistake these associations for universal rules.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phishing row is the key message here. Logistic regression F1=0.50 is barely better than random for a 4-class problem. Point out that phishing URLs look more like benign URLs lexically — short, simple, often missing the http scheme. k-NN does much better but still only 0.77. This is an honest limitation of lexical-only detection.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intellectual honesty slide. The class should leave understanding that a 93.5% balanced accuracy doesn't mean the problem is solved. Source bias, label quality, and lexical-only scope are all real limitations. The strong has_scheme coefficient is a great concrete example of why results need context.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confidence. The project did what it set out to do: built a reproducible, interpretable, honest pipeline for lexical URL classification. The honest limitations are what make it a good analysis — anyone can train a model, but acknowledging what it can't prove is harder and more valuable.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only present if asked about specific numbers. Contains the exact hyperparameters chosen by CV and the full metric comparison across both tasks. The feature set gain of 0.0006 is a good conversation piece about when marginal gains matter.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28090"/>
          </a:solidFill>
          <a:ln w="12700">
            <a:solidFill>
              <a:srgbClr val="028090"/>
            </a:solidFill>
            <a:prstDash val="solid"/>
          </a:ln>
        </p:spPr>
        <p:txBody>
          <a:bodyPr/>
          <a:lstStyle/>
          <a:p>
            <a:endParaRPr lang="en-IN"/>
          </a:p>
        </p:txBody>
      </p:sp>
      <p:sp>
        <p:nvSpPr>
          <p:cNvPr id="3" name="Shape 1"/>
          <p:cNvSpPr/>
          <p:nvPr/>
        </p:nvSpPr>
        <p:spPr>
          <a:xfrm>
            <a:off x="0" y="109728"/>
            <a:ext cx="109728" cy="5033772"/>
          </a:xfrm>
          <a:prstGeom prst="rect">
            <a:avLst/>
          </a:prstGeom>
          <a:solidFill>
            <a:srgbClr val="028090"/>
          </a:solidFill>
          <a:ln w="12700">
            <a:solidFill>
              <a:srgbClr val="028090"/>
            </a:solidFill>
            <a:prstDash val="solid"/>
          </a:ln>
        </p:spPr>
        <p:txBody>
          <a:bodyPr/>
          <a:lstStyle/>
          <a:p>
            <a:endParaRPr lang="en-IN"/>
          </a:p>
        </p:txBody>
      </p:sp>
      <p:sp>
        <p:nvSpPr>
          <p:cNvPr id="4" name="Text 2"/>
          <p:cNvSpPr/>
          <p:nvPr/>
        </p:nvSpPr>
        <p:spPr>
          <a:xfrm>
            <a:off x="384048" y="914400"/>
            <a:ext cx="8412480" cy="1417320"/>
          </a:xfrm>
          <a:prstGeom prst="rect">
            <a:avLst/>
          </a:prstGeom>
          <a:noFill/>
          <a:ln/>
        </p:spPr>
        <p:txBody>
          <a:bodyPr wrap="square" rtlCol="0" anchor="ctr"/>
          <a:lstStyle/>
          <a:p>
            <a:pPr marL="0" indent="0" algn="l">
              <a:buNone/>
            </a:pPr>
            <a:r>
              <a:rPr lang="en-US" sz="4000" b="1" kern="0" spc="100" dirty="0">
                <a:solidFill>
                  <a:srgbClr val="FFFFFF"/>
                </a:solidFill>
                <a:latin typeface="Calibri" pitchFamily="34" charset="0"/>
                <a:ea typeface="Calibri" pitchFamily="34" charset="-122"/>
                <a:cs typeface="Calibri" pitchFamily="34" charset="-120"/>
              </a:rPr>
              <a:t>Can a URL's Text</a:t>
            </a:r>
            <a:endParaRPr lang="en-US" sz="4000" dirty="0"/>
          </a:p>
          <a:p>
            <a:pPr marL="0" indent="0" algn="l">
              <a:buNone/>
            </a:pPr>
            <a:r>
              <a:rPr lang="en-US" sz="4000" b="1" kern="0" spc="100" dirty="0">
                <a:solidFill>
                  <a:srgbClr val="FFFFFF"/>
                </a:solidFill>
                <a:latin typeface="Calibri" pitchFamily="34" charset="0"/>
                <a:ea typeface="Calibri" pitchFamily="34" charset="-122"/>
                <a:cs typeface="Calibri" pitchFamily="34" charset="-120"/>
              </a:rPr>
              <a:t>Reveal Its Intent?</a:t>
            </a:r>
            <a:endParaRPr lang="en-US" sz="4000" dirty="0"/>
          </a:p>
        </p:txBody>
      </p:sp>
      <p:sp>
        <p:nvSpPr>
          <p:cNvPr id="5" name="Shape 3"/>
          <p:cNvSpPr/>
          <p:nvPr/>
        </p:nvSpPr>
        <p:spPr>
          <a:xfrm>
            <a:off x="384048" y="2423160"/>
            <a:ext cx="5943600" cy="36576"/>
          </a:xfrm>
          <a:prstGeom prst="rect">
            <a:avLst/>
          </a:prstGeom>
          <a:solidFill>
            <a:srgbClr val="028090"/>
          </a:solidFill>
          <a:ln w="12700">
            <a:solidFill>
              <a:srgbClr val="028090"/>
            </a:solidFill>
            <a:prstDash val="solid"/>
          </a:ln>
        </p:spPr>
        <p:txBody>
          <a:bodyPr/>
          <a:lstStyle/>
          <a:p>
            <a:endParaRPr lang="en-IN"/>
          </a:p>
        </p:txBody>
      </p:sp>
      <p:sp>
        <p:nvSpPr>
          <p:cNvPr id="6" name="Text 4"/>
          <p:cNvSpPr/>
          <p:nvPr/>
        </p:nvSpPr>
        <p:spPr>
          <a:xfrm>
            <a:off x="384048" y="2514600"/>
            <a:ext cx="8412480" cy="411480"/>
          </a:xfrm>
          <a:prstGeom prst="rect">
            <a:avLst/>
          </a:prstGeom>
          <a:noFill/>
          <a:ln/>
        </p:spPr>
        <p:txBody>
          <a:bodyPr wrap="square" rtlCol="0" anchor="ctr"/>
          <a:lstStyle/>
          <a:p>
            <a:pPr marL="0" indent="0" algn="l">
              <a:buNone/>
            </a:pPr>
            <a:r>
              <a:rPr lang="en-US" sz="1700" dirty="0">
                <a:solidFill>
                  <a:srgbClr val="CADCFC"/>
                </a:solidFill>
                <a:latin typeface="Calibri" pitchFamily="34" charset="0"/>
                <a:ea typeface="Calibri" pitchFamily="34" charset="-122"/>
                <a:cs typeface="Calibri" pitchFamily="34" charset="-120"/>
              </a:rPr>
              <a:t>Malicious URL Detection Using Lexical Features Only</a:t>
            </a:r>
            <a:endParaRPr lang="en-US" sz="1700" dirty="0"/>
          </a:p>
        </p:txBody>
      </p:sp>
      <p:sp>
        <p:nvSpPr>
          <p:cNvPr id="7" name="Shape 5"/>
          <p:cNvSpPr/>
          <p:nvPr/>
        </p:nvSpPr>
        <p:spPr>
          <a:xfrm>
            <a:off x="384048" y="3154680"/>
            <a:ext cx="1691640" cy="292608"/>
          </a:xfrm>
          <a:prstGeom prst="roundRect">
            <a:avLst>
              <a:gd name="adj" fmla="val 15625"/>
            </a:avLst>
          </a:prstGeom>
          <a:solidFill>
            <a:srgbClr val="1B2A41"/>
          </a:solidFill>
          <a:ln w="9525">
            <a:solidFill>
              <a:srgbClr val="028090"/>
            </a:solidFill>
            <a:prstDash val="solid"/>
          </a:ln>
        </p:spPr>
        <p:txBody>
          <a:bodyPr/>
          <a:lstStyle/>
          <a:p>
            <a:endParaRPr lang="en-IN"/>
          </a:p>
        </p:txBody>
      </p:sp>
      <p:sp>
        <p:nvSpPr>
          <p:cNvPr id="8" name="Text 6"/>
          <p:cNvSpPr/>
          <p:nvPr/>
        </p:nvSpPr>
        <p:spPr>
          <a:xfrm>
            <a:off x="384048" y="3154680"/>
            <a:ext cx="1691640" cy="292608"/>
          </a:xfrm>
          <a:prstGeom prst="rect">
            <a:avLst/>
          </a:prstGeom>
          <a:noFill/>
          <a:ln/>
        </p:spPr>
        <p:txBody>
          <a:bodyPr wrap="square" lIns="0" tIns="0" rIns="0" bIns="0" rtlCol="0" anchor="ctr"/>
          <a:lstStyle/>
          <a:p>
            <a:pPr marL="0" indent="0" algn="ctr">
              <a:buNone/>
            </a:pPr>
            <a:r>
              <a:rPr lang="en-US" sz="900" dirty="0">
                <a:solidFill>
                  <a:srgbClr val="00B4D8"/>
                </a:solidFill>
                <a:latin typeface="Calibri" pitchFamily="34" charset="0"/>
                <a:ea typeface="Calibri" pitchFamily="34" charset="-122"/>
                <a:cs typeface="Calibri" pitchFamily="34" charset="-120"/>
              </a:rPr>
              <a:t>Binary Classification</a:t>
            </a:r>
            <a:endParaRPr lang="en-US" sz="900" dirty="0"/>
          </a:p>
        </p:txBody>
      </p:sp>
      <p:sp>
        <p:nvSpPr>
          <p:cNvPr id="9" name="Shape 7"/>
          <p:cNvSpPr/>
          <p:nvPr/>
        </p:nvSpPr>
        <p:spPr>
          <a:xfrm>
            <a:off x="2185416" y="3154680"/>
            <a:ext cx="1691640" cy="292608"/>
          </a:xfrm>
          <a:prstGeom prst="roundRect">
            <a:avLst>
              <a:gd name="adj" fmla="val 15625"/>
            </a:avLst>
          </a:prstGeom>
          <a:solidFill>
            <a:srgbClr val="1B2A41"/>
          </a:solidFill>
          <a:ln w="9525">
            <a:solidFill>
              <a:srgbClr val="028090"/>
            </a:solidFill>
            <a:prstDash val="solid"/>
          </a:ln>
        </p:spPr>
        <p:txBody>
          <a:bodyPr/>
          <a:lstStyle/>
          <a:p>
            <a:endParaRPr lang="en-IN"/>
          </a:p>
        </p:txBody>
      </p:sp>
      <p:sp>
        <p:nvSpPr>
          <p:cNvPr id="10" name="Text 8"/>
          <p:cNvSpPr/>
          <p:nvPr/>
        </p:nvSpPr>
        <p:spPr>
          <a:xfrm>
            <a:off x="2185416" y="3154680"/>
            <a:ext cx="1691640" cy="292608"/>
          </a:xfrm>
          <a:prstGeom prst="rect">
            <a:avLst/>
          </a:prstGeom>
          <a:noFill/>
          <a:ln/>
        </p:spPr>
        <p:txBody>
          <a:bodyPr wrap="square" lIns="0" tIns="0" rIns="0" bIns="0" rtlCol="0" anchor="ctr"/>
          <a:lstStyle/>
          <a:p>
            <a:pPr marL="0" indent="0" algn="ctr">
              <a:buNone/>
            </a:pPr>
            <a:r>
              <a:rPr lang="en-US" sz="900" dirty="0">
                <a:solidFill>
                  <a:srgbClr val="00B4D8"/>
                </a:solidFill>
                <a:latin typeface="Calibri" pitchFamily="34" charset="0"/>
                <a:ea typeface="Calibri" pitchFamily="34" charset="-122"/>
                <a:cs typeface="Calibri" pitchFamily="34" charset="-120"/>
              </a:rPr>
              <a:t>Multiclass Classification</a:t>
            </a:r>
            <a:endParaRPr lang="en-US" sz="900" dirty="0"/>
          </a:p>
        </p:txBody>
      </p:sp>
      <p:sp>
        <p:nvSpPr>
          <p:cNvPr id="11" name="Shape 9"/>
          <p:cNvSpPr/>
          <p:nvPr/>
        </p:nvSpPr>
        <p:spPr>
          <a:xfrm>
            <a:off x="3986784" y="3154680"/>
            <a:ext cx="1691640" cy="292608"/>
          </a:xfrm>
          <a:prstGeom prst="roundRect">
            <a:avLst>
              <a:gd name="adj" fmla="val 15625"/>
            </a:avLst>
          </a:prstGeom>
          <a:solidFill>
            <a:srgbClr val="1B2A41"/>
          </a:solidFill>
          <a:ln w="9525">
            <a:solidFill>
              <a:srgbClr val="028090"/>
            </a:solidFill>
            <a:prstDash val="solid"/>
          </a:ln>
        </p:spPr>
        <p:txBody>
          <a:bodyPr/>
          <a:lstStyle/>
          <a:p>
            <a:endParaRPr lang="en-IN"/>
          </a:p>
        </p:txBody>
      </p:sp>
      <p:sp>
        <p:nvSpPr>
          <p:cNvPr id="12" name="Text 10"/>
          <p:cNvSpPr/>
          <p:nvPr/>
        </p:nvSpPr>
        <p:spPr>
          <a:xfrm>
            <a:off x="3986784" y="3154680"/>
            <a:ext cx="1691640" cy="292608"/>
          </a:xfrm>
          <a:prstGeom prst="rect">
            <a:avLst/>
          </a:prstGeom>
          <a:noFill/>
          <a:ln/>
        </p:spPr>
        <p:txBody>
          <a:bodyPr wrap="square" lIns="0" tIns="0" rIns="0" bIns="0" rtlCol="0" anchor="ctr"/>
          <a:lstStyle/>
          <a:p>
            <a:pPr marL="0" indent="0" algn="ctr">
              <a:buNone/>
            </a:pPr>
            <a:r>
              <a:rPr lang="en-US" sz="900" dirty="0">
                <a:solidFill>
                  <a:srgbClr val="00B4D8"/>
                </a:solidFill>
                <a:latin typeface="Calibri" pitchFamily="34" charset="0"/>
                <a:ea typeface="Calibri" pitchFamily="34" charset="-122"/>
                <a:cs typeface="Calibri" pitchFamily="34" charset="-120"/>
              </a:rPr>
              <a:t>Logistic Regression</a:t>
            </a:r>
            <a:endParaRPr lang="en-US" sz="900" dirty="0"/>
          </a:p>
        </p:txBody>
      </p:sp>
      <p:sp>
        <p:nvSpPr>
          <p:cNvPr id="13" name="Shape 11"/>
          <p:cNvSpPr/>
          <p:nvPr/>
        </p:nvSpPr>
        <p:spPr>
          <a:xfrm>
            <a:off x="5788152" y="3154680"/>
            <a:ext cx="1691640" cy="292608"/>
          </a:xfrm>
          <a:prstGeom prst="roundRect">
            <a:avLst>
              <a:gd name="adj" fmla="val 15625"/>
            </a:avLst>
          </a:prstGeom>
          <a:solidFill>
            <a:srgbClr val="1B2A41"/>
          </a:solidFill>
          <a:ln w="9525">
            <a:solidFill>
              <a:srgbClr val="028090"/>
            </a:solidFill>
            <a:prstDash val="solid"/>
          </a:ln>
        </p:spPr>
        <p:txBody>
          <a:bodyPr/>
          <a:lstStyle/>
          <a:p>
            <a:endParaRPr lang="en-IN"/>
          </a:p>
        </p:txBody>
      </p:sp>
      <p:sp>
        <p:nvSpPr>
          <p:cNvPr id="14" name="Text 12"/>
          <p:cNvSpPr/>
          <p:nvPr/>
        </p:nvSpPr>
        <p:spPr>
          <a:xfrm>
            <a:off x="5788152" y="3154680"/>
            <a:ext cx="1691640" cy="292608"/>
          </a:xfrm>
          <a:prstGeom prst="rect">
            <a:avLst/>
          </a:prstGeom>
          <a:noFill/>
          <a:ln/>
        </p:spPr>
        <p:txBody>
          <a:bodyPr wrap="square" lIns="0" tIns="0" rIns="0" bIns="0" rtlCol="0" anchor="ctr"/>
          <a:lstStyle/>
          <a:p>
            <a:pPr marL="0" indent="0" algn="ctr">
              <a:buNone/>
            </a:pPr>
            <a:r>
              <a:rPr lang="en-US" sz="900" dirty="0">
                <a:solidFill>
                  <a:srgbClr val="00B4D8"/>
                </a:solidFill>
                <a:latin typeface="Calibri" pitchFamily="34" charset="0"/>
                <a:ea typeface="Calibri" pitchFamily="34" charset="-122"/>
                <a:cs typeface="Calibri" pitchFamily="34" charset="-120"/>
              </a:rPr>
              <a:t>k-NN</a:t>
            </a:r>
            <a:endParaRPr lang="en-US" sz="900" dirty="0"/>
          </a:p>
        </p:txBody>
      </p:sp>
      <p:sp>
        <p:nvSpPr>
          <p:cNvPr id="15" name="Text 13"/>
          <p:cNvSpPr/>
          <p:nvPr/>
        </p:nvSpPr>
        <p:spPr>
          <a:xfrm>
            <a:off x="384048" y="3749040"/>
            <a:ext cx="8412480" cy="256032"/>
          </a:xfrm>
          <a:prstGeom prst="rect">
            <a:avLst/>
          </a:prstGeom>
          <a:noFill/>
          <a:ln/>
        </p:spPr>
        <p:txBody>
          <a:bodyPr wrap="square" rtlCol="0" anchor="ctr"/>
          <a:lstStyle/>
          <a:p>
            <a:pPr marL="0" indent="0" algn="l">
              <a:buNone/>
            </a:pPr>
            <a:r>
              <a:rPr lang="en-US" sz="1000" dirty="0">
                <a:solidFill>
                  <a:srgbClr val="64748B"/>
                </a:solidFill>
                <a:latin typeface="Calibri" pitchFamily="34" charset="0"/>
                <a:ea typeface="Calibri" pitchFamily="34" charset="-122"/>
                <a:cs typeface="Calibri" pitchFamily="34" charset="-120"/>
              </a:rPr>
              <a:t>Dataset: Kaggle Malicious URLs  ·  640,792 cleaned URLs  ·  4 classes</a:t>
            </a:r>
            <a:endParaRPr lang="en-US" sz="1000" dirty="0"/>
          </a:p>
        </p:txBody>
      </p:sp>
      <p:sp>
        <p:nvSpPr>
          <p:cNvPr id="16" name="Shape 14"/>
          <p:cNvSpPr/>
          <p:nvPr/>
        </p:nvSpPr>
        <p:spPr>
          <a:xfrm>
            <a:off x="0" y="4896612"/>
            <a:ext cx="9144000" cy="246888"/>
          </a:xfrm>
          <a:prstGeom prst="rect">
            <a:avLst/>
          </a:prstGeom>
          <a:solidFill>
            <a:srgbClr val="028090"/>
          </a:solidFill>
          <a:ln w="12700">
            <a:solidFill>
              <a:srgbClr val="028090"/>
            </a:solidFill>
            <a:prstDash val="solid"/>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The Problem: Detecting Malicious URLs From Text Alone</a:t>
            </a:r>
            <a:endParaRPr lang="en-US" sz="2000" dirty="0"/>
          </a:p>
        </p:txBody>
      </p:sp>
      <p:sp>
        <p:nvSpPr>
          <p:cNvPr id="4" name="Shape 2"/>
          <p:cNvSpPr/>
          <p:nvPr/>
        </p:nvSpPr>
        <p:spPr>
          <a:xfrm>
            <a:off x="0" y="4892040"/>
            <a:ext cx="9144000" cy="251460"/>
          </a:xfrm>
          <a:prstGeom prst="rect">
            <a:avLst/>
          </a:prstGeom>
          <a:solidFill>
            <a:srgbClr val="1B2A41"/>
          </a:solidFill>
          <a:ln w="12700">
            <a:solidFill>
              <a:srgbClr val="1B2A41"/>
            </a:solidFill>
            <a:prstDash val="solid"/>
          </a:ln>
        </p:spPr>
        <p:txBody>
          <a:bodyPr/>
          <a:lstStyle/>
          <a:p>
            <a:endParaRPr lang="en-IN"/>
          </a:p>
        </p:txBody>
      </p:sp>
      <p:sp>
        <p:nvSpPr>
          <p:cNvPr id="5" name="Text 3"/>
          <p:cNvSpPr/>
          <p:nvPr/>
        </p:nvSpPr>
        <p:spPr>
          <a:xfrm>
            <a:off x="274320" y="4892040"/>
            <a:ext cx="8595360" cy="251460"/>
          </a:xfrm>
          <a:prstGeom prst="rect">
            <a:avLst/>
          </a:prstGeom>
          <a:noFill/>
          <a:ln/>
        </p:spPr>
        <p:txBody>
          <a:bodyPr wrap="square" lIns="0" tIns="0" rIns="0" bIns="0" rtlCol="0" anchor="ctr"/>
          <a:lstStyle/>
          <a:p>
            <a:pPr marL="0" indent="0">
              <a:buNone/>
            </a:pPr>
            <a:r>
              <a:rPr lang="en-US" sz="800" dirty="0">
                <a:solidFill>
                  <a:srgbClr val="CADCFC"/>
                </a:solidFill>
                <a:latin typeface="Calibri" pitchFamily="34" charset="0"/>
                <a:ea typeface="Calibri" pitchFamily="34" charset="-122"/>
                <a:cs typeface="Calibri" pitchFamily="34" charset="-120"/>
              </a:rPr>
              <a:t>Malicious URL Detection · Lexical Features Only  |  Motivation &amp; Scope</a:t>
            </a:r>
            <a:endParaRPr lang="en-US" sz="800" dirty="0"/>
          </a:p>
        </p:txBody>
      </p:sp>
      <p:sp>
        <p:nvSpPr>
          <p:cNvPr id="6" name="Text 4"/>
          <p:cNvSpPr/>
          <p:nvPr/>
        </p:nvSpPr>
        <p:spPr>
          <a:xfrm>
            <a:off x="320040" y="822960"/>
            <a:ext cx="4754880" cy="292608"/>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What We're Studying</a:t>
            </a:r>
            <a:endParaRPr lang="en-US" sz="1300" dirty="0"/>
          </a:p>
        </p:txBody>
      </p:sp>
      <p:sp>
        <p:nvSpPr>
          <p:cNvPr id="7" name="Text 5"/>
          <p:cNvSpPr/>
          <p:nvPr/>
        </p:nvSpPr>
        <p:spPr>
          <a:xfrm>
            <a:off x="320040" y="1170432"/>
            <a:ext cx="4754880" cy="1691640"/>
          </a:xfrm>
          <a:prstGeom prst="rect">
            <a:avLst/>
          </a:prstGeom>
          <a:noFill/>
          <a:ln/>
        </p:spPr>
        <p:txBody>
          <a:bodyPr wrap="square" lIns="0" tIns="0" rIns="0" bIns="0" rtlCol="0" anchor="t"/>
          <a:lstStyle/>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Malicious URLs are used in phishing, malware delivery, and web defacement</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Most detection systems rely on content, DNS records, or reputation — but what does the URL string itself tell us?</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This project uses only lexical features extracted from the raw URL text</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Two tasks: (1) Binary — benign vs. malicious, (2) Multiclass — all 4 types</a:t>
            </a:r>
            <a:endParaRPr lang="en-US" sz="1100" dirty="0"/>
          </a:p>
        </p:txBody>
      </p:sp>
      <p:sp>
        <p:nvSpPr>
          <p:cNvPr id="8" name="Text 6"/>
          <p:cNvSpPr/>
          <p:nvPr/>
        </p:nvSpPr>
        <p:spPr>
          <a:xfrm>
            <a:off x="5349240" y="822960"/>
            <a:ext cx="3566160" cy="292608"/>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The 4 URL Classes</a:t>
            </a:r>
            <a:endParaRPr lang="en-US" sz="1300" dirty="0"/>
          </a:p>
        </p:txBody>
      </p:sp>
      <p:sp>
        <p:nvSpPr>
          <p:cNvPr id="9" name="Shape 7"/>
          <p:cNvSpPr/>
          <p:nvPr/>
        </p:nvSpPr>
        <p:spPr>
          <a:xfrm>
            <a:off x="5349240" y="1170432"/>
            <a:ext cx="3520440" cy="731520"/>
          </a:xfrm>
          <a:prstGeom prst="rect">
            <a:avLst/>
          </a:prstGeom>
          <a:solidFill>
            <a:srgbClr val="FFFFFF"/>
          </a:solidFill>
          <a:ln w="6350">
            <a:solidFill>
              <a:srgbClr val="D1D5DB"/>
            </a:solidFill>
            <a:prstDash val="solid"/>
          </a:ln>
          <a:effectLst>
            <a:outerShdw blurRad="101600" dist="38100" dir="8100000" algn="bl" rotWithShape="0">
              <a:srgbClr val="000000">
                <a:alpha val="12000"/>
              </a:srgbClr>
            </a:outerShdw>
          </a:effectLst>
        </p:spPr>
        <p:txBody>
          <a:bodyPr/>
          <a:lstStyle/>
          <a:p>
            <a:endParaRPr lang="en-IN"/>
          </a:p>
        </p:txBody>
      </p:sp>
      <p:sp>
        <p:nvSpPr>
          <p:cNvPr id="10" name="Shape 8"/>
          <p:cNvSpPr/>
          <p:nvPr/>
        </p:nvSpPr>
        <p:spPr>
          <a:xfrm>
            <a:off x="5349240" y="1170432"/>
            <a:ext cx="54864" cy="731520"/>
          </a:xfrm>
          <a:prstGeom prst="rect">
            <a:avLst/>
          </a:prstGeom>
          <a:solidFill>
            <a:srgbClr val="22C55E"/>
          </a:solidFill>
          <a:ln w="12700">
            <a:solidFill>
              <a:srgbClr val="22C55E"/>
            </a:solidFill>
            <a:prstDash val="solid"/>
          </a:ln>
        </p:spPr>
        <p:txBody>
          <a:bodyPr/>
          <a:lstStyle/>
          <a:p>
            <a:endParaRPr lang="en-IN"/>
          </a:p>
        </p:txBody>
      </p:sp>
      <p:sp>
        <p:nvSpPr>
          <p:cNvPr id="11" name="Text 9"/>
          <p:cNvSpPr/>
          <p:nvPr/>
        </p:nvSpPr>
        <p:spPr>
          <a:xfrm>
            <a:off x="5486400" y="1243584"/>
            <a:ext cx="2194560" cy="256032"/>
          </a:xfrm>
          <a:prstGeom prst="rect">
            <a:avLst/>
          </a:prstGeom>
          <a:noFill/>
          <a:ln/>
        </p:spPr>
        <p:txBody>
          <a:bodyPr wrap="square" lIns="0" tIns="0" rIns="0" bIns="0" rtlCol="0" anchor="ctr"/>
          <a:lstStyle/>
          <a:p>
            <a:pPr marL="0" indent="0">
              <a:buNone/>
            </a:pPr>
            <a:r>
              <a:rPr lang="en-US" sz="1150" b="1" dirty="0">
                <a:solidFill>
                  <a:srgbClr val="0D1B2A"/>
                </a:solidFill>
                <a:latin typeface="Calibri" pitchFamily="34" charset="0"/>
                <a:ea typeface="Calibri" pitchFamily="34" charset="-122"/>
                <a:cs typeface="Calibri" pitchFamily="34" charset="-120"/>
              </a:rPr>
              <a:t>Benign</a:t>
            </a:r>
            <a:endParaRPr lang="en-US" sz="1150" dirty="0"/>
          </a:p>
        </p:txBody>
      </p:sp>
      <p:sp>
        <p:nvSpPr>
          <p:cNvPr id="12" name="Text 10"/>
          <p:cNvSpPr/>
          <p:nvPr/>
        </p:nvSpPr>
        <p:spPr>
          <a:xfrm>
            <a:off x="5486400" y="1517904"/>
            <a:ext cx="2194560" cy="21945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Safe, legitimate URLs</a:t>
            </a:r>
            <a:endParaRPr lang="en-US" sz="950" dirty="0"/>
          </a:p>
        </p:txBody>
      </p:sp>
      <p:sp>
        <p:nvSpPr>
          <p:cNvPr id="13" name="Shape 11"/>
          <p:cNvSpPr/>
          <p:nvPr/>
        </p:nvSpPr>
        <p:spPr>
          <a:xfrm>
            <a:off x="8275320" y="1335024"/>
            <a:ext cx="530352" cy="310896"/>
          </a:xfrm>
          <a:prstGeom prst="rect">
            <a:avLst/>
          </a:prstGeom>
          <a:solidFill>
            <a:srgbClr val="22C55E"/>
          </a:solidFill>
          <a:ln w="12700">
            <a:solidFill>
              <a:srgbClr val="22C55E"/>
            </a:solidFill>
            <a:prstDash val="solid"/>
          </a:ln>
        </p:spPr>
        <p:txBody>
          <a:bodyPr/>
          <a:lstStyle/>
          <a:p>
            <a:endParaRPr lang="en-IN"/>
          </a:p>
        </p:txBody>
      </p:sp>
      <p:sp>
        <p:nvSpPr>
          <p:cNvPr id="14" name="Text 12"/>
          <p:cNvSpPr/>
          <p:nvPr/>
        </p:nvSpPr>
        <p:spPr>
          <a:xfrm>
            <a:off x="8275320" y="1335024"/>
            <a:ext cx="530352"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66.8%</a:t>
            </a:r>
            <a:endParaRPr lang="en-US" sz="900" dirty="0"/>
          </a:p>
        </p:txBody>
      </p:sp>
      <p:sp>
        <p:nvSpPr>
          <p:cNvPr id="15" name="Shape 13"/>
          <p:cNvSpPr/>
          <p:nvPr/>
        </p:nvSpPr>
        <p:spPr>
          <a:xfrm>
            <a:off x="5349240" y="2011680"/>
            <a:ext cx="3520440" cy="731520"/>
          </a:xfrm>
          <a:prstGeom prst="rect">
            <a:avLst/>
          </a:prstGeom>
          <a:solidFill>
            <a:srgbClr val="FFFFFF"/>
          </a:solidFill>
          <a:ln w="6350">
            <a:solidFill>
              <a:srgbClr val="D1D5DB"/>
            </a:solidFill>
            <a:prstDash val="solid"/>
          </a:ln>
          <a:effectLst>
            <a:outerShdw blurRad="101600" dist="38100" dir="8100000" algn="bl" rotWithShape="0">
              <a:srgbClr val="000000">
                <a:alpha val="12000"/>
              </a:srgbClr>
            </a:outerShdw>
          </a:effectLst>
        </p:spPr>
        <p:txBody>
          <a:bodyPr/>
          <a:lstStyle/>
          <a:p>
            <a:endParaRPr lang="en-IN"/>
          </a:p>
        </p:txBody>
      </p:sp>
      <p:sp>
        <p:nvSpPr>
          <p:cNvPr id="16" name="Shape 14"/>
          <p:cNvSpPr/>
          <p:nvPr/>
        </p:nvSpPr>
        <p:spPr>
          <a:xfrm>
            <a:off x="5349240" y="2011680"/>
            <a:ext cx="54864" cy="731520"/>
          </a:xfrm>
          <a:prstGeom prst="rect">
            <a:avLst/>
          </a:prstGeom>
          <a:solidFill>
            <a:srgbClr val="E63946"/>
          </a:solidFill>
          <a:ln w="12700">
            <a:solidFill>
              <a:srgbClr val="E63946"/>
            </a:solidFill>
            <a:prstDash val="solid"/>
          </a:ln>
        </p:spPr>
        <p:txBody>
          <a:bodyPr/>
          <a:lstStyle/>
          <a:p>
            <a:endParaRPr lang="en-IN"/>
          </a:p>
        </p:txBody>
      </p:sp>
      <p:sp>
        <p:nvSpPr>
          <p:cNvPr id="17" name="Text 15"/>
          <p:cNvSpPr/>
          <p:nvPr/>
        </p:nvSpPr>
        <p:spPr>
          <a:xfrm>
            <a:off x="5486400" y="2084832"/>
            <a:ext cx="2194560" cy="256032"/>
          </a:xfrm>
          <a:prstGeom prst="rect">
            <a:avLst/>
          </a:prstGeom>
          <a:noFill/>
          <a:ln/>
        </p:spPr>
        <p:txBody>
          <a:bodyPr wrap="square" lIns="0" tIns="0" rIns="0" bIns="0" rtlCol="0" anchor="ctr"/>
          <a:lstStyle/>
          <a:p>
            <a:pPr marL="0" indent="0">
              <a:buNone/>
            </a:pPr>
            <a:r>
              <a:rPr lang="en-US" sz="1150" b="1" dirty="0">
                <a:solidFill>
                  <a:srgbClr val="0D1B2A"/>
                </a:solidFill>
                <a:latin typeface="Calibri" pitchFamily="34" charset="0"/>
                <a:ea typeface="Calibri" pitchFamily="34" charset="-122"/>
                <a:cs typeface="Calibri" pitchFamily="34" charset="-120"/>
              </a:rPr>
              <a:t>Phishing</a:t>
            </a:r>
            <a:endParaRPr lang="en-US" sz="1150" dirty="0"/>
          </a:p>
        </p:txBody>
      </p:sp>
      <p:sp>
        <p:nvSpPr>
          <p:cNvPr id="18" name="Text 16"/>
          <p:cNvSpPr/>
          <p:nvPr/>
        </p:nvSpPr>
        <p:spPr>
          <a:xfrm>
            <a:off x="5486400" y="2359152"/>
            <a:ext cx="2194560" cy="21945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Credential &amp; data theft</a:t>
            </a:r>
            <a:endParaRPr lang="en-US" sz="950" dirty="0"/>
          </a:p>
        </p:txBody>
      </p:sp>
      <p:sp>
        <p:nvSpPr>
          <p:cNvPr id="19" name="Shape 17"/>
          <p:cNvSpPr/>
          <p:nvPr/>
        </p:nvSpPr>
        <p:spPr>
          <a:xfrm>
            <a:off x="8275320" y="2176272"/>
            <a:ext cx="530352" cy="310896"/>
          </a:xfrm>
          <a:prstGeom prst="rect">
            <a:avLst/>
          </a:prstGeom>
          <a:solidFill>
            <a:srgbClr val="E63946"/>
          </a:solidFill>
          <a:ln w="12700">
            <a:solidFill>
              <a:srgbClr val="E63946"/>
            </a:solidFill>
            <a:prstDash val="solid"/>
          </a:ln>
        </p:spPr>
        <p:txBody>
          <a:bodyPr/>
          <a:lstStyle/>
          <a:p>
            <a:endParaRPr lang="en-IN"/>
          </a:p>
        </p:txBody>
      </p:sp>
      <p:sp>
        <p:nvSpPr>
          <p:cNvPr id="20" name="Text 18"/>
          <p:cNvSpPr/>
          <p:nvPr/>
        </p:nvSpPr>
        <p:spPr>
          <a:xfrm>
            <a:off x="8275320" y="2176272"/>
            <a:ext cx="530352"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14.7%</a:t>
            </a:r>
            <a:endParaRPr lang="en-US" sz="900" dirty="0"/>
          </a:p>
        </p:txBody>
      </p:sp>
      <p:sp>
        <p:nvSpPr>
          <p:cNvPr id="21" name="Shape 19"/>
          <p:cNvSpPr/>
          <p:nvPr/>
        </p:nvSpPr>
        <p:spPr>
          <a:xfrm>
            <a:off x="5349240" y="2852928"/>
            <a:ext cx="3520440" cy="731520"/>
          </a:xfrm>
          <a:prstGeom prst="rect">
            <a:avLst/>
          </a:prstGeom>
          <a:solidFill>
            <a:srgbClr val="FFFFFF"/>
          </a:solidFill>
          <a:ln w="6350">
            <a:solidFill>
              <a:srgbClr val="D1D5DB"/>
            </a:solidFill>
            <a:prstDash val="solid"/>
          </a:ln>
          <a:effectLst>
            <a:outerShdw blurRad="101600" dist="38100" dir="8100000" algn="bl" rotWithShape="0">
              <a:srgbClr val="000000">
                <a:alpha val="12000"/>
              </a:srgbClr>
            </a:outerShdw>
          </a:effectLst>
        </p:spPr>
        <p:txBody>
          <a:bodyPr/>
          <a:lstStyle/>
          <a:p>
            <a:endParaRPr lang="en-IN"/>
          </a:p>
        </p:txBody>
      </p:sp>
      <p:sp>
        <p:nvSpPr>
          <p:cNvPr id="22" name="Shape 20"/>
          <p:cNvSpPr/>
          <p:nvPr/>
        </p:nvSpPr>
        <p:spPr>
          <a:xfrm>
            <a:off x="5349240" y="2852928"/>
            <a:ext cx="54864" cy="731520"/>
          </a:xfrm>
          <a:prstGeom prst="rect">
            <a:avLst/>
          </a:prstGeom>
          <a:solidFill>
            <a:srgbClr val="F59E0B"/>
          </a:solidFill>
          <a:ln w="12700">
            <a:solidFill>
              <a:srgbClr val="F59E0B"/>
            </a:solidFill>
            <a:prstDash val="solid"/>
          </a:ln>
        </p:spPr>
        <p:txBody>
          <a:bodyPr/>
          <a:lstStyle/>
          <a:p>
            <a:endParaRPr lang="en-IN"/>
          </a:p>
        </p:txBody>
      </p:sp>
      <p:sp>
        <p:nvSpPr>
          <p:cNvPr id="23" name="Text 21"/>
          <p:cNvSpPr/>
          <p:nvPr/>
        </p:nvSpPr>
        <p:spPr>
          <a:xfrm>
            <a:off x="5486400" y="2926080"/>
            <a:ext cx="2194560" cy="256032"/>
          </a:xfrm>
          <a:prstGeom prst="rect">
            <a:avLst/>
          </a:prstGeom>
          <a:noFill/>
          <a:ln/>
        </p:spPr>
        <p:txBody>
          <a:bodyPr wrap="square" lIns="0" tIns="0" rIns="0" bIns="0" rtlCol="0" anchor="ctr"/>
          <a:lstStyle/>
          <a:p>
            <a:pPr marL="0" indent="0">
              <a:buNone/>
            </a:pPr>
            <a:r>
              <a:rPr lang="en-US" sz="1150" b="1" dirty="0">
                <a:solidFill>
                  <a:srgbClr val="0D1B2A"/>
                </a:solidFill>
                <a:latin typeface="Calibri" pitchFamily="34" charset="0"/>
                <a:ea typeface="Calibri" pitchFamily="34" charset="-122"/>
                <a:cs typeface="Calibri" pitchFamily="34" charset="-120"/>
              </a:rPr>
              <a:t>Defacement</a:t>
            </a:r>
            <a:endParaRPr lang="en-US" sz="1150" dirty="0"/>
          </a:p>
        </p:txBody>
      </p:sp>
      <p:sp>
        <p:nvSpPr>
          <p:cNvPr id="24" name="Text 22"/>
          <p:cNvSpPr/>
          <p:nvPr/>
        </p:nvSpPr>
        <p:spPr>
          <a:xfrm>
            <a:off x="5486400" y="3200400"/>
            <a:ext cx="2194560" cy="21945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Compromised/altered pages</a:t>
            </a:r>
            <a:endParaRPr lang="en-US" sz="950" dirty="0"/>
          </a:p>
        </p:txBody>
      </p:sp>
      <p:sp>
        <p:nvSpPr>
          <p:cNvPr id="25" name="Shape 23"/>
          <p:cNvSpPr/>
          <p:nvPr/>
        </p:nvSpPr>
        <p:spPr>
          <a:xfrm>
            <a:off x="8275320" y="3017520"/>
            <a:ext cx="530352" cy="310896"/>
          </a:xfrm>
          <a:prstGeom prst="rect">
            <a:avLst/>
          </a:prstGeom>
          <a:solidFill>
            <a:srgbClr val="F59E0B"/>
          </a:solidFill>
          <a:ln w="12700">
            <a:solidFill>
              <a:srgbClr val="F59E0B"/>
            </a:solidFill>
            <a:prstDash val="solid"/>
          </a:ln>
        </p:spPr>
        <p:txBody>
          <a:bodyPr/>
          <a:lstStyle/>
          <a:p>
            <a:endParaRPr lang="en-IN"/>
          </a:p>
        </p:txBody>
      </p:sp>
      <p:sp>
        <p:nvSpPr>
          <p:cNvPr id="26" name="Text 24"/>
          <p:cNvSpPr/>
          <p:nvPr/>
        </p:nvSpPr>
        <p:spPr>
          <a:xfrm>
            <a:off x="8275320" y="3017520"/>
            <a:ext cx="530352"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14.9%</a:t>
            </a:r>
            <a:endParaRPr lang="en-US" sz="900" dirty="0"/>
          </a:p>
        </p:txBody>
      </p:sp>
      <p:sp>
        <p:nvSpPr>
          <p:cNvPr id="27" name="Shape 25"/>
          <p:cNvSpPr/>
          <p:nvPr/>
        </p:nvSpPr>
        <p:spPr>
          <a:xfrm>
            <a:off x="5349240" y="3694176"/>
            <a:ext cx="3520440" cy="731520"/>
          </a:xfrm>
          <a:prstGeom prst="rect">
            <a:avLst/>
          </a:prstGeom>
          <a:solidFill>
            <a:srgbClr val="FFFFFF"/>
          </a:solidFill>
          <a:ln w="6350">
            <a:solidFill>
              <a:srgbClr val="D1D5DB"/>
            </a:solidFill>
            <a:prstDash val="solid"/>
          </a:ln>
          <a:effectLst>
            <a:outerShdw blurRad="101600" dist="38100" dir="8100000" algn="bl" rotWithShape="0">
              <a:srgbClr val="000000">
                <a:alpha val="12000"/>
              </a:srgbClr>
            </a:outerShdw>
          </a:effectLst>
        </p:spPr>
        <p:txBody>
          <a:bodyPr/>
          <a:lstStyle/>
          <a:p>
            <a:endParaRPr lang="en-IN"/>
          </a:p>
        </p:txBody>
      </p:sp>
      <p:sp>
        <p:nvSpPr>
          <p:cNvPr id="28" name="Shape 26"/>
          <p:cNvSpPr/>
          <p:nvPr/>
        </p:nvSpPr>
        <p:spPr>
          <a:xfrm>
            <a:off x="5349240" y="3694176"/>
            <a:ext cx="54864" cy="731520"/>
          </a:xfrm>
          <a:prstGeom prst="rect">
            <a:avLst/>
          </a:prstGeom>
          <a:solidFill>
            <a:srgbClr val="7C3AED"/>
          </a:solidFill>
          <a:ln w="12700">
            <a:solidFill>
              <a:srgbClr val="7C3AED"/>
            </a:solidFill>
            <a:prstDash val="solid"/>
          </a:ln>
        </p:spPr>
        <p:txBody>
          <a:bodyPr/>
          <a:lstStyle/>
          <a:p>
            <a:endParaRPr lang="en-IN"/>
          </a:p>
        </p:txBody>
      </p:sp>
      <p:sp>
        <p:nvSpPr>
          <p:cNvPr id="29" name="Text 27"/>
          <p:cNvSpPr/>
          <p:nvPr/>
        </p:nvSpPr>
        <p:spPr>
          <a:xfrm>
            <a:off x="5486400" y="3767328"/>
            <a:ext cx="2194560" cy="256032"/>
          </a:xfrm>
          <a:prstGeom prst="rect">
            <a:avLst/>
          </a:prstGeom>
          <a:noFill/>
          <a:ln/>
        </p:spPr>
        <p:txBody>
          <a:bodyPr wrap="square" lIns="0" tIns="0" rIns="0" bIns="0" rtlCol="0" anchor="ctr"/>
          <a:lstStyle/>
          <a:p>
            <a:pPr marL="0" indent="0">
              <a:buNone/>
            </a:pPr>
            <a:r>
              <a:rPr lang="en-US" sz="1150" b="1" dirty="0">
                <a:solidFill>
                  <a:srgbClr val="0D1B2A"/>
                </a:solidFill>
                <a:latin typeface="Calibri" pitchFamily="34" charset="0"/>
                <a:ea typeface="Calibri" pitchFamily="34" charset="-122"/>
                <a:cs typeface="Calibri" pitchFamily="34" charset="-120"/>
              </a:rPr>
              <a:t>Malware</a:t>
            </a:r>
            <a:endParaRPr lang="en-US" sz="1150" dirty="0"/>
          </a:p>
        </p:txBody>
      </p:sp>
      <p:sp>
        <p:nvSpPr>
          <p:cNvPr id="30" name="Text 28"/>
          <p:cNvSpPr/>
          <p:nvPr/>
        </p:nvSpPr>
        <p:spPr>
          <a:xfrm>
            <a:off x="5486400" y="4041648"/>
            <a:ext cx="2194560" cy="21945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Malware delivery / hosting</a:t>
            </a:r>
            <a:endParaRPr lang="en-US" sz="950" dirty="0"/>
          </a:p>
        </p:txBody>
      </p:sp>
      <p:sp>
        <p:nvSpPr>
          <p:cNvPr id="31" name="Shape 29"/>
          <p:cNvSpPr/>
          <p:nvPr/>
        </p:nvSpPr>
        <p:spPr>
          <a:xfrm>
            <a:off x="8275320" y="3858768"/>
            <a:ext cx="530352" cy="310896"/>
          </a:xfrm>
          <a:prstGeom prst="rect">
            <a:avLst/>
          </a:prstGeom>
          <a:solidFill>
            <a:srgbClr val="7C3AED"/>
          </a:solidFill>
          <a:ln w="12700">
            <a:solidFill>
              <a:srgbClr val="7C3AED"/>
            </a:solidFill>
            <a:prstDash val="solid"/>
          </a:ln>
        </p:spPr>
        <p:txBody>
          <a:bodyPr/>
          <a:lstStyle/>
          <a:p>
            <a:endParaRPr lang="en-IN"/>
          </a:p>
        </p:txBody>
      </p:sp>
      <p:sp>
        <p:nvSpPr>
          <p:cNvPr id="32" name="Text 30"/>
          <p:cNvSpPr/>
          <p:nvPr/>
        </p:nvSpPr>
        <p:spPr>
          <a:xfrm>
            <a:off x="8275320" y="3858768"/>
            <a:ext cx="530352"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3.7%</a:t>
            </a:r>
            <a:endParaRPr lang="en-US" sz="900" dirty="0"/>
          </a:p>
        </p:txBody>
      </p:sp>
      <p:sp>
        <p:nvSpPr>
          <p:cNvPr id="33" name="Shape 31"/>
          <p:cNvSpPr/>
          <p:nvPr/>
        </p:nvSpPr>
        <p:spPr>
          <a:xfrm>
            <a:off x="320040" y="3017520"/>
            <a:ext cx="4754880" cy="658368"/>
          </a:xfrm>
          <a:prstGeom prst="rect">
            <a:avLst/>
          </a:prstGeom>
          <a:solidFill>
            <a:srgbClr val="CADCFC"/>
          </a:solidFill>
          <a:ln w="9525">
            <a:solidFill>
              <a:srgbClr val="028090"/>
            </a:solidFill>
            <a:prstDash val="solid"/>
          </a:ln>
          <a:effectLst>
            <a:outerShdw blurRad="101600" dist="38100" dir="8100000" algn="bl" rotWithShape="0">
              <a:srgbClr val="000000">
                <a:alpha val="12000"/>
              </a:srgbClr>
            </a:outerShdw>
          </a:effectLst>
        </p:spPr>
        <p:txBody>
          <a:bodyPr/>
          <a:lstStyle/>
          <a:p>
            <a:endParaRPr lang="en-IN"/>
          </a:p>
        </p:txBody>
      </p:sp>
      <p:sp>
        <p:nvSpPr>
          <p:cNvPr id="34" name="Text 32"/>
          <p:cNvSpPr/>
          <p:nvPr/>
        </p:nvSpPr>
        <p:spPr>
          <a:xfrm>
            <a:off x="457200" y="3054096"/>
            <a:ext cx="4480560" cy="585216"/>
          </a:xfrm>
          <a:prstGeom prst="rect">
            <a:avLst/>
          </a:prstGeom>
          <a:noFill/>
          <a:ln/>
        </p:spPr>
        <p:txBody>
          <a:bodyPr wrap="square" rtlCol="0" anchor="ctr"/>
          <a:lstStyle/>
          <a:p>
            <a:pPr marL="0" indent="0">
              <a:buNone/>
            </a:pPr>
            <a:r>
              <a:rPr lang="en-US" sz="1050" i="1" dirty="0">
                <a:solidFill>
                  <a:srgbClr val="0D1B2A"/>
                </a:solidFill>
                <a:latin typeface="Calibri" pitchFamily="34" charset="0"/>
                <a:ea typeface="Calibri" pitchFamily="34" charset="-122"/>
                <a:cs typeface="Calibri" pitchFamily="34" charset="-120"/>
              </a:rPr>
              <a:t>Key constraint: we use only what's visible in the URL string — no page visits, no DNS lookups, no reputation databases.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The Data: 651K URLs, 4 Sources, Strong Class Imbalance</a:t>
            </a:r>
            <a:endParaRPr lang="en-US" sz="2000" dirty="0"/>
          </a:p>
        </p:txBody>
      </p:sp>
      <p:sp>
        <p:nvSpPr>
          <p:cNvPr id="4" name="Shape 2"/>
          <p:cNvSpPr/>
          <p:nvPr/>
        </p:nvSpPr>
        <p:spPr>
          <a:xfrm>
            <a:off x="0" y="4892040"/>
            <a:ext cx="9144000" cy="251460"/>
          </a:xfrm>
          <a:prstGeom prst="rect">
            <a:avLst/>
          </a:prstGeom>
          <a:solidFill>
            <a:srgbClr val="1B2A41"/>
          </a:solidFill>
          <a:ln w="12700">
            <a:solidFill>
              <a:srgbClr val="1B2A41"/>
            </a:solidFill>
            <a:prstDash val="solid"/>
          </a:ln>
        </p:spPr>
        <p:txBody>
          <a:bodyPr/>
          <a:lstStyle/>
          <a:p>
            <a:endParaRPr lang="en-IN"/>
          </a:p>
        </p:txBody>
      </p:sp>
      <p:sp>
        <p:nvSpPr>
          <p:cNvPr id="5" name="Text 3"/>
          <p:cNvSpPr/>
          <p:nvPr/>
        </p:nvSpPr>
        <p:spPr>
          <a:xfrm>
            <a:off x="274320" y="4892040"/>
            <a:ext cx="8595360" cy="251460"/>
          </a:xfrm>
          <a:prstGeom prst="rect">
            <a:avLst/>
          </a:prstGeom>
          <a:noFill/>
          <a:ln/>
        </p:spPr>
        <p:txBody>
          <a:bodyPr wrap="square" lIns="0" tIns="0" rIns="0" bIns="0" rtlCol="0" anchor="ctr"/>
          <a:lstStyle/>
          <a:p>
            <a:pPr marL="0" indent="0">
              <a:buNone/>
            </a:pPr>
            <a:r>
              <a:rPr lang="en-US" sz="800" dirty="0">
                <a:solidFill>
                  <a:srgbClr val="CADCFC"/>
                </a:solidFill>
                <a:latin typeface="Calibri" pitchFamily="34" charset="0"/>
                <a:ea typeface="Calibri" pitchFamily="34" charset="-122"/>
                <a:cs typeface="Calibri" pitchFamily="34" charset="-120"/>
              </a:rPr>
              <a:t>Malicious URL Detection · Lexical Features Only  |  Dataset Overview</a:t>
            </a:r>
            <a:endParaRPr lang="en-US" sz="800" dirty="0"/>
          </a:p>
        </p:txBody>
      </p:sp>
      <p:sp>
        <p:nvSpPr>
          <p:cNvPr id="6" name="Shape 4"/>
          <p:cNvSpPr/>
          <p:nvPr/>
        </p:nvSpPr>
        <p:spPr>
          <a:xfrm>
            <a:off x="228600" y="804672"/>
            <a:ext cx="1993392" cy="987552"/>
          </a:xfrm>
          <a:prstGeom prst="rect">
            <a:avLst/>
          </a:prstGeom>
          <a:solidFill>
            <a:srgbClr val="FFFFFF"/>
          </a:solidFill>
          <a:ln w="6350">
            <a:solidFill>
              <a:srgbClr val="D1D5DB"/>
            </a:solidFill>
            <a:prstDash val="solid"/>
          </a:ln>
          <a:effectLst>
            <a:outerShdw blurRad="101600" dist="38100" dir="8100000" algn="bl" rotWithShape="0">
              <a:srgbClr val="000000">
                <a:alpha val="12000"/>
              </a:srgbClr>
            </a:outerShdw>
          </a:effectLst>
        </p:spPr>
        <p:txBody>
          <a:bodyPr/>
          <a:lstStyle/>
          <a:p>
            <a:endParaRPr lang="en-IN"/>
          </a:p>
        </p:txBody>
      </p:sp>
      <p:sp>
        <p:nvSpPr>
          <p:cNvPr id="7" name="Text 5"/>
          <p:cNvSpPr/>
          <p:nvPr/>
        </p:nvSpPr>
        <p:spPr>
          <a:xfrm>
            <a:off x="228600" y="877824"/>
            <a:ext cx="1993392" cy="438912"/>
          </a:xfrm>
          <a:prstGeom prst="rect">
            <a:avLst/>
          </a:prstGeom>
          <a:noFill/>
          <a:ln/>
        </p:spPr>
        <p:txBody>
          <a:bodyPr wrap="square" lIns="0" tIns="0" rIns="0" bIns="0" rtlCol="0" anchor="ctr"/>
          <a:lstStyle/>
          <a:p>
            <a:pPr marL="0" indent="0" algn="ctr">
              <a:buNone/>
            </a:pPr>
            <a:r>
              <a:rPr lang="en-US" sz="2800" b="1" dirty="0">
                <a:solidFill>
                  <a:srgbClr val="028090"/>
                </a:solidFill>
                <a:latin typeface="Calibri" pitchFamily="34" charset="0"/>
                <a:ea typeface="Calibri" pitchFamily="34" charset="-122"/>
                <a:cs typeface="Calibri" pitchFamily="34" charset="-120"/>
              </a:rPr>
              <a:t>651K</a:t>
            </a:r>
            <a:endParaRPr lang="en-US" sz="2800" dirty="0"/>
          </a:p>
        </p:txBody>
      </p:sp>
      <p:sp>
        <p:nvSpPr>
          <p:cNvPr id="8" name="Text 6"/>
          <p:cNvSpPr/>
          <p:nvPr/>
        </p:nvSpPr>
        <p:spPr>
          <a:xfrm>
            <a:off x="228600" y="1298448"/>
            <a:ext cx="1993392" cy="201168"/>
          </a:xfrm>
          <a:prstGeom prst="rect">
            <a:avLst/>
          </a:prstGeom>
          <a:noFill/>
          <a:ln/>
        </p:spPr>
        <p:txBody>
          <a:bodyPr wrap="square" lIns="0" tIns="0" rIns="0" bIns="0" rtlCol="0" anchor="ctr"/>
          <a:lstStyle/>
          <a:p>
            <a:pPr marL="0" indent="0" algn="ctr">
              <a:buNone/>
            </a:pPr>
            <a:r>
              <a:rPr lang="en-US" sz="950" b="1" dirty="0">
                <a:solidFill>
                  <a:srgbClr val="0D1B2A"/>
                </a:solidFill>
                <a:latin typeface="Calibri" pitchFamily="34" charset="0"/>
                <a:ea typeface="Calibri" pitchFamily="34" charset="-122"/>
                <a:cs typeface="Calibri" pitchFamily="34" charset="-120"/>
              </a:rPr>
              <a:t>Raw URLs</a:t>
            </a:r>
            <a:endParaRPr lang="en-US" sz="950" dirty="0"/>
          </a:p>
        </p:txBody>
      </p:sp>
      <p:sp>
        <p:nvSpPr>
          <p:cNvPr id="9" name="Text 7"/>
          <p:cNvSpPr/>
          <p:nvPr/>
        </p:nvSpPr>
        <p:spPr>
          <a:xfrm>
            <a:off x="228600" y="1481328"/>
            <a:ext cx="1993392" cy="164592"/>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Before cleaning</a:t>
            </a:r>
            <a:endParaRPr lang="en-US" sz="800" dirty="0"/>
          </a:p>
        </p:txBody>
      </p:sp>
      <p:sp>
        <p:nvSpPr>
          <p:cNvPr id="10" name="Shape 8"/>
          <p:cNvSpPr/>
          <p:nvPr/>
        </p:nvSpPr>
        <p:spPr>
          <a:xfrm>
            <a:off x="2404872" y="804672"/>
            <a:ext cx="1993392" cy="987552"/>
          </a:xfrm>
          <a:prstGeom prst="rect">
            <a:avLst/>
          </a:prstGeom>
          <a:solidFill>
            <a:srgbClr val="FFFFFF"/>
          </a:solidFill>
          <a:ln w="6350">
            <a:solidFill>
              <a:srgbClr val="D1D5DB"/>
            </a:solidFill>
            <a:prstDash val="solid"/>
          </a:ln>
          <a:effectLst>
            <a:outerShdw blurRad="101600" dist="38100" dir="8100000" algn="bl" rotWithShape="0">
              <a:srgbClr val="000000">
                <a:alpha val="12000"/>
              </a:srgbClr>
            </a:outerShdw>
          </a:effectLst>
        </p:spPr>
        <p:txBody>
          <a:bodyPr/>
          <a:lstStyle/>
          <a:p>
            <a:endParaRPr lang="en-IN"/>
          </a:p>
        </p:txBody>
      </p:sp>
      <p:sp>
        <p:nvSpPr>
          <p:cNvPr id="11" name="Text 9"/>
          <p:cNvSpPr/>
          <p:nvPr/>
        </p:nvSpPr>
        <p:spPr>
          <a:xfrm>
            <a:off x="2404872" y="877824"/>
            <a:ext cx="1993392" cy="438912"/>
          </a:xfrm>
          <a:prstGeom prst="rect">
            <a:avLst/>
          </a:prstGeom>
          <a:noFill/>
          <a:ln/>
        </p:spPr>
        <p:txBody>
          <a:bodyPr wrap="square" lIns="0" tIns="0" rIns="0" bIns="0" rtlCol="0" anchor="ctr"/>
          <a:lstStyle/>
          <a:p>
            <a:pPr marL="0" indent="0" algn="ctr">
              <a:buNone/>
            </a:pPr>
            <a:r>
              <a:rPr lang="en-US" sz="2800" b="1" dirty="0">
                <a:solidFill>
                  <a:srgbClr val="22C55E"/>
                </a:solidFill>
                <a:latin typeface="Calibri" pitchFamily="34" charset="0"/>
                <a:ea typeface="Calibri" pitchFamily="34" charset="-122"/>
                <a:cs typeface="Calibri" pitchFamily="34" charset="-120"/>
              </a:rPr>
              <a:t>640K</a:t>
            </a:r>
            <a:endParaRPr lang="en-US" sz="2800" dirty="0"/>
          </a:p>
        </p:txBody>
      </p:sp>
      <p:sp>
        <p:nvSpPr>
          <p:cNvPr id="12" name="Text 10"/>
          <p:cNvSpPr/>
          <p:nvPr/>
        </p:nvSpPr>
        <p:spPr>
          <a:xfrm>
            <a:off x="2404872" y="1298448"/>
            <a:ext cx="1993392" cy="201168"/>
          </a:xfrm>
          <a:prstGeom prst="rect">
            <a:avLst/>
          </a:prstGeom>
          <a:noFill/>
          <a:ln/>
        </p:spPr>
        <p:txBody>
          <a:bodyPr wrap="square" lIns="0" tIns="0" rIns="0" bIns="0" rtlCol="0" anchor="ctr"/>
          <a:lstStyle/>
          <a:p>
            <a:pPr marL="0" indent="0" algn="ctr">
              <a:buNone/>
            </a:pPr>
            <a:r>
              <a:rPr lang="en-US" sz="950" b="1" dirty="0">
                <a:solidFill>
                  <a:srgbClr val="0D1B2A"/>
                </a:solidFill>
                <a:latin typeface="Calibri" pitchFamily="34" charset="0"/>
                <a:ea typeface="Calibri" pitchFamily="34" charset="-122"/>
                <a:cs typeface="Calibri" pitchFamily="34" charset="-120"/>
              </a:rPr>
              <a:t>Clean URLs</a:t>
            </a:r>
            <a:endParaRPr lang="en-US" sz="950" dirty="0"/>
          </a:p>
        </p:txBody>
      </p:sp>
      <p:sp>
        <p:nvSpPr>
          <p:cNvPr id="13" name="Text 11"/>
          <p:cNvSpPr/>
          <p:nvPr/>
        </p:nvSpPr>
        <p:spPr>
          <a:xfrm>
            <a:off x="2404872" y="1481328"/>
            <a:ext cx="1993392" cy="164592"/>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After 7-step pipeline</a:t>
            </a:r>
            <a:endParaRPr lang="en-US" sz="800" dirty="0"/>
          </a:p>
        </p:txBody>
      </p:sp>
      <p:sp>
        <p:nvSpPr>
          <p:cNvPr id="14" name="Shape 12"/>
          <p:cNvSpPr/>
          <p:nvPr/>
        </p:nvSpPr>
        <p:spPr>
          <a:xfrm>
            <a:off x="4581144" y="804672"/>
            <a:ext cx="1993392" cy="987552"/>
          </a:xfrm>
          <a:prstGeom prst="rect">
            <a:avLst/>
          </a:prstGeom>
          <a:solidFill>
            <a:srgbClr val="FFFFFF"/>
          </a:solidFill>
          <a:ln w="6350">
            <a:solidFill>
              <a:srgbClr val="D1D5DB"/>
            </a:solidFill>
            <a:prstDash val="solid"/>
          </a:ln>
          <a:effectLst>
            <a:outerShdw blurRad="101600" dist="38100" dir="8100000" algn="bl" rotWithShape="0">
              <a:srgbClr val="000000">
                <a:alpha val="12000"/>
              </a:srgbClr>
            </a:outerShdw>
          </a:effectLst>
        </p:spPr>
        <p:txBody>
          <a:bodyPr/>
          <a:lstStyle/>
          <a:p>
            <a:endParaRPr lang="en-IN"/>
          </a:p>
        </p:txBody>
      </p:sp>
      <p:sp>
        <p:nvSpPr>
          <p:cNvPr id="15" name="Text 13"/>
          <p:cNvSpPr/>
          <p:nvPr/>
        </p:nvSpPr>
        <p:spPr>
          <a:xfrm>
            <a:off x="4581144" y="877824"/>
            <a:ext cx="1993392" cy="438912"/>
          </a:xfrm>
          <a:prstGeom prst="rect">
            <a:avLst/>
          </a:prstGeom>
          <a:noFill/>
          <a:ln/>
        </p:spPr>
        <p:txBody>
          <a:bodyPr wrap="square" lIns="0" tIns="0" rIns="0" bIns="0" rtlCol="0" anchor="ctr"/>
          <a:lstStyle/>
          <a:p>
            <a:pPr marL="0" indent="0" algn="ctr">
              <a:buNone/>
            </a:pPr>
            <a:r>
              <a:rPr lang="en-US" sz="2800" b="1" dirty="0">
                <a:solidFill>
                  <a:srgbClr val="E63946"/>
                </a:solidFill>
                <a:latin typeface="Calibri" pitchFamily="34" charset="0"/>
                <a:ea typeface="Calibri" pitchFamily="34" charset="-122"/>
                <a:cs typeface="Calibri" pitchFamily="34" charset="-120"/>
              </a:rPr>
              <a:t>18:1</a:t>
            </a:r>
            <a:endParaRPr lang="en-US" sz="2800" dirty="0"/>
          </a:p>
        </p:txBody>
      </p:sp>
      <p:sp>
        <p:nvSpPr>
          <p:cNvPr id="16" name="Text 14"/>
          <p:cNvSpPr/>
          <p:nvPr/>
        </p:nvSpPr>
        <p:spPr>
          <a:xfrm>
            <a:off x="4581144" y="1298448"/>
            <a:ext cx="1993392" cy="201168"/>
          </a:xfrm>
          <a:prstGeom prst="rect">
            <a:avLst/>
          </a:prstGeom>
          <a:noFill/>
          <a:ln/>
        </p:spPr>
        <p:txBody>
          <a:bodyPr wrap="square" lIns="0" tIns="0" rIns="0" bIns="0" rtlCol="0" anchor="ctr"/>
          <a:lstStyle/>
          <a:p>
            <a:pPr marL="0" indent="0" algn="ctr">
              <a:buNone/>
            </a:pPr>
            <a:r>
              <a:rPr lang="en-US" sz="950" b="1" dirty="0">
                <a:solidFill>
                  <a:srgbClr val="0D1B2A"/>
                </a:solidFill>
                <a:latin typeface="Calibri" pitchFamily="34" charset="0"/>
                <a:ea typeface="Calibri" pitchFamily="34" charset="-122"/>
                <a:cs typeface="Calibri" pitchFamily="34" charset="-120"/>
              </a:rPr>
              <a:t>Imbalance Ratio</a:t>
            </a:r>
            <a:endParaRPr lang="en-US" sz="950" dirty="0"/>
          </a:p>
        </p:txBody>
      </p:sp>
      <p:sp>
        <p:nvSpPr>
          <p:cNvPr id="17" name="Text 15"/>
          <p:cNvSpPr/>
          <p:nvPr/>
        </p:nvSpPr>
        <p:spPr>
          <a:xfrm>
            <a:off x="4581144" y="1481328"/>
            <a:ext cx="1993392" cy="164592"/>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Benign vs. Malware</a:t>
            </a:r>
            <a:endParaRPr lang="en-US" sz="800" dirty="0"/>
          </a:p>
        </p:txBody>
      </p:sp>
      <p:sp>
        <p:nvSpPr>
          <p:cNvPr id="18" name="Shape 16"/>
          <p:cNvSpPr/>
          <p:nvPr/>
        </p:nvSpPr>
        <p:spPr>
          <a:xfrm>
            <a:off x="6757416" y="804672"/>
            <a:ext cx="1993392" cy="987552"/>
          </a:xfrm>
          <a:prstGeom prst="rect">
            <a:avLst/>
          </a:prstGeom>
          <a:solidFill>
            <a:srgbClr val="FFFFFF"/>
          </a:solidFill>
          <a:ln w="6350">
            <a:solidFill>
              <a:srgbClr val="D1D5DB"/>
            </a:solidFill>
            <a:prstDash val="solid"/>
          </a:ln>
          <a:effectLst>
            <a:outerShdw blurRad="101600" dist="38100" dir="8100000" algn="bl" rotWithShape="0">
              <a:srgbClr val="000000">
                <a:alpha val="12000"/>
              </a:srgbClr>
            </a:outerShdw>
          </a:effectLst>
        </p:spPr>
        <p:txBody>
          <a:bodyPr/>
          <a:lstStyle/>
          <a:p>
            <a:endParaRPr lang="en-IN"/>
          </a:p>
        </p:txBody>
      </p:sp>
      <p:sp>
        <p:nvSpPr>
          <p:cNvPr id="19" name="Text 17"/>
          <p:cNvSpPr/>
          <p:nvPr/>
        </p:nvSpPr>
        <p:spPr>
          <a:xfrm>
            <a:off x="6757416" y="877824"/>
            <a:ext cx="1993392" cy="438912"/>
          </a:xfrm>
          <a:prstGeom prst="rect">
            <a:avLst/>
          </a:prstGeom>
          <a:noFill/>
          <a:ln/>
        </p:spPr>
        <p:txBody>
          <a:bodyPr wrap="square" lIns="0" tIns="0" rIns="0" bIns="0" rtlCol="0" anchor="ctr"/>
          <a:lstStyle/>
          <a:p>
            <a:pPr marL="0" indent="0" algn="ctr">
              <a:buNone/>
            </a:pPr>
            <a:r>
              <a:rPr lang="en-US" sz="2800" b="1" dirty="0">
                <a:solidFill>
                  <a:srgbClr val="F59E0B"/>
                </a:solidFill>
                <a:latin typeface="Calibri" pitchFamily="34" charset="0"/>
                <a:ea typeface="Calibri" pitchFamily="34" charset="-122"/>
                <a:cs typeface="Calibri" pitchFamily="34" charset="-120"/>
              </a:rPr>
              <a:t>5</a:t>
            </a:r>
            <a:endParaRPr lang="en-US" sz="2800" dirty="0"/>
          </a:p>
        </p:txBody>
      </p:sp>
      <p:sp>
        <p:nvSpPr>
          <p:cNvPr id="20" name="Text 18"/>
          <p:cNvSpPr/>
          <p:nvPr/>
        </p:nvSpPr>
        <p:spPr>
          <a:xfrm>
            <a:off x="6757416" y="1298448"/>
            <a:ext cx="1993392" cy="201168"/>
          </a:xfrm>
          <a:prstGeom prst="rect">
            <a:avLst/>
          </a:prstGeom>
          <a:noFill/>
          <a:ln/>
        </p:spPr>
        <p:txBody>
          <a:bodyPr wrap="square" lIns="0" tIns="0" rIns="0" bIns="0" rtlCol="0" anchor="ctr"/>
          <a:lstStyle/>
          <a:p>
            <a:pPr marL="0" indent="0" algn="ctr">
              <a:buNone/>
            </a:pPr>
            <a:r>
              <a:rPr lang="en-US" sz="950" b="1" dirty="0">
                <a:solidFill>
                  <a:srgbClr val="0D1B2A"/>
                </a:solidFill>
                <a:latin typeface="Calibri" pitchFamily="34" charset="0"/>
                <a:ea typeface="Calibri" pitchFamily="34" charset="-122"/>
                <a:cs typeface="Calibri" pitchFamily="34" charset="-120"/>
              </a:rPr>
              <a:t>Data Sources</a:t>
            </a:r>
            <a:endParaRPr lang="en-US" sz="950" dirty="0"/>
          </a:p>
        </p:txBody>
      </p:sp>
      <p:sp>
        <p:nvSpPr>
          <p:cNvPr id="21" name="Text 19"/>
          <p:cNvSpPr/>
          <p:nvPr/>
        </p:nvSpPr>
        <p:spPr>
          <a:xfrm>
            <a:off x="6757416" y="1481328"/>
            <a:ext cx="1993392" cy="164592"/>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Kaggle / ISCX-URL-2016</a:t>
            </a:r>
            <a:endParaRPr lang="en-US" sz="800" dirty="0"/>
          </a:p>
        </p:txBody>
      </p:sp>
      <p:sp>
        <p:nvSpPr>
          <p:cNvPr id="22" name="Text 20"/>
          <p:cNvSpPr/>
          <p:nvPr/>
        </p:nvSpPr>
        <p:spPr>
          <a:xfrm>
            <a:off x="320040" y="1938528"/>
            <a:ext cx="530352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Class Distribution (post-cleaning)</a:t>
            </a:r>
            <a:endParaRPr lang="en-US" sz="1200" dirty="0"/>
          </a:p>
        </p:txBody>
      </p:sp>
      <p:sp>
        <p:nvSpPr>
          <p:cNvPr id="23" name="Shape 21"/>
          <p:cNvSpPr/>
          <p:nvPr/>
        </p:nvSpPr>
        <p:spPr>
          <a:xfrm>
            <a:off x="1325880" y="2267712"/>
            <a:ext cx="2931932" cy="384048"/>
          </a:xfrm>
          <a:prstGeom prst="rect">
            <a:avLst/>
          </a:prstGeom>
          <a:solidFill>
            <a:srgbClr val="22C55E"/>
          </a:solidFill>
          <a:ln w="12700">
            <a:solidFill>
              <a:srgbClr val="22C55E"/>
            </a:solidFill>
            <a:prstDash val="solid"/>
          </a:ln>
        </p:spPr>
        <p:txBody>
          <a:bodyPr/>
          <a:lstStyle/>
          <a:p>
            <a:endParaRPr lang="en-IN"/>
          </a:p>
        </p:txBody>
      </p:sp>
      <p:sp>
        <p:nvSpPr>
          <p:cNvPr id="24" name="Text 22"/>
          <p:cNvSpPr/>
          <p:nvPr/>
        </p:nvSpPr>
        <p:spPr>
          <a:xfrm>
            <a:off x="320040" y="2267712"/>
            <a:ext cx="969264" cy="384048"/>
          </a:xfrm>
          <a:prstGeom prst="rect">
            <a:avLst/>
          </a:prstGeom>
          <a:noFill/>
          <a:ln/>
        </p:spPr>
        <p:txBody>
          <a:bodyPr wrap="square" lIns="0" tIns="0" rIns="0" bIns="0" rtlCol="0" anchor="ctr"/>
          <a:lstStyle/>
          <a:p>
            <a:pPr marL="0" indent="0" algn="r">
              <a:buNone/>
            </a:pPr>
            <a:r>
              <a:rPr lang="en-US" sz="1000" dirty="0">
                <a:solidFill>
                  <a:srgbClr val="334155"/>
                </a:solidFill>
                <a:latin typeface="Calibri" pitchFamily="34" charset="0"/>
                <a:ea typeface="Calibri" pitchFamily="34" charset="-122"/>
                <a:cs typeface="Calibri" pitchFamily="34" charset="-120"/>
              </a:rPr>
              <a:t>Benign</a:t>
            </a:r>
            <a:endParaRPr lang="en-US" sz="1000" dirty="0"/>
          </a:p>
        </p:txBody>
      </p:sp>
      <p:sp>
        <p:nvSpPr>
          <p:cNvPr id="25" name="Text 23"/>
          <p:cNvSpPr/>
          <p:nvPr/>
        </p:nvSpPr>
        <p:spPr>
          <a:xfrm>
            <a:off x="4312676" y="2267712"/>
            <a:ext cx="594360" cy="384048"/>
          </a:xfrm>
          <a:prstGeom prst="rect">
            <a:avLst/>
          </a:prstGeom>
          <a:noFill/>
          <a:ln/>
        </p:spPr>
        <p:txBody>
          <a:bodyPr wrap="square" lIns="0" tIns="0" rIns="0" bIns="0" rtlCol="0" anchor="ctr"/>
          <a:lstStyle/>
          <a:p>
            <a:pPr marL="0" indent="0">
              <a:buNone/>
            </a:pPr>
            <a:r>
              <a:rPr lang="en-US" sz="1000" b="1" dirty="0">
                <a:solidFill>
                  <a:srgbClr val="22C55E"/>
                </a:solidFill>
                <a:latin typeface="Calibri" pitchFamily="34" charset="0"/>
                <a:ea typeface="Calibri" pitchFamily="34" charset="-122"/>
                <a:cs typeface="Calibri" pitchFamily="34" charset="-120"/>
              </a:rPr>
              <a:t>66.8%</a:t>
            </a:r>
            <a:endParaRPr lang="en-US" sz="1000" dirty="0"/>
          </a:p>
        </p:txBody>
      </p:sp>
      <p:sp>
        <p:nvSpPr>
          <p:cNvPr id="26" name="Shape 24"/>
          <p:cNvSpPr/>
          <p:nvPr/>
        </p:nvSpPr>
        <p:spPr>
          <a:xfrm>
            <a:off x="1325880" y="2761488"/>
            <a:ext cx="653979" cy="384048"/>
          </a:xfrm>
          <a:prstGeom prst="rect">
            <a:avLst/>
          </a:prstGeom>
          <a:solidFill>
            <a:srgbClr val="F59E0B"/>
          </a:solidFill>
          <a:ln w="12700">
            <a:solidFill>
              <a:srgbClr val="F59E0B"/>
            </a:solidFill>
            <a:prstDash val="solid"/>
          </a:ln>
        </p:spPr>
        <p:txBody>
          <a:bodyPr/>
          <a:lstStyle/>
          <a:p>
            <a:endParaRPr lang="en-IN" dirty="0"/>
          </a:p>
        </p:txBody>
      </p:sp>
      <p:sp>
        <p:nvSpPr>
          <p:cNvPr id="27" name="Text 25"/>
          <p:cNvSpPr/>
          <p:nvPr/>
        </p:nvSpPr>
        <p:spPr>
          <a:xfrm>
            <a:off x="320040" y="2761488"/>
            <a:ext cx="969264" cy="384048"/>
          </a:xfrm>
          <a:prstGeom prst="rect">
            <a:avLst/>
          </a:prstGeom>
          <a:noFill/>
          <a:ln/>
        </p:spPr>
        <p:txBody>
          <a:bodyPr wrap="square" lIns="0" tIns="0" rIns="0" bIns="0" rtlCol="0" anchor="ctr"/>
          <a:lstStyle/>
          <a:p>
            <a:pPr marL="0" indent="0" algn="r">
              <a:buNone/>
            </a:pPr>
            <a:r>
              <a:rPr lang="en-US" sz="1000" dirty="0">
                <a:solidFill>
                  <a:srgbClr val="334155"/>
                </a:solidFill>
                <a:latin typeface="Calibri" pitchFamily="34" charset="0"/>
                <a:ea typeface="Calibri" pitchFamily="34" charset="-122"/>
                <a:cs typeface="Calibri" pitchFamily="34" charset="-120"/>
              </a:rPr>
              <a:t>Defacement</a:t>
            </a:r>
            <a:endParaRPr lang="en-US" sz="1000" dirty="0"/>
          </a:p>
        </p:txBody>
      </p:sp>
      <p:sp>
        <p:nvSpPr>
          <p:cNvPr id="28" name="Text 26"/>
          <p:cNvSpPr/>
          <p:nvPr/>
        </p:nvSpPr>
        <p:spPr>
          <a:xfrm>
            <a:off x="2034723" y="2761488"/>
            <a:ext cx="594360" cy="384048"/>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14.9%</a:t>
            </a:r>
            <a:endParaRPr lang="en-US" sz="1000" dirty="0"/>
          </a:p>
        </p:txBody>
      </p:sp>
      <p:sp>
        <p:nvSpPr>
          <p:cNvPr id="29" name="Shape 27"/>
          <p:cNvSpPr/>
          <p:nvPr/>
        </p:nvSpPr>
        <p:spPr>
          <a:xfrm>
            <a:off x="1325880" y="3255264"/>
            <a:ext cx="645201" cy="384048"/>
          </a:xfrm>
          <a:prstGeom prst="rect">
            <a:avLst/>
          </a:prstGeom>
          <a:solidFill>
            <a:srgbClr val="E63946"/>
          </a:solidFill>
          <a:ln w="12700">
            <a:solidFill>
              <a:srgbClr val="E63946"/>
            </a:solidFill>
            <a:prstDash val="solid"/>
          </a:ln>
        </p:spPr>
        <p:txBody>
          <a:bodyPr/>
          <a:lstStyle/>
          <a:p>
            <a:endParaRPr lang="en-IN"/>
          </a:p>
        </p:txBody>
      </p:sp>
      <p:sp>
        <p:nvSpPr>
          <p:cNvPr id="30" name="Text 28"/>
          <p:cNvSpPr/>
          <p:nvPr/>
        </p:nvSpPr>
        <p:spPr>
          <a:xfrm>
            <a:off x="320040" y="3255264"/>
            <a:ext cx="969264" cy="384048"/>
          </a:xfrm>
          <a:prstGeom prst="rect">
            <a:avLst/>
          </a:prstGeom>
          <a:noFill/>
          <a:ln/>
        </p:spPr>
        <p:txBody>
          <a:bodyPr wrap="square" lIns="0" tIns="0" rIns="0" bIns="0" rtlCol="0" anchor="ctr"/>
          <a:lstStyle/>
          <a:p>
            <a:pPr marL="0" indent="0" algn="r">
              <a:buNone/>
            </a:pPr>
            <a:r>
              <a:rPr lang="en-US" sz="1000" dirty="0">
                <a:solidFill>
                  <a:srgbClr val="334155"/>
                </a:solidFill>
                <a:latin typeface="Calibri" pitchFamily="34" charset="0"/>
                <a:ea typeface="Calibri" pitchFamily="34" charset="-122"/>
                <a:cs typeface="Calibri" pitchFamily="34" charset="-120"/>
              </a:rPr>
              <a:t>Phishing</a:t>
            </a:r>
            <a:endParaRPr lang="en-US" sz="1000" dirty="0"/>
          </a:p>
        </p:txBody>
      </p:sp>
      <p:sp>
        <p:nvSpPr>
          <p:cNvPr id="31" name="Text 29"/>
          <p:cNvSpPr/>
          <p:nvPr/>
        </p:nvSpPr>
        <p:spPr>
          <a:xfrm>
            <a:off x="2025945" y="3255264"/>
            <a:ext cx="594360" cy="384048"/>
          </a:xfrm>
          <a:prstGeom prst="rect">
            <a:avLst/>
          </a:prstGeom>
          <a:noFill/>
          <a:ln/>
        </p:spPr>
        <p:txBody>
          <a:bodyPr wrap="square" lIns="0" tIns="0" rIns="0" bIns="0" rtlCol="0" anchor="ctr"/>
          <a:lstStyle/>
          <a:p>
            <a:pPr marL="0" indent="0">
              <a:buNone/>
            </a:pPr>
            <a:r>
              <a:rPr lang="en-US" sz="1000" b="1" dirty="0">
                <a:solidFill>
                  <a:srgbClr val="E63946"/>
                </a:solidFill>
                <a:latin typeface="Calibri" pitchFamily="34" charset="0"/>
                <a:ea typeface="Calibri" pitchFamily="34" charset="-122"/>
                <a:cs typeface="Calibri" pitchFamily="34" charset="-120"/>
              </a:rPr>
              <a:t>14.7%</a:t>
            </a:r>
            <a:endParaRPr lang="en-US" sz="1000" dirty="0"/>
          </a:p>
        </p:txBody>
      </p:sp>
      <p:sp>
        <p:nvSpPr>
          <p:cNvPr id="32" name="Shape 30"/>
          <p:cNvSpPr/>
          <p:nvPr/>
        </p:nvSpPr>
        <p:spPr>
          <a:xfrm>
            <a:off x="1325880" y="3749040"/>
            <a:ext cx="162397" cy="384048"/>
          </a:xfrm>
          <a:prstGeom prst="rect">
            <a:avLst/>
          </a:prstGeom>
          <a:solidFill>
            <a:srgbClr val="7C3AED"/>
          </a:solidFill>
          <a:ln w="12700">
            <a:solidFill>
              <a:srgbClr val="7C3AED"/>
            </a:solidFill>
            <a:prstDash val="solid"/>
          </a:ln>
        </p:spPr>
        <p:txBody>
          <a:bodyPr/>
          <a:lstStyle/>
          <a:p>
            <a:endParaRPr lang="en-IN"/>
          </a:p>
        </p:txBody>
      </p:sp>
      <p:sp>
        <p:nvSpPr>
          <p:cNvPr id="33" name="Text 31"/>
          <p:cNvSpPr/>
          <p:nvPr/>
        </p:nvSpPr>
        <p:spPr>
          <a:xfrm>
            <a:off x="320040" y="3749040"/>
            <a:ext cx="969264" cy="384048"/>
          </a:xfrm>
          <a:prstGeom prst="rect">
            <a:avLst/>
          </a:prstGeom>
          <a:noFill/>
          <a:ln/>
        </p:spPr>
        <p:txBody>
          <a:bodyPr wrap="square" lIns="0" tIns="0" rIns="0" bIns="0" rtlCol="0" anchor="ctr"/>
          <a:lstStyle/>
          <a:p>
            <a:pPr marL="0" indent="0" algn="r">
              <a:buNone/>
            </a:pPr>
            <a:r>
              <a:rPr lang="en-US" sz="1000" dirty="0">
                <a:solidFill>
                  <a:srgbClr val="334155"/>
                </a:solidFill>
                <a:latin typeface="Calibri" pitchFamily="34" charset="0"/>
                <a:ea typeface="Calibri" pitchFamily="34" charset="-122"/>
                <a:cs typeface="Calibri" pitchFamily="34" charset="-120"/>
              </a:rPr>
              <a:t>Malware</a:t>
            </a:r>
            <a:endParaRPr lang="en-US" sz="1000" dirty="0"/>
          </a:p>
        </p:txBody>
      </p:sp>
      <p:sp>
        <p:nvSpPr>
          <p:cNvPr id="34" name="Text 32"/>
          <p:cNvSpPr/>
          <p:nvPr/>
        </p:nvSpPr>
        <p:spPr>
          <a:xfrm>
            <a:off x="1543141" y="3749040"/>
            <a:ext cx="594360" cy="384048"/>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3.7%</a:t>
            </a:r>
            <a:endParaRPr lang="en-US" sz="1000" dirty="0"/>
          </a:p>
        </p:txBody>
      </p:sp>
      <p:sp>
        <p:nvSpPr>
          <p:cNvPr id="35" name="Text 33"/>
          <p:cNvSpPr/>
          <p:nvPr/>
        </p:nvSpPr>
        <p:spPr>
          <a:xfrm>
            <a:off x="5486400" y="1938528"/>
            <a:ext cx="338328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Dataset Sources</a:t>
            </a:r>
            <a:endParaRPr lang="en-US" sz="1200" dirty="0"/>
          </a:p>
        </p:txBody>
      </p:sp>
      <p:sp>
        <p:nvSpPr>
          <p:cNvPr id="36" name="Shape 34"/>
          <p:cNvSpPr/>
          <p:nvPr/>
        </p:nvSpPr>
        <p:spPr>
          <a:xfrm>
            <a:off x="5486400" y="2267712"/>
            <a:ext cx="3429000" cy="347472"/>
          </a:xfrm>
          <a:prstGeom prst="rect">
            <a:avLst/>
          </a:prstGeom>
          <a:solidFill>
            <a:srgbClr val="FFFFFF"/>
          </a:solidFill>
          <a:ln w="3810">
            <a:solidFill>
              <a:srgbClr val="D1D5DB"/>
            </a:solidFill>
            <a:prstDash val="solid"/>
          </a:ln>
        </p:spPr>
        <p:txBody>
          <a:bodyPr/>
          <a:lstStyle/>
          <a:p>
            <a:endParaRPr lang="en-IN"/>
          </a:p>
        </p:txBody>
      </p:sp>
      <p:sp>
        <p:nvSpPr>
          <p:cNvPr id="37" name="Text 35"/>
          <p:cNvSpPr/>
          <p:nvPr/>
        </p:nvSpPr>
        <p:spPr>
          <a:xfrm>
            <a:off x="5559552" y="2267712"/>
            <a:ext cx="1920240" cy="347472"/>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ISCX-URL-2016</a:t>
            </a:r>
            <a:endParaRPr lang="en-US" sz="950" dirty="0"/>
          </a:p>
        </p:txBody>
      </p:sp>
      <p:sp>
        <p:nvSpPr>
          <p:cNvPr id="38" name="Text 36"/>
          <p:cNvSpPr/>
          <p:nvPr/>
        </p:nvSpPr>
        <p:spPr>
          <a:xfrm>
            <a:off x="7498080" y="2267712"/>
            <a:ext cx="1371600" cy="34747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Base collection</a:t>
            </a:r>
            <a:endParaRPr lang="en-US" sz="900" dirty="0"/>
          </a:p>
        </p:txBody>
      </p:sp>
      <p:sp>
        <p:nvSpPr>
          <p:cNvPr id="39" name="Shape 37"/>
          <p:cNvSpPr/>
          <p:nvPr/>
        </p:nvSpPr>
        <p:spPr>
          <a:xfrm>
            <a:off x="5486400" y="2670048"/>
            <a:ext cx="3429000" cy="347472"/>
          </a:xfrm>
          <a:prstGeom prst="rect">
            <a:avLst/>
          </a:prstGeom>
          <a:solidFill>
            <a:srgbClr val="E8F4F8"/>
          </a:solidFill>
          <a:ln w="3810">
            <a:solidFill>
              <a:srgbClr val="D1D5DB"/>
            </a:solidFill>
            <a:prstDash val="solid"/>
          </a:ln>
        </p:spPr>
        <p:txBody>
          <a:bodyPr/>
          <a:lstStyle/>
          <a:p>
            <a:endParaRPr lang="en-IN"/>
          </a:p>
        </p:txBody>
      </p:sp>
      <p:sp>
        <p:nvSpPr>
          <p:cNvPr id="40" name="Text 38"/>
          <p:cNvSpPr/>
          <p:nvPr/>
        </p:nvSpPr>
        <p:spPr>
          <a:xfrm>
            <a:off x="5559552" y="2670048"/>
            <a:ext cx="1920240" cy="347472"/>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Malware Domain Blacklist</a:t>
            </a:r>
            <a:endParaRPr lang="en-US" sz="950" dirty="0"/>
          </a:p>
        </p:txBody>
      </p:sp>
      <p:sp>
        <p:nvSpPr>
          <p:cNvPr id="41" name="Text 39"/>
          <p:cNvSpPr/>
          <p:nvPr/>
        </p:nvSpPr>
        <p:spPr>
          <a:xfrm>
            <a:off x="7498080" y="2670048"/>
            <a:ext cx="1371600" cy="34747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Phishing &amp; malware</a:t>
            </a:r>
            <a:endParaRPr lang="en-US" sz="900" dirty="0"/>
          </a:p>
        </p:txBody>
      </p:sp>
      <p:sp>
        <p:nvSpPr>
          <p:cNvPr id="42" name="Shape 40"/>
          <p:cNvSpPr/>
          <p:nvPr/>
        </p:nvSpPr>
        <p:spPr>
          <a:xfrm>
            <a:off x="5486400" y="3072384"/>
            <a:ext cx="3429000" cy="347472"/>
          </a:xfrm>
          <a:prstGeom prst="rect">
            <a:avLst/>
          </a:prstGeom>
          <a:solidFill>
            <a:srgbClr val="FFFFFF"/>
          </a:solidFill>
          <a:ln w="3810">
            <a:solidFill>
              <a:srgbClr val="D1D5DB"/>
            </a:solidFill>
            <a:prstDash val="solid"/>
          </a:ln>
        </p:spPr>
        <p:txBody>
          <a:bodyPr/>
          <a:lstStyle/>
          <a:p>
            <a:endParaRPr lang="en-IN"/>
          </a:p>
        </p:txBody>
      </p:sp>
      <p:sp>
        <p:nvSpPr>
          <p:cNvPr id="43" name="Text 41"/>
          <p:cNvSpPr/>
          <p:nvPr/>
        </p:nvSpPr>
        <p:spPr>
          <a:xfrm>
            <a:off x="5559552" y="3072384"/>
            <a:ext cx="1920240" cy="347472"/>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Faizan Repository</a:t>
            </a:r>
            <a:endParaRPr lang="en-US" sz="950" dirty="0"/>
          </a:p>
        </p:txBody>
      </p:sp>
      <p:sp>
        <p:nvSpPr>
          <p:cNvPr id="44" name="Text 42"/>
          <p:cNvSpPr/>
          <p:nvPr/>
        </p:nvSpPr>
        <p:spPr>
          <a:xfrm>
            <a:off x="7498080" y="3072384"/>
            <a:ext cx="1371600" cy="34747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Benign URLs</a:t>
            </a:r>
            <a:endParaRPr lang="en-US" sz="900" dirty="0"/>
          </a:p>
        </p:txBody>
      </p:sp>
      <p:sp>
        <p:nvSpPr>
          <p:cNvPr id="45" name="Shape 43"/>
          <p:cNvSpPr/>
          <p:nvPr/>
        </p:nvSpPr>
        <p:spPr>
          <a:xfrm>
            <a:off x="5486400" y="3474720"/>
            <a:ext cx="3429000" cy="347472"/>
          </a:xfrm>
          <a:prstGeom prst="rect">
            <a:avLst/>
          </a:prstGeom>
          <a:solidFill>
            <a:srgbClr val="E8F4F8"/>
          </a:solidFill>
          <a:ln w="3810">
            <a:solidFill>
              <a:srgbClr val="D1D5DB"/>
            </a:solidFill>
            <a:prstDash val="solid"/>
          </a:ln>
        </p:spPr>
        <p:txBody>
          <a:bodyPr/>
          <a:lstStyle/>
          <a:p>
            <a:endParaRPr lang="en-IN"/>
          </a:p>
        </p:txBody>
      </p:sp>
      <p:sp>
        <p:nvSpPr>
          <p:cNvPr id="46" name="Text 44"/>
          <p:cNvSpPr/>
          <p:nvPr/>
        </p:nvSpPr>
        <p:spPr>
          <a:xfrm>
            <a:off x="5559552" y="3474720"/>
            <a:ext cx="1920240" cy="347472"/>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PhishTank</a:t>
            </a:r>
            <a:endParaRPr lang="en-US" sz="950" dirty="0"/>
          </a:p>
        </p:txBody>
      </p:sp>
      <p:sp>
        <p:nvSpPr>
          <p:cNvPr id="47" name="Text 45"/>
          <p:cNvSpPr/>
          <p:nvPr/>
        </p:nvSpPr>
        <p:spPr>
          <a:xfrm>
            <a:off x="7498080" y="3474720"/>
            <a:ext cx="1371600" cy="34747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Phishing URLs</a:t>
            </a:r>
            <a:endParaRPr lang="en-US" sz="900" dirty="0"/>
          </a:p>
        </p:txBody>
      </p:sp>
      <p:sp>
        <p:nvSpPr>
          <p:cNvPr id="48" name="Shape 46"/>
          <p:cNvSpPr/>
          <p:nvPr/>
        </p:nvSpPr>
        <p:spPr>
          <a:xfrm>
            <a:off x="5486400" y="3877056"/>
            <a:ext cx="3429000" cy="347472"/>
          </a:xfrm>
          <a:prstGeom prst="rect">
            <a:avLst/>
          </a:prstGeom>
          <a:solidFill>
            <a:srgbClr val="FFFFFF"/>
          </a:solidFill>
          <a:ln w="3810">
            <a:solidFill>
              <a:srgbClr val="D1D5DB"/>
            </a:solidFill>
            <a:prstDash val="solid"/>
          </a:ln>
        </p:spPr>
        <p:txBody>
          <a:bodyPr/>
          <a:lstStyle/>
          <a:p>
            <a:endParaRPr lang="en-IN"/>
          </a:p>
        </p:txBody>
      </p:sp>
      <p:sp>
        <p:nvSpPr>
          <p:cNvPr id="49" name="Text 47"/>
          <p:cNvSpPr/>
          <p:nvPr/>
        </p:nvSpPr>
        <p:spPr>
          <a:xfrm>
            <a:off x="5559552" y="3877056"/>
            <a:ext cx="1920240" cy="347472"/>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PhishStorm</a:t>
            </a:r>
            <a:endParaRPr lang="en-US" sz="950" dirty="0"/>
          </a:p>
        </p:txBody>
      </p:sp>
      <p:sp>
        <p:nvSpPr>
          <p:cNvPr id="50" name="Text 48"/>
          <p:cNvSpPr/>
          <p:nvPr/>
        </p:nvSpPr>
        <p:spPr>
          <a:xfrm>
            <a:off x="7498080" y="3877056"/>
            <a:ext cx="1371600" cy="34747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Phishing URLs</a:t>
            </a:r>
            <a:endParaRPr lang="en-US" sz="900" dirty="0"/>
          </a:p>
        </p:txBody>
      </p:sp>
      <p:sp>
        <p:nvSpPr>
          <p:cNvPr id="51" name="Shape 49"/>
          <p:cNvSpPr/>
          <p:nvPr/>
        </p:nvSpPr>
        <p:spPr>
          <a:xfrm>
            <a:off x="320040" y="4343400"/>
            <a:ext cx="8595360" cy="438912"/>
          </a:xfrm>
          <a:prstGeom prst="rect">
            <a:avLst/>
          </a:prstGeom>
          <a:solidFill>
            <a:srgbClr val="FEF3C7"/>
          </a:solidFill>
          <a:ln w="9525">
            <a:solidFill>
              <a:srgbClr val="F59E0B"/>
            </a:solidFill>
            <a:prstDash val="solid"/>
          </a:ln>
        </p:spPr>
        <p:txBody>
          <a:bodyPr/>
          <a:lstStyle/>
          <a:p>
            <a:endParaRPr lang="en-IN"/>
          </a:p>
        </p:txBody>
      </p:sp>
      <p:sp>
        <p:nvSpPr>
          <p:cNvPr id="52" name="Text 50"/>
          <p:cNvSpPr/>
          <p:nvPr/>
        </p:nvSpPr>
        <p:spPr>
          <a:xfrm>
            <a:off x="457200" y="4361688"/>
            <a:ext cx="8321040" cy="402336"/>
          </a:xfrm>
          <a:prstGeom prst="rect">
            <a:avLst/>
          </a:prstGeom>
          <a:noFill/>
          <a:ln/>
        </p:spPr>
        <p:txBody>
          <a:bodyPr wrap="square" rtlCol="0" anchor="ctr"/>
          <a:lstStyle/>
          <a:p>
            <a:pPr marL="0" indent="0">
              <a:buNone/>
            </a:pPr>
            <a:r>
              <a:rPr lang="en-US" sz="1000" dirty="0">
                <a:solidFill>
                  <a:srgbClr val="78350F"/>
                </a:solidFill>
                <a:latin typeface="Calibri" pitchFamily="34" charset="0"/>
                <a:ea typeface="Calibri" pitchFamily="34" charset="-122"/>
                <a:cs typeface="Calibri" pitchFamily="34" charset="-120"/>
              </a:rPr>
              <a:t>⚠  The dataset is strongly imbalanced (18:1 benign-to-malware). This means plain accuracy is misleading — balanced accuracy and macro F1 matter more.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a:effectLst/>
      </p:bgPr>
    </p:bg>
    <p:spTree>
      <p:nvGrpSpPr>
        <p:cNvPr id="1" name=""/>
        <p:cNvGrpSpPr/>
        <p:nvPr/>
      </p:nvGrpSpPr>
      <p:grpSpPr>
        <a:xfrm>
          <a:off x="0" y="0"/>
          <a:ext cx="0" cy="0"/>
          <a:chOff x="0" y="0"/>
          <a:chExt cx="0" cy="0"/>
        </a:xfrm>
      </p:grpSpPr>
      <p:sp>
        <p:nvSpPr>
          <p:cNvPr id="2" name="HeaderBar"/>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HeaderTitle"/>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rPr>
              <a:t>Why Plain Accuracy Misleads: Choosing the Right Metrics</a:t>
            </a:r>
          </a:p>
        </p:txBody>
      </p:sp>
      <p:sp>
        <p:nvSpPr>
          <p:cNvPr id="4" name="FooterBar"/>
          <p:cNvSpPr/>
          <p:nvPr/>
        </p:nvSpPr>
        <p:spPr>
          <a:xfrm>
            <a:off x="0" y="4892040"/>
            <a:ext cx="9144000" cy="251460"/>
          </a:xfrm>
          <a:prstGeom prst="rect">
            <a:avLst/>
          </a:prstGeom>
          <a:solidFill>
            <a:srgbClr val="1B2A41"/>
          </a:solidFill>
          <a:ln w="12700">
            <a:solidFill>
              <a:srgbClr val="1B2A41"/>
            </a:solidFill>
            <a:prstDash val="solid"/>
          </a:ln>
        </p:spPr>
        <p:txBody>
          <a:bodyPr/>
          <a:lstStyle/>
          <a:p>
            <a:endParaRPr lang="en-US"/>
          </a:p>
        </p:txBody>
      </p:sp>
      <p:sp>
        <p:nvSpPr>
          <p:cNvPr id="5" name="FooterText"/>
          <p:cNvSpPr/>
          <p:nvPr/>
        </p:nvSpPr>
        <p:spPr>
          <a:xfrm>
            <a:off x="274320" y="4892040"/>
            <a:ext cx="8595360" cy="251460"/>
          </a:xfrm>
          <a:prstGeom prst="rect">
            <a:avLst/>
          </a:prstGeom>
          <a:noFill/>
          <a:ln/>
        </p:spPr>
        <p:txBody>
          <a:bodyPr wrap="square" lIns="0" tIns="0" rIns="0" bIns="0" rtlCol="0" anchor="ctr"/>
          <a:lstStyle/>
          <a:p>
            <a:pPr marL="0" indent="0">
              <a:buNone/>
            </a:pPr>
            <a:r>
              <a:rPr lang="en-US" sz="800" dirty="0">
                <a:solidFill>
                  <a:srgbClr val="CADCFC"/>
                </a:solidFill>
                <a:latin typeface="Calibri" pitchFamily="34" charset="0"/>
              </a:rPr>
              <a:t>Malicious URL Detection  ·  Lexical Features Only  |  Evaluation Metrics</a:t>
            </a:r>
          </a:p>
        </p:txBody>
      </p:sp>
      <p:sp>
        <p:nvSpPr>
          <p:cNvPr id="6" name="LeftHead"/>
          <p:cNvSpPr/>
          <p:nvPr/>
        </p:nvSpPr>
        <p:spPr>
          <a:xfrm>
            <a:off x="320040" y="750000"/>
            <a:ext cx="4114800" cy="292608"/>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rPr>
              <a:t>The Problem with Plain Accuracy</a:t>
            </a:r>
          </a:p>
        </p:txBody>
      </p:sp>
      <p:sp>
        <p:nvSpPr>
          <p:cNvPr id="7" name="LeftBody"/>
          <p:cNvSpPr/>
          <p:nvPr/>
        </p:nvSpPr>
        <p:spPr>
          <a:xfrm>
            <a:off x="320040" y="1080000"/>
            <a:ext cx="4114800" cy="1680000"/>
          </a:xfrm>
          <a:prstGeom prst="rect">
            <a:avLst/>
          </a:prstGeom>
          <a:noFill/>
          <a:ln/>
        </p:spPr>
        <p:txBody>
          <a:bodyPr wrap="square" lIns="0" tIns="0" rIns="0" bIns="0" rtlCol="0" anchor="t"/>
          <a:lstStyle/>
          <a:p>
            <a:pPr marL="342900" indent="-342900">
              <a:buSzPct val="100000"/>
              <a:buChar char="•"/>
            </a:pPr>
            <a:r>
              <a:rPr lang="en-US" sz="1050" dirty="0">
                <a:solidFill>
                  <a:srgbClr val="334155"/>
                </a:solidFill>
                <a:latin typeface="Calibri" pitchFamily="34" charset="0"/>
              </a:rPr>
              <a:t>67% of URLs are benign — predicting </a:t>
            </a:r>
            <a:r>
              <a:rPr lang="en-US" sz="1050" b="1" dirty="0">
                <a:solidFill>
                  <a:srgbClr val="334155"/>
                </a:solidFill>
                <a:latin typeface="Calibri" pitchFamily="34" charset="0"/>
              </a:rPr>
              <a:t>“benign” always</a:t>
            </a:r>
            <a:r>
              <a:rPr lang="en-US" sz="1050" dirty="0">
                <a:solidFill>
                  <a:srgbClr val="334155"/>
                </a:solidFill>
                <a:latin typeface="Calibri" pitchFamily="34" charset="0"/>
              </a:rPr>
              <a:t> scores 67% accuracy</a:t>
            </a:r>
          </a:p>
          <a:p>
            <a:pPr marL="342900" indent="-342900">
              <a:buSzPct val="100000"/>
              <a:buChar char="•"/>
            </a:pPr>
            <a:r>
              <a:rPr lang="en-US" sz="1050" dirty="0">
                <a:solidFill>
                  <a:srgbClr val="334155"/>
                </a:solidFill>
                <a:latin typeface="Calibri" pitchFamily="34" charset="0"/>
              </a:rPr>
              <a:t>Yet that model catches </a:t>
            </a:r>
            <a:r>
              <a:rPr lang="en-US" sz="1050" b="1" dirty="0">
                <a:solidFill>
                  <a:srgbClr val="C0392B"/>
                </a:solidFill>
                <a:latin typeface="Calibri" pitchFamily="34" charset="0"/>
              </a:rPr>
              <a:t>zero malicious URLs</a:t>
            </a:r>
            <a:r>
              <a:rPr lang="en-US" sz="1050" dirty="0">
                <a:solidFill>
                  <a:srgbClr val="334155"/>
                </a:solidFill>
                <a:latin typeface="Calibri" pitchFamily="34" charset="0"/>
              </a:rPr>
              <a:t> — useless for security</a:t>
            </a:r>
          </a:p>
          <a:p>
            <a:pPr marL="342900" indent="-342900">
              <a:buSzPct val="100000"/>
              <a:buChar char="•"/>
            </a:pPr>
            <a:r>
              <a:rPr lang="en-US" sz="1050" dirty="0">
                <a:solidFill>
                  <a:srgbClr val="334155"/>
                </a:solidFill>
                <a:latin typeface="Calibri" pitchFamily="34" charset="0"/>
              </a:rPr>
              <a:t>18:1 imbalance (benign vs. malware) means accuracy always inflates scores for models that ignore small classes</a:t>
            </a:r>
          </a:p>
        </p:txBody>
      </p:sp>
      <p:sp>
        <p:nvSpPr>
          <p:cNvPr id="9" name="Divider"/>
          <p:cNvSpPr/>
          <p:nvPr/>
        </p:nvSpPr>
        <p:spPr>
          <a:xfrm>
            <a:off x="4572000" y="720000"/>
            <a:ext cx="27432" cy="4072000"/>
          </a:xfrm>
          <a:prstGeom prst="rect">
            <a:avLst/>
          </a:prstGeom>
          <a:solidFill>
            <a:srgbClr val="CADCFC"/>
          </a:solidFill>
          <a:ln w="0">
            <a:noFill/>
          </a:ln>
        </p:spPr>
        <p:txBody>
          <a:bodyPr/>
          <a:lstStyle/>
          <a:p>
            <a:endParaRPr lang="en-US"/>
          </a:p>
        </p:txBody>
      </p:sp>
      <p:sp>
        <p:nvSpPr>
          <p:cNvPr id="10" name="RightHead"/>
          <p:cNvSpPr/>
          <p:nvPr/>
        </p:nvSpPr>
        <p:spPr>
          <a:xfrm>
            <a:off x="4709160" y="750000"/>
            <a:ext cx="4160880" cy="292608"/>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rPr>
              <a:t>Better Metrics for This Project</a:t>
            </a:r>
          </a:p>
        </p:txBody>
      </p:sp>
      <p:sp>
        <p:nvSpPr>
          <p:cNvPr id="11" name="BalAccCard"/>
          <p:cNvSpPr/>
          <p:nvPr/>
        </p:nvSpPr>
        <p:spPr>
          <a:xfrm>
            <a:off x="4709160" y="1080000"/>
            <a:ext cx="4114800" cy="704039"/>
          </a:xfrm>
          <a:prstGeom prst="rect">
            <a:avLst/>
          </a:prstGeom>
          <a:solidFill>
            <a:srgbClr val="E8F4F8"/>
          </a:solidFill>
          <a:ln w="9525">
            <a:solidFill>
              <a:srgbClr val="028090"/>
            </a:solidFill>
            <a:prstDash val="solid"/>
          </a:ln>
          <a:effectLst>
            <a:outerShdw blurRad="101600" dist="38100" dir="8100000" algn="bl" rotWithShape="0">
              <a:srgbClr val="000000">
                <a:alpha val="12000"/>
              </a:srgbClr>
            </a:outerShdw>
          </a:effectLst>
        </p:spPr>
        <p:txBody>
          <a:bodyPr wrap="square" lIns="91440" tIns="91440" rIns="91440" bIns="91440" rtlCol="0" anchor="t"/>
          <a:lstStyle/>
          <a:p>
            <a:pPr marL="0" indent="0">
              <a:buNone/>
            </a:pPr>
            <a:r>
              <a:rPr lang="en-US" sz="1150" b="1" dirty="0">
                <a:solidFill>
                  <a:srgbClr val="028090"/>
                </a:solidFill>
                <a:latin typeface="Calibri" pitchFamily="34" charset="0"/>
              </a:rPr>
              <a:t>Balanced Accuracy</a:t>
            </a:r>
          </a:p>
          <a:p>
            <a:pPr marL="0" indent="0">
              <a:buNone/>
            </a:pPr>
            <a:r>
              <a:rPr lang="en-US" sz="1000" dirty="0">
                <a:solidFill>
                  <a:srgbClr val="334155"/>
                </a:solidFill>
                <a:latin typeface="Calibri" pitchFamily="34" charset="0"/>
              </a:rPr>
              <a:t>This is the average recall across all the classes. A model that ignores the malware class scores 0.50 — not higher. Fair regardless of class size.</a:t>
            </a:r>
          </a:p>
        </p:txBody>
      </p:sp>
      <p:sp>
        <p:nvSpPr>
          <p:cNvPr id="12" name="MacroF1Card"/>
          <p:cNvSpPr/>
          <p:nvPr/>
        </p:nvSpPr>
        <p:spPr>
          <a:xfrm>
            <a:off x="4709160" y="1920000"/>
            <a:ext cx="4114800" cy="780000"/>
          </a:xfrm>
          <a:prstGeom prst="rect">
            <a:avLst/>
          </a:prstGeom>
          <a:solidFill>
            <a:srgbClr val="E8F4F8"/>
          </a:solidFill>
          <a:ln w="9525">
            <a:solidFill>
              <a:srgbClr val="028090"/>
            </a:solidFill>
            <a:prstDash val="solid"/>
          </a:ln>
          <a:effectLst>
            <a:outerShdw blurRad="101600" dist="38100" dir="8100000" algn="bl" rotWithShape="0">
              <a:srgbClr val="000000">
                <a:alpha val="12000"/>
              </a:srgbClr>
            </a:outerShdw>
          </a:effectLst>
        </p:spPr>
        <p:txBody>
          <a:bodyPr wrap="square" lIns="91440" tIns="91440" rIns="91440" bIns="91440" rtlCol="0" anchor="t"/>
          <a:lstStyle/>
          <a:p>
            <a:pPr marL="0" indent="0">
              <a:buNone/>
            </a:pPr>
            <a:r>
              <a:rPr lang="en-US" sz="1150" b="1" dirty="0">
                <a:solidFill>
                  <a:srgbClr val="028090"/>
                </a:solidFill>
                <a:latin typeface="Calibri" pitchFamily="34" charset="0"/>
              </a:rPr>
              <a:t>Macro F1</a:t>
            </a:r>
          </a:p>
          <a:p>
            <a:pPr marL="0" indent="0">
              <a:buNone/>
            </a:pPr>
            <a:r>
              <a:rPr lang="en-US" sz="1000" dirty="0">
                <a:solidFill>
                  <a:srgbClr val="334155"/>
                </a:solidFill>
                <a:latin typeface="Calibri" pitchFamily="34" charset="0"/>
              </a:rPr>
              <a:t>F1 = Harmonic mean of precision and recall. Macro = averaged equally across all classes. Penalises poor performance on small classes like malware (3.7% of data).</a:t>
            </a:r>
          </a:p>
        </p:txBody>
      </p:sp>
      <p:sp>
        <p:nvSpPr>
          <p:cNvPr id="13" name="SummaryBox"/>
          <p:cNvSpPr/>
          <p:nvPr/>
        </p:nvSpPr>
        <p:spPr>
          <a:xfrm>
            <a:off x="4709160" y="2787481"/>
            <a:ext cx="4114800" cy="420000"/>
          </a:xfrm>
          <a:prstGeom prst="rect">
            <a:avLst/>
          </a:prstGeom>
          <a:solidFill>
            <a:srgbClr val="CADCFC"/>
          </a:solidFill>
          <a:ln w="9525">
            <a:solidFill>
              <a:srgbClr val="1B2A41"/>
            </a:solidFill>
            <a:prstDash val="solid"/>
          </a:ln>
        </p:spPr>
        <p:txBody>
          <a:bodyPr wrap="square" lIns="91440" tIns="91440" rIns="91440" bIns="91440" rtlCol="0" anchor="ctr"/>
          <a:lstStyle/>
          <a:p>
            <a:pPr marL="0" indent="0">
              <a:buNone/>
            </a:pPr>
            <a:r>
              <a:rPr lang="en-US" sz="1000" b="1" i="1" dirty="0">
                <a:solidFill>
                  <a:srgbClr val="0D1B2A"/>
                </a:solidFill>
                <a:latin typeface="Calibri" pitchFamily="34" charset="0"/>
              </a:rPr>
              <a:t>Both metrics treat every class equally — essential when catching phishing or malware matters as much as classifying benign URLs.</a:t>
            </a:r>
          </a:p>
        </p:txBody>
      </p:sp>
      <p:sp>
        <p:nvSpPr>
          <p:cNvPr id="14" name="MacroF1Card">
            <a:extLst>
              <a:ext uri="{FF2B5EF4-FFF2-40B4-BE49-F238E27FC236}">
                <a16:creationId xmlns:a16="http://schemas.microsoft.com/office/drawing/2014/main" id="{318DEADA-502D-4AF9-A473-314A89B07446}"/>
              </a:ext>
            </a:extLst>
          </p:cNvPr>
          <p:cNvSpPr/>
          <p:nvPr/>
        </p:nvSpPr>
        <p:spPr>
          <a:xfrm>
            <a:off x="4709160" y="3302085"/>
            <a:ext cx="4114800" cy="631632"/>
          </a:xfrm>
          <a:prstGeom prst="rect">
            <a:avLst/>
          </a:prstGeom>
          <a:solidFill>
            <a:srgbClr val="E8F4F8"/>
          </a:solidFill>
          <a:ln w="9525">
            <a:solidFill>
              <a:srgbClr val="028090"/>
            </a:solidFill>
            <a:prstDash val="solid"/>
          </a:ln>
          <a:effectLst>
            <a:outerShdw blurRad="101600" dist="38100" dir="8100000" algn="bl" rotWithShape="0">
              <a:srgbClr val="000000">
                <a:alpha val="12000"/>
              </a:srgbClr>
            </a:outerShdw>
          </a:effectLst>
        </p:spPr>
        <p:txBody>
          <a:bodyPr wrap="square" lIns="91440" tIns="91440" rIns="91440" bIns="91440" rtlCol="0" anchor="t"/>
          <a:lstStyle/>
          <a:p>
            <a:pPr marL="0" indent="0">
              <a:buNone/>
            </a:pPr>
            <a:r>
              <a:rPr lang="en-US" sz="1050" b="1" dirty="0">
                <a:solidFill>
                  <a:srgbClr val="028090"/>
                </a:solidFill>
                <a:latin typeface="Calibri" pitchFamily="34" charset="0"/>
              </a:rPr>
              <a:t>Recall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000" dirty="0">
                <a:solidFill>
                  <a:srgbClr val="334155"/>
                </a:solidFill>
                <a:latin typeface="Calibri" pitchFamily="34" charset="0"/>
              </a:rPr>
              <a:t>Out of all the truly malicious URLs, how many did we find? </a:t>
            </a:r>
            <a:endParaRPr kumimoji="0" lang="en-GB" sz="1000" b="0" i="0" u="none" strike="noStrike" kern="1200" cap="none" spc="0" normalizeH="0" baseline="0" noProof="0" dirty="0">
              <a:ln>
                <a:noFill/>
              </a:ln>
              <a:solidFill>
                <a:srgbClr val="334155"/>
              </a:solidFill>
              <a:effectLst/>
              <a:uLnTx/>
              <a:uFillTx/>
              <a:latin typeface="Calibri" pitchFamily="34" charset="0"/>
              <a:ea typeface="+mn-ea"/>
              <a:cs typeface="+mn-cs"/>
            </a:endParaRPr>
          </a:p>
          <a:p>
            <a:pPr marL="0" indent="0">
              <a:buNone/>
            </a:pPr>
            <a:endParaRPr lang="en-US" sz="1150" b="1" dirty="0">
              <a:solidFill>
                <a:srgbClr val="028090"/>
              </a:solidFill>
              <a:latin typeface="Calibri" pitchFamily="34" charset="0"/>
            </a:endParaRPr>
          </a:p>
        </p:txBody>
      </p:sp>
      <p:sp>
        <p:nvSpPr>
          <p:cNvPr id="15" name="MacroF1Card">
            <a:extLst>
              <a:ext uri="{FF2B5EF4-FFF2-40B4-BE49-F238E27FC236}">
                <a16:creationId xmlns:a16="http://schemas.microsoft.com/office/drawing/2014/main" id="{CD67CC57-8F66-4C56-1BF8-AC513206CDCB}"/>
              </a:ext>
            </a:extLst>
          </p:cNvPr>
          <p:cNvSpPr/>
          <p:nvPr/>
        </p:nvSpPr>
        <p:spPr>
          <a:xfrm>
            <a:off x="4709160" y="4063501"/>
            <a:ext cx="4114800" cy="631632"/>
          </a:xfrm>
          <a:prstGeom prst="rect">
            <a:avLst/>
          </a:prstGeom>
          <a:solidFill>
            <a:srgbClr val="E8F4F8"/>
          </a:solidFill>
          <a:ln w="9525">
            <a:solidFill>
              <a:srgbClr val="028090"/>
            </a:solidFill>
            <a:prstDash val="solid"/>
          </a:ln>
          <a:effectLst>
            <a:outerShdw blurRad="101600" dist="38100" dir="8100000" algn="bl" rotWithShape="0">
              <a:srgbClr val="000000">
                <a:alpha val="12000"/>
              </a:srgbClr>
            </a:outerShdw>
          </a:effectLst>
        </p:spPr>
        <p:txBody>
          <a:bodyPr wrap="square" lIns="91440" tIns="91440" rIns="91440" bIns="91440" rtlCol="0" anchor="t"/>
          <a:lstStyle/>
          <a:p>
            <a:pPr marL="0" indent="0">
              <a:buNone/>
            </a:pPr>
            <a:r>
              <a:rPr lang="en-US" sz="1050" b="1" dirty="0">
                <a:solidFill>
                  <a:srgbClr val="028090"/>
                </a:solidFill>
                <a:latin typeface="Calibri" pitchFamily="34" charset="0"/>
              </a:rPr>
              <a:t>Precision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334155"/>
                </a:solidFill>
                <a:effectLst/>
                <a:uLnTx/>
                <a:uFillTx/>
                <a:latin typeface="Calibri" pitchFamily="34" charset="0"/>
                <a:ea typeface="+mn-ea"/>
                <a:cs typeface="+mn-cs"/>
              </a:rPr>
              <a:t>Out of all the URLs the model predicted as malicious, how many were actually malicious? </a:t>
            </a:r>
          </a:p>
          <a:p>
            <a:pPr marL="0" indent="0">
              <a:buNone/>
            </a:pPr>
            <a:endParaRPr lang="en-US" sz="1150" b="1" dirty="0">
              <a:solidFill>
                <a:srgbClr val="028090"/>
              </a:solidFill>
              <a:latin typeface="Calibri"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Cleaning &amp; EDA: What the Data Revealed Before Modelling</a:t>
            </a:r>
            <a:endParaRPr lang="en-US" sz="2000" dirty="0"/>
          </a:p>
        </p:txBody>
      </p:sp>
      <p:sp>
        <p:nvSpPr>
          <p:cNvPr id="4" name="Shape 2"/>
          <p:cNvSpPr/>
          <p:nvPr/>
        </p:nvSpPr>
        <p:spPr>
          <a:xfrm>
            <a:off x="0" y="4892040"/>
            <a:ext cx="9144000" cy="251460"/>
          </a:xfrm>
          <a:prstGeom prst="rect">
            <a:avLst/>
          </a:prstGeom>
          <a:solidFill>
            <a:srgbClr val="1B2A41"/>
          </a:solidFill>
          <a:ln w="12700">
            <a:solidFill>
              <a:srgbClr val="1B2A41"/>
            </a:solidFill>
            <a:prstDash val="solid"/>
          </a:ln>
        </p:spPr>
        <p:txBody>
          <a:bodyPr/>
          <a:lstStyle/>
          <a:p>
            <a:endParaRPr lang="en-IN"/>
          </a:p>
        </p:txBody>
      </p:sp>
      <p:sp>
        <p:nvSpPr>
          <p:cNvPr id="5" name="Text 3"/>
          <p:cNvSpPr/>
          <p:nvPr/>
        </p:nvSpPr>
        <p:spPr>
          <a:xfrm>
            <a:off x="274320" y="4892040"/>
            <a:ext cx="8595360" cy="251460"/>
          </a:xfrm>
          <a:prstGeom prst="rect">
            <a:avLst/>
          </a:prstGeom>
          <a:noFill/>
          <a:ln/>
        </p:spPr>
        <p:txBody>
          <a:bodyPr wrap="square" lIns="0" tIns="0" rIns="0" bIns="0" rtlCol="0" anchor="ctr"/>
          <a:lstStyle/>
          <a:p>
            <a:pPr marL="0" indent="0">
              <a:buNone/>
            </a:pPr>
            <a:r>
              <a:rPr lang="en-US" sz="800" dirty="0">
                <a:solidFill>
                  <a:srgbClr val="CADCFC"/>
                </a:solidFill>
                <a:latin typeface="Calibri" pitchFamily="34" charset="0"/>
                <a:ea typeface="Calibri" pitchFamily="34" charset="-122"/>
                <a:cs typeface="Calibri" pitchFamily="34" charset="-120"/>
              </a:rPr>
              <a:t>Malicious URL Detection · Lexical Features Only  |  Data Preparation</a:t>
            </a:r>
            <a:endParaRPr lang="en-US" sz="800" dirty="0"/>
          </a:p>
        </p:txBody>
      </p:sp>
      <p:sp>
        <p:nvSpPr>
          <p:cNvPr id="6" name="Text 4"/>
          <p:cNvSpPr/>
          <p:nvPr/>
        </p:nvSpPr>
        <p:spPr>
          <a:xfrm>
            <a:off x="320040" y="804672"/>
            <a:ext cx="4114800" cy="27432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7-Step Cleaning Pipeline</a:t>
            </a:r>
            <a:endParaRPr lang="en-US" sz="1200" dirty="0"/>
          </a:p>
        </p:txBody>
      </p:sp>
      <p:sp>
        <p:nvSpPr>
          <p:cNvPr id="7" name="Shape 5"/>
          <p:cNvSpPr/>
          <p:nvPr/>
        </p:nvSpPr>
        <p:spPr>
          <a:xfrm>
            <a:off x="320040" y="1133856"/>
            <a:ext cx="4069080" cy="329184"/>
          </a:xfrm>
          <a:prstGeom prst="rect">
            <a:avLst/>
          </a:prstGeom>
          <a:solidFill>
            <a:srgbClr val="FFFFFF"/>
          </a:solidFill>
          <a:ln w="3810">
            <a:solidFill>
              <a:srgbClr val="D1D5DB"/>
            </a:solidFill>
            <a:prstDash val="solid"/>
          </a:ln>
        </p:spPr>
        <p:txBody>
          <a:bodyPr/>
          <a:lstStyle/>
          <a:p>
            <a:endParaRPr lang="en-IN"/>
          </a:p>
        </p:txBody>
      </p:sp>
      <p:sp>
        <p:nvSpPr>
          <p:cNvPr id="8" name="Text 6"/>
          <p:cNvSpPr/>
          <p:nvPr/>
        </p:nvSpPr>
        <p:spPr>
          <a:xfrm>
            <a:off x="411480" y="1133856"/>
            <a:ext cx="3017520" cy="32918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1  Normalize labels &amp; strip whitespace</a:t>
            </a:r>
            <a:endParaRPr lang="en-US" sz="950" dirty="0"/>
          </a:p>
        </p:txBody>
      </p:sp>
      <p:sp>
        <p:nvSpPr>
          <p:cNvPr id="9" name="Text 7"/>
          <p:cNvSpPr/>
          <p:nvPr/>
        </p:nvSpPr>
        <p:spPr>
          <a:xfrm>
            <a:off x="3447288" y="1133856"/>
            <a:ext cx="914400" cy="32918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 rows</a:t>
            </a:r>
            <a:endParaRPr lang="en-US" sz="900" dirty="0"/>
          </a:p>
        </p:txBody>
      </p:sp>
      <p:sp>
        <p:nvSpPr>
          <p:cNvPr id="10" name="Shape 8"/>
          <p:cNvSpPr/>
          <p:nvPr/>
        </p:nvSpPr>
        <p:spPr>
          <a:xfrm>
            <a:off x="320040" y="1517904"/>
            <a:ext cx="4069080" cy="329184"/>
          </a:xfrm>
          <a:prstGeom prst="rect">
            <a:avLst/>
          </a:prstGeom>
          <a:solidFill>
            <a:srgbClr val="E8F4F8"/>
          </a:solidFill>
          <a:ln w="3810">
            <a:solidFill>
              <a:srgbClr val="D1D5DB"/>
            </a:solidFill>
            <a:prstDash val="solid"/>
          </a:ln>
        </p:spPr>
        <p:txBody>
          <a:bodyPr/>
          <a:lstStyle/>
          <a:p>
            <a:endParaRPr lang="en-IN"/>
          </a:p>
        </p:txBody>
      </p:sp>
      <p:sp>
        <p:nvSpPr>
          <p:cNvPr id="11" name="Text 9"/>
          <p:cNvSpPr/>
          <p:nvPr/>
        </p:nvSpPr>
        <p:spPr>
          <a:xfrm>
            <a:off x="411480" y="1517904"/>
            <a:ext cx="3017520" cy="32918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2  Drop missing / empty URLs or types</a:t>
            </a:r>
            <a:endParaRPr lang="en-US" sz="950" dirty="0"/>
          </a:p>
        </p:txBody>
      </p:sp>
      <p:sp>
        <p:nvSpPr>
          <p:cNvPr id="12" name="Text 10"/>
          <p:cNvSpPr/>
          <p:nvPr/>
        </p:nvSpPr>
        <p:spPr>
          <a:xfrm>
            <a:off x="3447288" y="1517904"/>
            <a:ext cx="914400" cy="32918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 rows</a:t>
            </a:r>
            <a:endParaRPr lang="en-US" sz="900" dirty="0"/>
          </a:p>
        </p:txBody>
      </p:sp>
      <p:sp>
        <p:nvSpPr>
          <p:cNvPr id="13" name="Shape 11"/>
          <p:cNvSpPr/>
          <p:nvPr/>
        </p:nvSpPr>
        <p:spPr>
          <a:xfrm>
            <a:off x="320040" y="1901952"/>
            <a:ext cx="4069080" cy="329184"/>
          </a:xfrm>
          <a:prstGeom prst="rect">
            <a:avLst/>
          </a:prstGeom>
          <a:solidFill>
            <a:srgbClr val="FFFFFF"/>
          </a:solidFill>
          <a:ln w="3810">
            <a:solidFill>
              <a:srgbClr val="D1D5DB"/>
            </a:solidFill>
            <a:prstDash val="solid"/>
          </a:ln>
        </p:spPr>
        <p:txBody>
          <a:bodyPr/>
          <a:lstStyle/>
          <a:p>
            <a:endParaRPr lang="en-IN"/>
          </a:p>
        </p:txBody>
      </p:sp>
      <p:sp>
        <p:nvSpPr>
          <p:cNvPr id="14" name="Text 12"/>
          <p:cNvSpPr/>
          <p:nvPr/>
        </p:nvSpPr>
        <p:spPr>
          <a:xfrm>
            <a:off x="411480" y="1901952"/>
            <a:ext cx="3017520" cy="32918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3  Keep only expected 4 labels</a:t>
            </a:r>
            <a:endParaRPr lang="en-US" sz="950" dirty="0"/>
          </a:p>
        </p:txBody>
      </p:sp>
      <p:sp>
        <p:nvSpPr>
          <p:cNvPr id="15" name="Text 13"/>
          <p:cNvSpPr/>
          <p:nvPr/>
        </p:nvSpPr>
        <p:spPr>
          <a:xfrm>
            <a:off x="3447288" y="1901952"/>
            <a:ext cx="914400" cy="32918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 rows</a:t>
            </a:r>
            <a:endParaRPr lang="en-US" sz="900" dirty="0"/>
          </a:p>
        </p:txBody>
      </p:sp>
      <p:sp>
        <p:nvSpPr>
          <p:cNvPr id="16" name="Shape 14"/>
          <p:cNvSpPr/>
          <p:nvPr/>
        </p:nvSpPr>
        <p:spPr>
          <a:xfrm>
            <a:off x="320040" y="2286000"/>
            <a:ext cx="4069080" cy="329184"/>
          </a:xfrm>
          <a:prstGeom prst="rect">
            <a:avLst/>
          </a:prstGeom>
          <a:solidFill>
            <a:srgbClr val="E8F4F8"/>
          </a:solidFill>
          <a:ln w="3810">
            <a:solidFill>
              <a:srgbClr val="D1D5DB"/>
            </a:solidFill>
            <a:prstDash val="solid"/>
          </a:ln>
        </p:spPr>
        <p:txBody>
          <a:bodyPr/>
          <a:lstStyle/>
          <a:p>
            <a:endParaRPr lang="en-IN"/>
          </a:p>
        </p:txBody>
      </p:sp>
      <p:sp>
        <p:nvSpPr>
          <p:cNvPr id="17" name="Text 15"/>
          <p:cNvSpPr/>
          <p:nvPr/>
        </p:nvSpPr>
        <p:spPr>
          <a:xfrm>
            <a:off x="411480" y="2286000"/>
            <a:ext cx="3017520" cy="32918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4  Remove URLs with internal whitespace</a:t>
            </a:r>
            <a:endParaRPr lang="en-US" sz="950" dirty="0"/>
          </a:p>
        </p:txBody>
      </p:sp>
      <p:sp>
        <p:nvSpPr>
          <p:cNvPr id="18" name="Text 16"/>
          <p:cNvSpPr/>
          <p:nvPr/>
        </p:nvSpPr>
        <p:spPr>
          <a:xfrm>
            <a:off x="3447288" y="2286000"/>
            <a:ext cx="914400" cy="32918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306 rows</a:t>
            </a:r>
            <a:endParaRPr lang="en-US" sz="900" dirty="0"/>
          </a:p>
        </p:txBody>
      </p:sp>
      <p:sp>
        <p:nvSpPr>
          <p:cNvPr id="19" name="Shape 17"/>
          <p:cNvSpPr/>
          <p:nvPr/>
        </p:nvSpPr>
        <p:spPr>
          <a:xfrm>
            <a:off x="320040" y="2670048"/>
            <a:ext cx="4069080" cy="329184"/>
          </a:xfrm>
          <a:prstGeom prst="rect">
            <a:avLst/>
          </a:prstGeom>
          <a:solidFill>
            <a:srgbClr val="FFFFFF"/>
          </a:solidFill>
          <a:ln w="3810">
            <a:solidFill>
              <a:srgbClr val="D1D5DB"/>
            </a:solidFill>
            <a:prstDash val="solid"/>
          </a:ln>
        </p:spPr>
        <p:txBody>
          <a:bodyPr/>
          <a:lstStyle/>
          <a:p>
            <a:endParaRPr lang="en-IN"/>
          </a:p>
        </p:txBody>
      </p:sp>
      <p:sp>
        <p:nvSpPr>
          <p:cNvPr id="20" name="Text 18"/>
          <p:cNvSpPr/>
          <p:nvPr/>
        </p:nvSpPr>
        <p:spPr>
          <a:xfrm>
            <a:off x="411480" y="2670048"/>
            <a:ext cx="3017520" cy="32918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5  Remove control-character URLs</a:t>
            </a:r>
            <a:endParaRPr lang="en-US" sz="950" dirty="0"/>
          </a:p>
        </p:txBody>
      </p:sp>
      <p:sp>
        <p:nvSpPr>
          <p:cNvPr id="21" name="Text 19"/>
          <p:cNvSpPr/>
          <p:nvPr/>
        </p:nvSpPr>
        <p:spPr>
          <a:xfrm>
            <a:off x="3447288" y="2670048"/>
            <a:ext cx="914400" cy="32918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15 rows</a:t>
            </a:r>
            <a:endParaRPr lang="en-US" sz="900" dirty="0"/>
          </a:p>
        </p:txBody>
      </p:sp>
      <p:sp>
        <p:nvSpPr>
          <p:cNvPr id="22" name="Shape 20"/>
          <p:cNvSpPr/>
          <p:nvPr/>
        </p:nvSpPr>
        <p:spPr>
          <a:xfrm>
            <a:off x="320040" y="3054096"/>
            <a:ext cx="4069080" cy="329184"/>
          </a:xfrm>
          <a:prstGeom prst="rect">
            <a:avLst/>
          </a:prstGeom>
          <a:solidFill>
            <a:srgbClr val="E8F4F8"/>
          </a:solidFill>
          <a:ln w="3810">
            <a:solidFill>
              <a:srgbClr val="D1D5DB"/>
            </a:solidFill>
            <a:prstDash val="solid"/>
          </a:ln>
        </p:spPr>
        <p:txBody>
          <a:bodyPr/>
          <a:lstStyle/>
          <a:p>
            <a:endParaRPr lang="en-IN"/>
          </a:p>
        </p:txBody>
      </p:sp>
      <p:sp>
        <p:nvSpPr>
          <p:cNvPr id="23" name="Text 21"/>
          <p:cNvSpPr/>
          <p:nvPr/>
        </p:nvSpPr>
        <p:spPr>
          <a:xfrm>
            <a:off x="411480" y="3054096"/>
            <a:ext cx="3017520" cy="32918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6  Remove exact duplicate rows</a:t>
            </a:r>
            <a:endParaRPr lang="en-US" sz="950" dirty="0"/>
          </a:p>
        </p:txBody>
      </p:sp>
      <p:sp>
        <p:nvSpPr>
          <p:cNvPr id="24" name="Text 22"/>
          <p:cNvSpPr/>
          <p:nvPr/>
        </p:nvSpPr>
        <p:spPr>
          <a:xfrm>
            <a:off x="3447288" y="3054096"/>
            <a:ext cx="914400" cy="329184"/>
          </a:xfrm>
          <a:prstGeom prst="rect">
            <a:avLst/>
          </a:prstGeom>
          <a:noFill/>
          <a:ln/>
        </p:spPr>
        <p:txBody>
          <a:bodyPr wrap="square" lIns="0" tIns="0" rIns="0" bIns="0" rtlCol="0" anchor="ctr"/>
          <a:lstStyle/>
          <a:p>
            <a:pPr marL="0" indent="0" algn="r">
              <a:buNone/>
            </a:pPr>
            <a:r>
              <a:rPr lang="en-US" sz="900" b="1" dirty="0">
                <a:solidFill>
                  <a:srgbClr val="E63946"/>
                </a:solidFill>
                <a:latin typeface="Calibri" pitchFamily="34" charset="0"/>
                <a:ea typeface="Calibri" pitchFamily="34" charset="-122"/>
                <a:cs typeface="Calibri" pitchFamily="34" charset="-120"/>
              </a:rPr>
              <a:t>10,066 rows</a:t>
            </a:r>
            <a:endParaRPr lang="en-US" sz="900" dirty="0"/>
          </a:p>
        </p:txBody>
      </p:sp>
      <p:sp>
        <p:nvSpPr>
          <p:cNvPr id="25" name="Shape 23"/>
          <p:cNvSpPr/>
          <p:nvPr/>
        </p:nvSpPr>
        <p:spPr>
          <a:xfrm>
            <a:off x="320040" y="3438144"/>
            <a:ext cx="4069080" cy="329184"/>
          </a:xfrm>
          <a:prstGeom prst="rect">
            <a:avLst/>
          </a:prstGeom>
          <a:solidFill>
            <a:srgbClr val="FFFFFF"/>
          </a:solidFill>
          <a:ln w="3810">
            <a:solidFill>
              <a:srgbClr val="D1D5DB"/>
            </a:solidFill>
            <a:prstDash val="solid"/>
          </a:ln>
        </p:spPr>
        <p:txBody>
          <a:bodyPr/>
          <a:lstStyle/>
          <a:p>
            <a:endParaRPr lang="en-IN"/>
          </a:p>
        </p:txBody>
      </p:sp>
      <p:sp>
        <p:nvSpPr>
          <p:cNvPr id="26" name="Text 24"/>
          <p:cNvSpPr/>
          <p:nvPr/>
        </p:nvSpPr>
        <p:spPr>
          <a:xfrm>
            <a:off x="411480" y="3438144"/>
            <a:ext cx="3017520" cy="32918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7  Drop conflicting label URLs</a:t>
            </a:r>
            <a:endParaRPr lang="en-US" sz="950" dirty="0"/>
          </a:p>
        </p:txBody>
      </p:sp>
      <p:sp>
        <p:nvSpPr>
          <p:cNvPr id="27" name="Text 25"/>
          <p:cNvSpPr/>
          <p:nvPr/>
        </p:nvSpPr>
        <p:spPr>
          <a:xfrm>
            <a:off x="3447288" y="3438144"/>
            <a:ext cx="914400" cy="32918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 rows</a:t>
            </a:r>
            <a:endParaRPr lang="en-US" sz="900" dirty="0"/>
          </a:p>
        </p:txBody>
      </p:sp>
      <p:sp>
        <p:nvSpPr>
          <p:cNvPr id="28" name="Text 26"/>
          <p:cNvSpPr/>
          <p:nvPr/>
        </p:nvSpPr>
        <p:spPr>
          <a:xfrm>
            <a:off x="320040" y="3867912"/>
            <a:ext cx="4069080" cy="274320"/>
          </a:xfrm>
          <a:prstGeom prst="rect">
            <a:avLst/>
          </a:prstGeom>
          <a:noFill/>
          <a:ln/>
        </p:spPr>
        <p:txBody>
          <a:bodyPr wrap="square" lIns="0" tIns="0" rIns="0" bIns="0" rtlCol="0" anchor="ctr"/>
          <a:lstStyle/>
          <a:p>
            <a:pPr marL="0" indent="0" algn="r">
              <a:buNone/>
            </a:pPr>
            <a:r>
              <a:rPr lang="en-US" sz="1000" b="1" dirty="0">
                <a:solidFill>
                  <a:srgbClr val="0D1B2A"/>
                </a:solidFill>
                <a:latin typeface="Calibri" pitchFamily="34" charset="0"/>
                <a:ea typeface="Calibri" pitchFamily="34" charset="-122"/>
                <a:cs typeface="Calibri" pitchFamily="34" charset="-120"/>
              </a:rPr>
              <a:t>Total removed: 10,399 rows (1.6%)</a:t>
            </a:r>
            <a:endParaRPr lang="en-US" sz="1000" dirty="0"/>
          </a:p>
        </p:txBody>
      </p:sp>
      <p:sp>
        <p:nvSpPr>
          <p:cNvPr id="29" name="Text 27"/>
          <p:cNvSpPr/>
          <p:nvPr/>
        </p:nvSpPr>
        <p:spPr>
          <a:xfrm>
            <a:off x="4663440" y="804672"/>
            <a:ext cx="4206240" cy="27432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Key EDA Findings</a:t>
            </a:r>
            <a:endParaRPr lang="en-US" sz="1200" dirty="0"/>
          </a:p>
        </p:txBody>
      </p:sp>
      <p:sp>
        <p:nvSpPr>
          <p:cNvPr id="30" name="Shape 28"/>
          <p:cNvSpPr/>
          <p:nvPr/>
        </p:nvSpPr>
        <p:spPr>
          <a:xfrm>
            <a:off x="4663440" y="1133856"/>
            <a:ext cx="4206240" cy="868680"/>
          </a:xfrm>
          <a:prstGeom prst="rect">
            <a:avLst/>
          </a:prstGeom>
          <a:solidFill>
            <a:srgbClr val="FFFFFF"/>
          </a:solidFill>
          <a:ln w="6350">
            <a:solidFill>
              <a:srgbClr val="D1D5DB"/>
            </a:solidFill>
            <a:prstDash val="solid"/>
          </a:ln>
          <a:effectLst>
            <a:outerShdw blurRad="101600" dist="38100" dir="8100000" algn="bl" rotWithShape="0">
              <a:srgbClr val="000000">
                <a:alpha val="12000"/>
              </a:srgbClr>
            </a:outerShdw>
          </a:effectLst>
        </p:spPr>
        <p:txBody>
          <a:bodyPr/>
          <a:lstStyle/>
          <a:p>
            <a:endParaRPr lang="en-IN"/>
          </a:p>
        </p:txBody>
      </p:sp>
      <p:sp>
        <p:nvSpPr>
          <p:cNvPr id="31" name="Shape 29"/>
          <p:cNvSpPr/>
          <p:nvPr/>
        </p:nvSpPr>
        <p:spPr>
          <a:xfrm>
            <a:off x="4663440" y="1133856"/>
            <a:ext cx="54864" cy="868680"/>
          </a:xfrm>
          <a:prstGeom prst="rect">
            <a:avLst/>
          </a:prstGeom>
          <a:solidFill>
            <a:srgbClr val="028090"/>
          </a:solidFill>
          <a:ln w="12700">
            <a:solidFill>
              <a:srgbClr val="028090"/>
            </a:solidFill>
            <a:prstDash val="solid"/>
          </a:ln>
        </p:spPr>
        <p:txBody>
          <a:bodyPr/>
          <a:lstStyle/>
          <a:p>
            <a:endParaRPr lang="en-IN"/>
          </a:p>
        </p:txBody>
      </p:sp>
      <p:sp>
        <p:nvSpPr>
          <p:cNvPr id="32" name="Text 30"/>
          <p:cNvSpPr/>
          <p:nvPr/>
        </p:nvSpPr>
        <p:spPr>
          <a:xfrm>
            <a:off x="4791456" y="1197864"/>
            <a:ext cx="4005072" cy="237744"/>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  URL Length Varies by Class</a:t>
            </a:r>
            <a:endParaRPr lang="en-US" sz="1050" dirty="0"/>
          </a:p>
        </p:txBody>
      </p:sp>
      <p:sp>
        <p:nvSpPr>
          <p:cNvPr id="33" name="Text 31"/>
          <p:cNvSpPr/>
          <p:nvPr/>
        </p:nvSpPr>
        <p:spPr>
          <a:xfrm>
            <a:off x="4791456" y="1463040"/>
            <a:ext cx="4005072" cy="493776"/>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Defacement URLs are longest (median 81 chars). Phishing URLs are shortest (median 35 chars). This is a signal the model can use.</a:t>
            </a:r>
            <a:endParaRPr lang="en-US" sz="950" dirty="0"/>
          </a:p>
        </p:txBody>
      </p:sp>
      <p:sp>
        <p:nvSpPr>
          <p:cNvPr id="34" name="Shape 32"/>
          <p:cNvSpPr/>
          <p:nvPr/>
        </p:nvSpPr>
        <p:spPr>
          <a:xfrm>
            <a:off x="4663440" y="2103120"/>
            <a:ext cx="4206240" cy="868680"/>
          </a:xfrm>
          <a:prstGeom prst="rect">
            <a:avLst/>
          </a:prstGeom>
          <a:solidFill>
            <a:srgbClr val="FFFFFF"/>
          </a:solidFill>
          <a:ln w="6350">
            <a:solidFill>
              <a:srgbClr val="D1D5DB"/>
            </a:solidFill>
            <a:prstDash val="solid"/>
          </a:ln>
          <a:effectLst>
            <a:outerShdw blurRad="101600" dist="38100" dir="8100000" algn="bl" rotWithShape="0">
              <a:srgbClr val="000000">
                <a:alpha val="12000"/>
              </a:srgbClr>
            </a:outerShdw>
          </a:effectLst>
        </p:spPr>
        <p:txBody>
          <a:bodyPr/>
          <a:lstStyle/>
          <a:p>
            <a:endParaRPr lang="en-IN"/>
          </a:p>
        </p:txBody>
      </p:sp>
      <p:sp>
        <p:nvSpPr>
          <p:cNvPr id="35" name="Shape 33"/>
          <p:cNvSpPr/>
          <p:nvPr/>
        </p:nvSpPr>
        <p:spPr>
          <a:xfrm>
            <a:off x="4663440" y="2103120"/>
            <a:ext cx="54864" cy="868680"/>
          </a:xfrm>
          <a:prstGeom prst="rect">
            <a:avLst/>
          </a:prstGeom>
          <a:solidFill>
            <a:srgbClr val="028090"/>
          </a:solidFill>
          <a:ln w="12700">
            <a:solidFill>
              <a:srgbClr val="028090"/>
            </a:solidFill>
            <a:prstDash val="solid"/>
          </a:ln>
        </p:spPr>
        <p:txBody>
          <a:bodyPr/>
          <a:lstStyle/>
          <a:p>
            <a:endParaRPr lang="en-IN"/>
          </a:p>
        </p:txBody>
      </p:sp>
      <p:sp>
        <p:nvSpPr>
          <p:cNvPr id="36" name="Text 34"/>
          <p:cNvSpPr/>
          <p:nvPr/>
        </p:nvSpPr>
        <p:spPr>
          <a:xfrm>
            <a:off x="4791456" y="2167128"/>
            <a:ext cx="4005072" cy="237744"/>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  Scheme Usage Differs Sharply</a:t>
            </a:r>
            <a:endParaRPr lang="en-US" sz="1050" dirty="0"/>
          </a:p>
        </p:txBody>
      </p:sp>
      <p:sp>
        <p:nvSpPr>
          <p:cNvPr id="37" name="Text 35"/>
          <p:cNvSpPr/>
          <p:nvPr/>
        </p:nvSpPr>
        <p:spPr>
          <a:xfrm>
            <a:off x="4791456" y="2432304"/>
            <a:ext cx="4005072" cy="493776"/>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100% of defacement URLs include http/https. Only 8% of benign and 26% of phishing URLs do — a strong structural indicator.</a:t>
            </a:r>
            <a:endParaRPr lang="en-US" sz="950" dirty="0"/>
          </a:p>
        </p:txBody>
      </p:sp>
      <p:sp>
        <p:nvSpPr>
          <p:cNvPr id="38" name="Shape 36"/>
          <p:cNvSpPr/>
          <p:nvPr/>
        </p:nvSpPr>
        <p:spPr>
          <a:xfrm>
            <a:off x="4663440" y="3072384"/>
            <a:ext cx="4206240" cy="868680"/>
          </a:xfrm>
          <a:prstGeom prst="rect">
            <a:avLst/>
          </a:prstGeom>
          <a:solidFill>
            <a:srgbClr val="FFFFFF"/>
          </a:solidFill>
          <a:ln w="6350">
            <a:solidFill>
              <a:srgbClr val="D1D5DB"/>
            </a:solidFill>
            <a:prstDash val="solid"/>
          </a:ln>
          <a:effectLst>
            <a:outerShdw blurRad="101600" dist="38100" dir="8100000" algn="bl" rotWithShape="0">
              <a:srgbClr val="000000">
                <a:alpha val="12000"/>
              </a:srgbClr>
            </a:outerShdw>
          </a:effectLst>
        </p:spPr>
        <p:txBody>
          <a:bodyPr/>
          <a:lstStyle/>
          <a:p>
            <a:endParaRPr lang="en-IN"/>
          </a:p>
        </p:txBody>
      </p:sp>
      <p:sp>
        <p:nvSpPr>
          <p:cNvPr id="39" name="Shape 37"/>
          <p:cNvSpPr/>
          <p:nvPr/>
        </p:nvSpPr>
        <p:spPr>
          <a:xfrm>
            <a:off x="4663440" y="3072384"/>
            <a:ext cx="54864" cy="868680"/>
          </a:xfrm>
          <a:prstGeom prst="rect">
            <a:avLst/>
          </a:prstGeom>
          <a:solidFill>
            <a:srgbClr val="028090"/>
          </a:solidFill>
          <a:ln w="12700">
            <a:solidFill>
              <a:srgbClr val="028090"/>
            </a:solidFill>
            <a:prstDash val="solid"/>
          </a:ln>
        </p:spPr>
        <p:txBody>
          <a:bodyPr/>
          <a:lstStyle/>
          <a:p>
            <a:endParaRPr lang="en-IN"/>
          </a:p>
        </p:txBody>
      </p:sp>
      <p:sp>
        <p:nvSpPr>
          <p:cNvPr id="40" name="Text 38"/>
          <p:cNvSpPr/>
          <p:nvPr/>
        </p:nvSpPr>
        <p:spPr>
          <a:xfrm>
            <a:off x="4791456" y="3136392"/>
            <a:ext cx="4005072" cy="237744"/>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  Imbalance Persists After Cleaning</a:t>
            </a:r>
            <a:endParaRPr lang="en-US" sz="1050" dirty="0"/>
          </a:p>
        </p:txBody>
      </p:sp>
      <p:sp>
        <p:nvSpPr>
          <p:cNvPr id="41" name="Text 39"/>
          <p:cNvSpPr/>
          <p:nvPr/>
        </p:nvSpPr>
        <p:spPr>
          <a:xfrm>
            <a:off x="4791456" y="3401568"/>
            <a:ext cx="4005072" cy="493776"/>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Malware shrinks most after de-duplication (32K → 23K raw-to-clean), so it remains the smallest and rarest class.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Features &amp; Workflow: What We Extracted and How We Trained</a:t>
            </a:r>
            <a:endParaRPr lang="en-US" sz="2000" dirty="0"/>
          </a:p>
        </p:txBody>
      </p:sp>
      <p:sp>
        <p:nvSpPr>
          <p:cNvPr id="4" name="Shape 2"/>
          <p:cNvSpPr/>
          <p:nvPr/>
        </p:nvSpPr>
        <p:spPr>
          <a:xfrm>
            <a:off x="0" y="4892040"/>
            <a:ext cx="9144000" cy="251460"/>
          </a:xfrm>
          <a:prstGeom prst="rect">
            <a:avLst/>
          </a:prstGeom>
          <a:solidFill>
            <a:srgbClr val="1B2A41"/>
          </a:solidFill>
          <a:ln w="12700">
            <a:solidFill>
              <a:srgbClr val="1B2A41"/>
            </a:solidFill>
            <a:prstDash val="solid"/>
          </a:ln>
        </p:spPr>
        <p:txBody>
          <a:bodyPr/>
          <a:lstStyle/>
          <a:p>
            <a:endParaRPr lang="en-IN"/>
          </a:p>
        </p:txBody>
      </p:sp>
      <p:sp>
        <p:nvSpPr>
          <p:cNvPr id="5" name="Text 3"/>
          <p:cNvSpPr/>
          <p:nvPr/>
        </p:nvSpPr>
        <p:spPr>
          <a:xfrm>
            <a:off x="274320" y="4892040"/>
            <a:ext cx="8595360" cy="251460"/>
          </a:xfrm>
          <a:prstGeom prst="rect">
            <a:avLst/>
          </a:prstGeom>
          <a:noFill/>
          <a:ln/>
        </p:spPr>
        <p:txBody>
          <a:bodyPr wrap="square" lIns="0" tIns="0" rIns="0" bIns="0" rtlCol="0" anchor="ctr"/>
          <a:lstStyle/>
          <a:p>
            <a:pPr marL="0" indent="0">
              <a:buNone/>
            </a:pPr>
            <a:r>
              <a:rPr lang="en-US" sz="800" dirty="0">
                <a:solidFill>
                  <a:srgbClr val="CADCFC"/>
                </a:solidFill>
                <a:latin typeface="Calibri" pitchFamily="34" charset="0"/>
                <a:ea typeface="Calibri" pitchFamily="34" charset="-122"/>
                <a:cs typeface="Calibri" pitchFamily="34" charset="-120"/>
              </a:rPr>
              <a:t>Malicious URL Detection · Lexical Features Only  |  Feature Engineering · Modelling Setup</a:t>
            </a:r>
            <a:endParaRPr lang="en-US" sz="800" dirty="0"/>
          </a:p>
        </p:txBody>
      </p:sp>
      <p:sp>
        <p:nvSpPr>
          <p:cNvPr id="6" name="Text 4"/>
          <p:cNvSpPr/>
          <p:nvPr/>
        </p:nvSpPr>
        <p:spPr>
          <a:xfrm>
            <a:off x="320040" y="804672"/>
            <a:ext cx="4572000" cy="27432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Lexical Features (URL text only)</a:t>
            </a:r>
            <a:endParaRPr lang="en-US" sz="1200" dirty="0"/>
          </a:p>
        </p:txBody>
      </p:sp>
      <p:sp>
        <p:nvSpPr>
          <p:cNvPr id="7" name="Shape 5"/>
          <p:cNvSpPr/>
          <p:nvPr/>
        </p:nvSpPr>
        <p:spPr>
          <a:xfrm>
            <a:off x="320040" y="1152144"/>
            <a:ext cx="54864" cy="658368"/>
          </a:xfrm>
          <a:prstGeom prst="rect">
            <a:avLst/>
          </a:prstGeom>
          <a:solidFill>
            <a:srgbClr val="028090"/>
          </a:solidFill>
          <a:ln w="12700">
            <a:solidFill>
              <a:srgbClr val="028090"/>
            </a:solidFill>
            <a:prstDash val="solid"/>
          </a:ln>
        </p:spPr>
        <p:txBody>
          <a:bodyPr/>
          <a:lstStyle/>
          <a:p>
            <a:endParaRPr lang="en-IN"/>
          </a:p>
        </p:txBody>
      </p:sp>
      <p:sp>
        <p:nvSpPr>
          <p:cNvPr id="8" name="Text 6"/>
          <p:cNvSpPr/>
          <p:nvPr/>
        </p:nvSpPr>
        <p:spPr>
          <a:xfrm>
            <a:off x="438912" y="1188720"/>
            <a:ext cx="4389120" cy="219456"/>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Length &amp; Structure</a:t>
            </a:r>
            <a:endParaRPr lang="en-US" sz="1000" dirty="0"/>
          </a:p>
        </p:txBody>
      </p:sp>
      <p:sp>
        <p:nvSpPr>
          <p:cNvPr id="9" name="Text 7"/>
          <p:cNvSpPr/>
          <p:nvPr/>
        </p:nvSpPr>
        <p:spPr>
          <a:xfrm>
            <a:off x="438912" y="1426464"/>
            <a:ext cx="4389120" cy="329184"/>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url_length   ·   host_length   ·   path_length   ·   query_length</a:t>
            </a:r>
            <a:endParaRPr lang="en-US" sz="950" dirty="0"/>
          </a:p>
        </p:txBody>
      </p:sp>
      <p:sp>
        <p:nvSpPr>
          <p:cNvPr id="10" name="Shape 8"/>
          <p:cNvSpPr/>
          <p:nvPr/>
        </p:nvSpPr>
        <p:spPr>
          <a:xfrm>
            <a:off x="320040" y="1920240"/>
            <a:ext cx="54864" cy="658368"/>
          </a:xfrm>
          <a:prstGeom prst="rect">
            <a:avLst/>
          </a:prstGeom>
          <a:solidFill>
            <a:srgbClr val="F59E0B"/>
          </a:solidFill>
          <a:ln w="12700">
            <a:solidFill>
              <a:srgbClr val="F59E0B"/>
            </a:solidFill>
            <a:prstDash val="solid"/>
          </a:ln>
        </p:spPr>
        <p:txBody>
          <a:bodyPr/>
          <a:lstStyle/>
          <a:p>
            <a:endParaRPr lang="en-IN"/>
          </a:p>
        </p:txBody>
      </p:sp>
      <p:sp>
        <p:nvSpPr>
          <p:cNvPr id="11" name="Text 9"/>
          <p:cNvSpPr/>
          <p:nvPr/>
        </p:nvSpPr>
        <p:spPr>
          <a:xfrm>
            <a:off x="438912" y="1956816"/>
            <a:ext cx="4389120" cy="219456"/>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Counts &amp; Symbols</a:t>
            </a:r>
            <a:endParaRPr lang="en-US" sz="1000" dirty="0"/>
          </a:p>
        </p:txBody>
      </p:sp>
      <p:sp>
        <p:nvSpPr>
          <p:cNvPr id="12" name="Text 10"/>
          <p:cNvSpPr/>
          <p:nvPr/>
        </p:nvSpPr>
        <p:spPr>
          <a:xfrm>
            <a:off x="438912" y="2194560"/>
            <a:ext cx="4389120" cy="329184"/>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subdomain_count   ·   hyphen_count   ·   has_at_symbol   ·   has_query</a:t>
            </a:r>
            <a:endParaRPr lang="en-US" sz="950" dirty="0"/>
          </a:p>
        </p:txBody>
      </p:sp>
      <p:sp>
        <p:nvSpPr>
          <p:cNvPr id="13" name="Shape 11"/>
          <p:cNvSpPr/>
          <p:nvPr/>
        </p:nvSpPr>
        <p:spPr>
          <a:xfrm>
            <a:off x="320040" y="2688336"/>
            <a:ext cx="54864" cy="658368"/>
          </a:xfrm>
          <a:prstGeom prst="rect">
            <a:avLst/>
          </a:prstGeom>
          <a:solidFill>
            <a:srgbClr val="22C55E"/>
          </a:solidFill>
          <a:ln w="12700">
            <a:solidFill>
              <a:srgbClr val="22C55E"/>
            </a:solidFill>
            <a:prstDash val="solid"/>
          </a:ln>
        </p:spPr>
        <p:txBody>
          <a:bodyPr/>
          <a:lstStyle/>
          <a:p>
            <a:endParaRPr lang="en-IN"/>
          </a:p>
        </p:txBody>
      </p:sp>
      <p:sp>
        <p:nvSpPr>
          <p:cNvPr id="14" name="Text 12"/>
          <p:cNvSpPr/>
          <p:nvPr/>
        </p:nvSpPr>
        <p:spPr>
          <a:xfrm>
            <a:off x="438912" y="2724912"/>
            <a:ext cx="4389120" cy="219456"/>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Presence Indicators</a:t>
            </a:r>
            <a:endParaRPr lang="en-US" sz="1000" dirty="0"/>
          </a:p>
        </p:txBody>
      </p:sp>
      <p:sp>
        <p:nvSpPr>
          <p:cNvPr id="15" name="Text 13"/>
          <p:cNvSpPr/>
          <p:nvPr/>
        </p:nvSpPr>
        <p:spPr>
          <a:xfrm>
            <a:off x="438912" y="2962656"/>
            <a:ext cx="4389120" cy="329184"/>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has_scheme   ·   has_ip_host   ·   has_percent_encoding</a:t>
            </a:r>
            <a:endParaRPr lang="en-US" sz="950" dirty="0"/>
          </a:p>
        </p:txBody>
      </p:sp>
      <p:sp>
        <p:nvSpPr>
          <p:cNvPr id="16" name="Shape 14"/>
          <p:cNvSpPr/>
          <p:nvPr/>
        </p:nvSpPr>
        <p:spPr>
          <a:xfrm>
            <a:off x="320040" y="3456432"/>
            <a:ext cx="54864" cy="658368"/>
          </a:xfrm>
          <a:prstGeom prst="rect">
            <a:avLst/>
          </a:prstGeom>
          <a:solidFill>
            <a:srgbClr val="E63946"/>
          </a:solidFill>
          <a:ln w="12700">
            <a:solidFill>
              <a:srgbClr val="E63946"/>
            </a:solidFill>
            <a:prstDash val="solid"/>
          </a:ln>
        </p:spPr>
        <p:txBody>
          <a:bodyPr/>
          <a:lstStyle/>
          <a:p>
            <a:endParaRPr lang="en-IN"/>
          </a:p>
        </p:txBody>
      </p:sp>
      <p:sp>
        <p:nvSpPr>
          <p:cNvPr id="17" name="Text 15"/>
          <p:cNvSpPr/>
          <p:nvPr/>
        </p:nvSpPr>
        <p:spPr>
          <a:xfrm>
            <a:off x="438912" y="3493008"/>
            <a:ext cx="4389120" cy="219456"/>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Suspicious Tokens (extended set)</a:t>
            </a:r>
            <a:endParaRPr lang="en-US" sz="1000" dirty="0"/>
          </a:p>
        </p:txBody>
      </p:sp>
      <p:sp>
        <p:nvSpPr>
          <p:cNvPr id="18" name="Text 16"/>
          <p:cNvSpPr/>
          <p:nvPr/>
        </p:nvSpPr>
        <p:spPr>
          <a:xfrm>
            <a:off x="438912" y="3730752"/>
            <a:ext cx="4389120" cy="329184"/>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token_verify   ·   token_login   ·   token_account   ·   token_secure</a:t>
            </a:r>
            <a:endParaRPr lang="en-US" sz="950" dirty="0"/>
          </a:p>
        </p:txBody>
      </p:sp>
      <p:sp>
        <p:nvSpPr>
          <p:cNvPr id="19" name="Text 17"/>
          <p:cNvSpPr/>
          <p:nvPr/>
        </p:nvSpPr>
        <p:spPr>
          <a:xfrm>
            <a:off x="5074920" y="804672"/>
            <a:ext cx="3749040" cy="27432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Modelling Workflow</a:t>
            </a:r>
            <a:endParaRPr lang="en-US" sz="1200" dirty="0"/>
          </a:p>
        </p:txBody>
      </p:sp>
      <p:sp>
        <p:nvSpPr>
          <p:cNvPr id="20" name="Shape 18"/>
          <p:cNvSpPr/>
          <p:nvPr/>
        </p:nvSpPr>
        <p:spPr>
          <a:xfrm>
            <a:off x="5074920" y="1143000"/>
            <a:ext cx="3749040" cy="530352"/>
          </a:xfrm>
          <a:prstGeom prst="rect">
            <a:avLst/>
          </a:prstGeom>
          <a:solidFill>
            <a:srgbClr val="FFFFFF"/>
          </a:solidFill>
          <a:ln w="6350">
            <a:solidFill>
              <a:srgbClr val="D1D5DB"/>
            </a:solidFill>
            <a:prstDash val="solid"/>
          </a:ln>
          <a:effectLst>
            <a:outerShdw blurRad="101600" dist="38100" dir="8100000" algn="bl" rotWithShape="0">
              <a:srgbClr val="000000">
                <a:alpha val="12000"/>
              </a:srgbClr>
            </a:outerShdw>
          </a:effectLst>
        </p:spPr>
        <p:txBody>
          <a:bodyPr/>
          <a:lstStyle/>
          <a:p>
            <a:endParaRPr lang="en-IN"/>
          </a:p>
        </p:txBody>
      </p:sp>
      <p:sp>
        <p:nvSpPr>
          <p:cNvPr id="21" name="Shape 19"/>
          <p:cNvSpPr/>
          <p:nvPr/>
        </p:nvSpPr>
        <p:spPr>
          <a:xfrm>
            <a:off x="5074920" y="1143000"/>
            <a:ext cx="54864" cy="530352"/>
          </a:xfrm>
          <a:prstGeom prst="rect">
            <a:avLst/>
          </a:prstGeom>
          <a:solidFill>
            <a:srgbClr val="0D1B2A"/>
          </a:solidFill>
          <a:ln w="12700">
            <a:solidFill>
              <a:srgbClr val="0D1B2A"/>
            </a:solidFill>
            <a:prstDash val="solid"/>
          </a:ln>
        </p:spPr>
        <p:txBody>
          <a:bodyPr/>
          <a:lstStyle/>
          <a:p>
            <a:endParaRPr lang="en-IN"/>
          </a:p>
        </p:txBody>
      </p:sp>
      <p:sp>
        <p:nvSpPr>
          <p:cNvPr id="22" name="Text 20"/>
          <p:cNvSpPr/>
          <p:nvPr/>
        </p:nvSpPr>
        <p:spPr>
          <a:xfrm>
            <a:off x="5212080" y="1179576"/>
            <a:ext cx="3538728" cy="219456"/>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1  640K cleaned URLs</a:t>
            </a:r>
            <a:endParaRPr lang="en-US" sz="1050" dirty="0"/>
          </a:p>
        </p:txBody>
      </p:sp>
      <p:sp>
        <p:nvSpPr>
          <p:cNvPr id="23" name="Text 21"/>
          <p:cNvSpPr/>
          <p:nvPr/>
        </p:nvSpPr>
        <p:spPr>
          <a:xfrm>
            <a:off x="5212080" y="1417320"/>
            <a:ext cx="3538728"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stratified sample → 80K</a:t>
            </a:r>
            <a:endParaRPr lang="en-US" sz="900" dirty="0"/>
          </a:p>
        </p:txBody>
      </p:sp>
      <p:sp>
        <p:nvSpPr>
          <p:cNvPr id="24" name="Shape 22"/>
          <p:cNvSpPr/>
          <p:nvPr/>
        </p:nvSpPr>
        <p:spPr>
          <a:xfrm>
            <a:off x="6922008" y="1673352"/>
            <a:ext cx="0" cy="137160"/>
          </a:xfrm>
          <a:prstGeom prst="line">
            <a:avLst/>
          </a:prstGeom>
          <a:noFill/>
          <a:ln w="19050">
            <a:solidFill>
              <a:srgbClr val="028090"/>
            </a:solidFill>
            <a:prstDash val="solid"/>
          </a:ln>
        </p:spPr>
        <p:txBody>
          <a:bodyPr/>
          <a:lstStyle/>
          <a:p>
            <a:endParaRPr lang="en-IN"/>
          </a:p>
        </p:txBody>
      </p:sp>
      <p:sp>
        <p:nvSpPr>
          <p:cNvPr id="25" name="Shape 23"/>
          <p:cNvSpPr/>
          <p:nvPr/>
        </p:nvSpPr>
        <p:spPr>
          <a:xfrm>
            <a:off x="5074920" y="1810512"/>
            <a:ext cx="3749040" cy="530352"/>
          </a:xfrm>
          <a:prstGeom prst="rect">
            <a:avLst/>
          </a:prstGeom>
          <a:solidFill>
            <a:srgbClr val="FFFFFF"/>
          </a:solidFill>
          <a:ln w="6350">
            <a:solidFill>
              <a:srgbClr val="D1D5DB"/>
            </a:solidFill>
            <a:prstDash val="solid"/>
          </a:ln>
          <a:effectLst>
            <a:outerShdw blurRad="101600" dist="38100" dir="8100000" algn="bl" rotWithShape="0">
              <a:srgbClr val="000000">
                <a:alpha val="12000"/>
              </a:srgbClr>
            </a:outerShdw>
          </a:effectLst>
        </p:spPr>
        <p:txBody>
          <a:bodyPr/>
          <a:lstStyle/>
          <a:p>
            <a:endParaRPr lang="en-IN"/>
          </a:p>
        </p:txBody>
      </p:sp>
      <p:sp>
        <p:nvSpPr>
          <p:cNvPr id="26" name="Shape 24"/>
          <p:cNvSpPr/>
          <p:nvPr/>
        </p:nvSpPr>
        <p:spPr>
          <a:xfrm>
            <a:off x="5074920" y="1810512"/>
            <a:ext cx="54864" cy="530352"/>
          </a:xfrm>
          <a:prstGeom prst="rect">
            <a:avLst/>
          </a:prstGeom>
          <a:solidFill>
            <a:srgbClr val="028090"/>
          </a:solidFill>
          <a:ln w="12700">
            <a:solidFill>
              <a:srgbClr val="028090"/>
            </a:solidFill>
            <a:prstDash val="solid"/>
          </a:ln>
        </p:spPr>
        <p:txBody>
          <a:bodyPr/>
          <a:lstStyle/>
          <a:p>
            <a:endParaRPr lang="en-IN"/>
          </a:p>
        </p:txBody>
      </p:sp>
      <p:sp>
        <p:nvSpPr>
          <p:cNvPr id="27" name="Text 25"/>
          <p:cNvSpPr/>
          <p:nvPr/>
        </p:nvSpPr>
        <p:spPr>
          <a:xfrm>
            <a:off x="5212080" y="1847088"/>
            <a:ext cx="3538728" cy="219456"/>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2  80/20 stratified split</a:t>
            </a:r>
            <a:endParaRPr lang="en-US" sz="1050" dirty="0"/>
          </a:p>
        </p:txBody>
      </p:sp>
      <p:sp>
        <p:nvSpPr>
          <p:cNvPr id="28" name="Text 26"/>
          <p:cNvSpPr/>
          <p:nvPr/>
        </p:nvSpPr>
        <p:spPr>
          <a:xfrm>
            <a:off x="5212080" y="2084832"/>
            <a:ext cx="3538728"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train / held-out test</a:t>
            </a:r>
            <a:endParaRPr lang="en-US" sz="900" dirty="0"/>
          </a:p>
        </p:txBody>
      </p:sp>
      <p:sp>
        <p:nvSpPr>
          <p:cNvPr id="29" name="Shape 27"/>
          <p:cNvSpPr/>
          <p:nvPr/>
        </p:nvSpPr>
        <p:spPr>
          <a:xfrm>
            <a:off x="6922008" y="2340864"/>
            <a:ext cx="0" cy="137160"/>
          </a:xfrm>
          <a:prstGeom prst="line">
            <a:avLst/>
          </a:prstGeom>
          <a:noFill/>
          <a:ln w="19050">
            <a:solidFill>
              <a:srgbClr val="028090"/>
            </a:solidFill>
            <a:prstDash val="solid"/>
          </a:ln>
        </p:spPr>
        <p:txBody>
          <a:bodyPr/>
          <a:lstStyle/>
          <a:p>
            <a:endParaRPr lang="en-IN"/>
          </a:p>
        </p:txBody>
      </p:sp>
      <p:sp>
        <p:nvSpPr>
          <p:cNvPr id="30" name="Shape 28"/>
          <p:cNvSpPr/>
          <p:nvPr/>
        </p:nvSpPr>
        <p:spPr>
          <a:xfrm>
            <a:off x="5074920" y="2478024"/>
            <a:ext cx="3749040" cy="530352"/>
          </a:xfrm>
          <a:prstGeom prst="rect">
            <a:avLst/>
          </a:prstGeom>
          <a:solidFill>
            <a:srgbClr val="FFFFFF"/>
          </a:solidFill>
          <a:ln w="6350">
            <a:solidFill>
              <a:srgbClr val="D1D5DB"/>
            </a:solidFill>
            <a:prstDash val="solid"/>
          </a:ln>
          <a:effectLst>
            <a:outerShdw blurRad="101600" dist="38100" dir="8100000" algn="bl" rotWithShape="0">
              <a:srgbClr val="000000">
                <a:alpha val="12000"/>
              </a:srgbClr>
            </a:outerShdw>
          </a:effectLst>
        </p:spPr>
        <p:txBody>
          <a:bodyPr/>
          <a:lstStyle/>
          <a:p>
            <a:endParaRPr lang="en-IN"/>
          </a:p>
        </p:txBody>
      </p:sp>
      <p:sp>
        <p:nvSpPr>
          <p:cNvPr id="31" name="Shape 29"/>
          <p:cNvSpPr/>
          <p:nvPr/>
        </p:nvSpPr>
        <p:spPr>
          <a:xfrm>
            <a:off x="5074920" y="2478024"/>
            <a:ext cx="54864" cy="530352"/>
          </a:xfrm>
          <a:prstGeom prst="rect">
            <a:avLst/>
          </a:prstGeom>
          <a:solidFill>
            <a:srgbClr val="F59E0B"/>
          </a:solidFill>
          <a:ln w="12700">
            <a:solidFill>
              <a:srgbClr val="F59E0B"/>
            </a:solidFill>
            <a:prstDash val="solid"/>
          </a:ln>
        </p:spPr>
        <p:txBody>
          <a:bodyPr/>
          <a:lstStyle/>
          <a:p>
            <a:endParaRPr lang="en-IN"/>
          </a:p>
        </p:txBody>
      </p:sp>
      <p:sp>
        <p:nvSpPr>
          <p:cNvPr id="32" name="Text 30"/>
          <p:cNvSpPr/>
          <p:nvPr/>
        </p:nvSpPr>
        <p:spPr>
          <a:xfrm>
            <a:off x="5212080" y="2514600"/>
            <a:ext cx="3538728" cy="219456"/>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3  3-fold CV on train</a:t>
            </a:r>
            <a:endParaRPr lang="en-US" sz="1050" dirty="0"/>
          </a:p>
        </p:txBody>
      </p:sp>
      <p:sp>
        <p:nvSpPr>
          <p:cNvPr id="33" name="Text 31"/>
          <p:cNvSpPr/>
          <p:nvPr/>
        </p:nvSpPr>
        <p:spPr>
          <a:xfrm>
            <a:off x="5212080" y="2752344"/>
            <a:ext cx="3538728"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tune C, k, class_weight</a:t>
            </a:r>
            <a:endParaRPr lang="en-US" sz="900" dirty="0"/>
          </a:p>
        </p:txBody>
      </p:sp>
      <p:sp>
        <p:nvSpPr>
          <p:cNvPr id="34" name="Shape 32"/>
          <p:cNvSpPr/>
          <p:nvPr/>
        </p:nvSpPr>
        <p:spPr>
          <a:xfrm>
            <a:off x="6922008" y="3008376"/>
            <a:ext cx="0" cy="137160"/>
          </a:xfrm>
          <a:prstGeom prst="line">
            <a:avLst/>
          </a:prstGeom>
          <a:noFill/>
          <a:ln w="19050">
            <a:solidFill>
              <a:srgbClr val="028090"/>
            </a:solidFill>
            <a:prstDash val="solid"/>
          </a:ln>
        </p:spPr>
        <p:txBody>
          <a:bodyPr/>
          <a:lstStyle/>
          <a:p>
            <a:endParaRPr lang="en-IN"/>
          </a:p>
        </p:txBody>
      </p:sp>
      <p:sp>
        <p:nvSpPr>
          <p:cNvPr id="35" name="Shape 33"/>
          <p:cNvSpPr/>
          <p:nvPr/>
        </p:nvSpPr>
        <p:spPr>
          <a:xfrm>
            <a:off x="5074920" y="3145536"/>
            <a:ext cx="3749040" cy="530352"/>
          </a:xfrm>
          <a:prstGeom prst="rect">
            <a:avLst/>
          </a:prstGeom>
          <a:solidFill>
            <a:srgbClr val="FFFFFF"/>
          </a:solidFill>
          <a:ln w="6350">
            <a:solidFill>
              <a:srgbClr val="D1D5DB"/>
            </a:solidFill>
            <a:prstDash val="solid"/>
          </a:ln>
          <a:effectLst>
            <a:outerShdw blurRad="101600" dist="38100" dir="8100000" algn="bl" rotWithShape="0">
              <a:srgbClr val="000000">
                <a:alpha val="12000"/>
              </a:srgbClr>
            </a:outerShdw>
          </a:effectLst>
        </p:spPr>
        <p:txBody>
          <a:bodyPr/>
          <a:lstStyle/>
          <a:p>
            <a:endParaRPr lang="en-IN"/>
          </a:p>
        </p:txBody>
      </p:sp>
      <p:sp>
        <p:nvSpPr>
          <p:cNvPr id="36" name="Shape 34"/>
          <p:cNvSpPr/>
          <p:nvPr/>
        </p:nvSpPr>
        <p:spPr>
          <a:xfrm>
            <a:off x="5074920" y="3145536"/>
            <a:ext cx="54864" cy="530352"/>
          </a:xfrm>
          <a:prstGeom prst="rect">
            <a:avLst/>
          </a:prstGeom>
          <a:solidFill>
            <a:srgbClr val="22C55E"/>
          </a:solidFill>
          <a:ln w="12700">
            <a:solidFill>
              <a:srgbClr val="22C55E"/>
            </a:solidFill>
            <a:prstDash val="solid"/>
          </a:ln>
        </p:spPr>
        <p:txBody>
          <a:bodyPr/>
          <a:lstStyle/>
          <a:p>
            <a:endParaRPr lang="en-IN"/>
          </a:p>
        </p:txBody>
      </p:sp>
      <p:sp>
        <p:nvSpPr>
          <p:cNvPr id="37" name="Text 35"/>
          <p:cNvSpPr/>
          <p:nvPr/>
        </p:nvSpPr>
        <p:spPr>
          <a:xfrm>
            <a:off x="5212080" y="3182112"/>
            <a:ext cx="3538728" cy="219456"/>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4  Final evaluation</a:t>
            </a:r>
            <a:endParaRPr lang="en-US" sz="1050" dirty="0"/>
          </a:p>
        </p:txBody>
      </p:sp>
      <p:sp>
        <p:nvSpPr>
          <p:cNvPr id="38" name="Text 36"/>
          <p:cNvSpPr/>
          <p:nvPr/>
        </p:nvSpPr>
        <p:spPr>
          <a:xfrm>
            <a:off x="5212080" y="3419856"/>
            <a:ext cx="3538728"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held-out test only</a:t>
            </a:r>
            <a:endParaRPr lang="en-US" sz="900" dirty="0"/>
          </a:p>
        </p:txBody>
      </p:sp>
      <p:sp>
        <p:nvSpPr>
          <p:cNvPr id="39" name="Shape 37"/>
          <p:cNvSpPr/>
          <p:nvPr/>
        </p:nvSpPr>
        <p:spPr>
          <a:xfrm>
            <a:off x="6922008" y="3675888"/>
            <a:ext cx="0" cy="137160"/>
          </a:xfrm>
          <a:prstGeom prst="line">
            <a:avLst/>
          </a:prstGeom>
          <a:noFill/>
          <a:ln w="19050">
            <a:solidFill>
              <a:srgbClr val="028090"/>
            </a:solidFill>
            <a:prstDash val="solid"/>
          </a:ln>
        </p:spPr>
        <p:txBody>
          <a:bodyPr/>
          <a:lstStyle/>
          <a:p>
            <a:endParaRPr lang="en-IN"/>
          </a:p>
        </p:txBody>
      </p:sp>
      <p:sp>
        <p:nvSpPr>
          <p:cNvPr id="40" name="Shape 38"/>
          <p:cNvSpPr/>
          <p:nvPr/>
        </p:nvSpPr>
        <p:spPr>
          <a:xfrm>
            <a:off x="5074920" y="3813048"/>
            <a:ext cx="3749040" cy="530352"/>
          </a:xfrm>
          <a:prstGeom prst="rect">
            <a:avLst/>
          </a:prstGeom>
          <a:solidFill>
            <a:srgbClr val="FFFFFF"/>
          </a:solidFill>
          <a:ln w="6350">
            <a:solidFill>
              <a:srgbClr val="D1D5DB"/>
            </a:solidFill>
            <a:prstDash val="solid"/>
          </a:ln>
          <a:effectLst>
            <a:outerShdw blurRad="101600" dist="38100" dir="8100000" algn="bl" rotWithShape="0">
              <a:srgbClr val="000000">
                <a:alpha val="12000"/>
              </a:srgbClr>
            </a:outerShdw>
          </a:effectLst>
        </p:spPr>
        <p:txBody>
          <a:bodyPr/>
          <a:lstStyle/>
          <a:p>
            <a:endParaRPr lang="en-IN"/>
          </a:p>
        </p:txBody>
      </p:sp>
      <p:sp>
        <p:nvSpPr>
          <p:cNvPr id="41" name="Shape 39"/>
          <p:cNvSpPr/>
          <p:nvPr/>
        </p:nvSpPr>
        <p:spPr>
          <a:xfrm>
            <a:off x="5074920" y="3813048"/>
            <a:ext cx="54864" cy="530352"/>
          </a:xfrm>
          <a:prstGeom prst="rect">
            <a:avLst/>
          </a:prstGeom>
          <a:solidFill>
            <a:srgbClr val="7C3AED"/>
          </a:solidFill>
          <a:ln w="12700">
            <a:solidFill>
              <a:srgbClr val="7C3AED"/>
            </a:solidFill>
            <a:prstDash val="solid"/>
          </a:ln>
        </p:spPr>
        <p:txBody>
          <a:bodyPr/>
          <a:lstStyle/>
          <a:p>
            <a:endParaRPr lang="en-IN"/>
          </a:p>
        </p:txBody>
      </p:sp>
      <p:sp>
        <p:nvSpPr>
          <p:cNvPr id="42" name="Text 40"/>
          <p:cNvSpPr/>
          <p:nvPr/>
        </p:nvSpPr>
        <p:spPr>
          <a:xfrm>
            <a:off x="5212080" y="3849624"/>
            <a:ext cx="3538728" cy="219456"/>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5  Report metrics</a:t>
            </a:r>
            <a:endParaRPr lang="en-US" sz="1050" dirty="0"/>
          </a:p>
        </p:txBody>
      </p:sp>
      <p:sp>
        <p:nvSpPr>
          <p:cNvPr id="43" name="Text 41"/>
          <p:cNvSpPr/>
          <p:nvPr/>
        </p:nvSpPr>
        <p:spPr>
          <a:xfrm>
            <a:off x="5212080" y="4087368"/>
            <a:ext cx="3538728"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balanced acc · macro F1 · per-class</a:t>
            </a:r>
            <a:endParaRPr lang="en-US" sz="900" dirty="0"/>
          </a:p>
        </p:txBody>
      </p:sp>
      <p:sp>
        <p:nvSpPr>
          <p:cNvPr id="45" name="Text 43"/>
          <p:cNvSpPr/>
          <p:nvPr/>
        </p:nvSpPr>
        <p:spPr>
          <a:xfrm>
            <a:off x="457200" y="4334256"/>
            <a:ext cx="8229600" cy="374904"/>
          </a:xfrm>
          <a:prstGeom prst="rect">
            <a:avLst/>
          </a:prstGeom>
          <a:noFill/>
          <a:ln/>
        </p:spPr>
        <p:txBody>
          <a:bodyPr wrap="square" rtlCol="0" anchor="ctr"/>
          <a:lstStyle/>
          <a:p>
            <a:pPr marL="0" indent="0">
              <a:buNone/>
            </a:pP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Feature Definitions: What Each Feature Measures</a:t>
            </a:r>
          </a:p>
        </p:txBody>
      </p:sp>
      <p:sp>
        <p:nvSpPr>
          <p:cNvPr id="4" name="Shape 2"/>
          <p:cNvSpPr/>
          <p:nvPr/>
        </p:nvSpPr>
        <p:spPr>
          <a:xfrm>
            <a:off x="0" y="4892040"/>
            <a:ext cx="9144000" cy="251460"/>
          </a:xfrm>
          <a:prstGeom prst="rect">
            <a:avLst/>
          </a:prstGeom>
          <a:solidFill>
            <a:srgbClr val="1B2A41"/>
          </a:solidFill>
          <a:ln w="12700">
            <a:solidFill>
              <a:srgbClr val="1B2A41"/>
            </a:solidFill>
            <a:prstDash val="solid"/>
          </a:ln>
        </p:spPr>
        <p:txBody>
          <a:bodyPr/>
          <a:lstStyle/>
          <a:p>
            <a:endParaRPr lang="en-IN"/>
          </a:p>
        </p:txBody>
      </p:sp>
      <p:sp>
        <p:nvSpPr>
          <p:cNvPr id="5" name="Text 3"/>
          <p:cNvSpPr/>
          <p:nvPr/>
        </p:nvSpPr>
        <p:spPr>
          <a:xfrm>
            <a:off x="274320" y="4892040"/>
            <a:ext cx="8595360" cy="251460"/>
          </a:xfrm>
          <a:prstGeom prst="rect">
            <a:avLst/>
          </a:prstGeom>
          <a:noFill/>
          <a:ln/>
        </p:spPr>
        <p:txBody>
          <a:bodyPr wrap="square" lIns="0" tIns="0" rIns="0" bIns="0" rtlCol="0" anchor="ctr"/>
          <a:lstStyle/>
          <a:p>
            <a:pPr marL="0" indent="0">
              <a:buNone/>
            </a:pPr>
            <a:r>
              <a:rPr lang="en-US" sz="800" dirty="0">
                <a:solidFill>
                  <a:srgbClr val="CADCFC"/>
                </a:solidFill>
                <a:latin typeface="Calibri" pitchFamily="34" charset="0"/>
                <a:ea typeface="Calibri" pitchFamily="34" charset="-122"/>
                <a:cs typeface="Calibri" pitchFamily="34" charset="-120"/>
              </a:rPr>
              <a:t>Malicious URL Detection · Lexical Features Only  |  Feature Engineering · Feature Definitions</a:t>
            </a:r>
          </a:p>
        </p:txBody>
      </p:sp>
      <p:sp>
        <p:nvSpPr>
          <p:cNvPr id="6" name="Shape LS Bar"/>
          <p:cNvSpPr/>
          <p:nvPr/>
        </p:nvSpPr>
        <p:spPr>
          <a:xfrm>
            <a:off x="320040" y="730000"/>
            <a:ext cx="54864" cy="1870000"/>
          </a:xfrm>
          <a:prstGeom prst="rect">
            <a:avLst/>
          </a:prstGeom>
          <a:solidFill>
            <a:srgbClr val="028090"/>
          </a:solidFill>
          <a:ln w="12700">
            <a:solidFill>
              <a:srgbClr val="028090"/>
            </a:solidFill>
            <a:prstDash val="solid"/>
          </a:ln>
        </p:spPr>
        <p:txBody>
          <a:bodyPr/>
          <a:lstStyle/>
          <a:p>
            <a:endParaRPr lang="en-IN"/>
          </a:p>
        </p:txBody>
      </p:sp>
      <p:sp>
        <p:nvSpPr>
          <p:cNvPr id="7" name="Text LS Header"/>
          <p:cNvSpPr/>
          <p:nvPr/>
        </p:nvSpPr>
        <p:spPr>
          <a:xfrm>
            <a:off x="438912" y="730000"/>
            <a:ext cx="4389120" cy="240000"/>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Length &amp; Structure</a:t>
            </a:r>
          </a:p>
        </p:txBody>
      </p:sp>
      <p:sp>
        <p:nvSpPr>
          <p:cNvPr id="8" name="Text url_length"/>
          <p:cNvSpPr/>
          <p:nvPr/>
        </p:nvSpPr>
        <p:spPr>
          <a:xfrm>
            <a:off x="438912" y="990000"/>
            <a:ext cx="4389120" cy="390000"/>
          </a:xfrm>
          <a:prstGeom prst="rect">
            <a:avLst/>
          </a:prstGeom>
          <a:noFill/>
          <a:ln/>
        </p:spPr>
        <p:txBody>
          <a:bodyPr wrap="square" lIns="0" tIns="0" rIns="0" bIns="0" rtlCol="0" anchor="t"/>
          <a:lstStyle/>
          <a:p>
            <a:pPr marL="0" indent="0">
              <a:buNone/>
            </a:pPr>
            <a:r>
              <a:rPr lang="en-US" sz="950" b="1" dirty="0">
                <a:solidFill>
                  <a:srgbClr val="028090"/>
                </a:solidFill>
                <a:latin typeface="Calibri" pitchFamily="34" charset="0"/>
              </a:rPr>
              <a:t>url_length</a:t>
            </a:r>
            <a:r>
              <a:rPr lang="en-US" sz="950" dirty="0">
                <a:solidFill>
                  <a:srgbClr val="374151"/>
                </a:solidFill>
                <a:latin typeface="Calibri" pitchFamily="34" charset="0"/>
              </a:rPr>
              <a:t> — total characters in the full URL (e.g. http://abc.com/login is longer than abc.com).</a:t>
            </a:r>
          </a:p>
        </p:txBody>
      </p:sp>
      <p:sp>
        <p:nvSpPr>
          <p:cNvPr id="9" name="Text host_length"/>
          <p:cNvSpPr/>
          <p:nvPr/>
        </p:nvSpPr>
        <p:spPr>
          <a:xfrm>
            <a:off x="438912" y="1390000"/>
            <a:ext cx="4389120" cy="390000"/>
          </a:xfrm>
          <a:prstGeom prst="rect">
            <a:avLst/>
          </a:prstGeom>
          <a:noFill/>
          <a:ln/>
        </p:spPr>
        <p:txBody>
          <a:bodyPr wrap="square" lIns="0" tIns="0" rIns="0" bIns="0" rtlCol="0" anchor="t"/>
          <a:lstStyle/>
          <a:p>
            <a:pPr marL="0" indent="0">
              <a:buNone/>
            </a:pPr>
            <a:r>
              <a:rPr lang="en-US" sz="950" b="1" dirty="0">
                <a:solidFill>
                  <a:srgbClr val="028090"/>
                </a:solidFill>
                <a:latin typeface="Calibri" pitchFamily="34" charset="0"/>
              </a:rPr>
              <a:t>host_length</a:t>
            </a:r>
            <a:r>
              <a:rPr lang="en-US" sz="950" dirty="0">
                <a:solidFill>
                  <a:srgbClr val="374151"/>
                </a:solidFill>
                <a:latin typeface="Calibri" pitchFamily="34" charset="0"/>
              </a:rPr>
              <a:t> — characters in the domain/host (e.g. secure-paypal-login.com is longer than google.com).</a:t>
            </a:r>
          </a:p>
        </p:txBody>
      </p:sp>
      <p:sp>
        <p:nvSpPr>
          <p:cNvPr id="10" name="Text path_length"/>
          <p:cNvSpPr/>
          <p:nvPr/>
        </p:nvSpPr>
        <p:spPr>
          <a:xfrm>
            <a:off x="438912" y="1790000"/>
            <a:ext cx="4389120" cy="390000"/>
          </a:xfrm>
          <a:prstGeom prst="rect">
            <a:avLst/>
          </a:prstGeom>
          <a:noFill/>
          <a:ln/>
        </p:spPr>
        <p:txBody>
          <a:bodyPr wrap="square" lIns="0" tIns="0" rIns="0" bIns="0" rtlCol="0" anchor="t"/>
          <a:lstStyle/>
          <a:p>
            <a:pPr marL="0" indent="0">
              <a:buNone/>
            </a:pPr>
            <a:r>
              <a:rPr lang="en-US" sz="950" b="1" dirty="0">
                <a:solidFill>
                  <a:srgbClr val="028090"/>
                </a:solidFill>
                <a:latin typeface="Calibri" pitchFamily="34" charset="0"/>
              </a:rPr>
              <a:t>path_length</a:t>
            </a:r>
            <a:r>
              <a:rPr lang="en-US" sz="950" dirty="0">
                <a:solidFill>
                  <a:srgbClr val="374151"/>
                </a:solidFill>
                <a:latin typeface="Calibri" pitchFamily="34" charset="0"/>
              </a:rPr>
              <a:t> — characters in the path after the domain (e.g. /account/verify/update is a long path).</a:t>
            </a:r>
          </a:p>
        </p:txBody>
      </p:sp>
      <p:sp>
        <p:nvSpPr>
          <p:cNvPr id="11" name="Text query_length"/>
          <p:cNvSpPr/>
          <p:nvPr/>
        </p:nvSpPr>
        <p:spPr>
          <a:xfrm>
            <a:off x="438912" y="2190000"/>
            <a:ext cx="4389120" cy="400000"/>
          </a:xfrm>
          <a:prstGeom prst="rect">
            <a:avLst/>
          </a:prstGeom>
          <a:noFill/>
          <a:ln/>
        </p:spPr>
        <p:txBody>
          <a:bodyPr wrap="square" lIns="0" tIns="0" rIns="0" bIns="0" rtlCol="0" anchor="t"/>
          <a:lstStyle/>
          <a:p>
            <a:pPr marL="0" indent="0">
              <a:buNone/>
            </a:pPr>
            <a:r>
              <a:rPr lang="en-US" sz="950" b="1" dirty="0">
                <a:solidFill>
                  <a:srgbClr val="028090"/>
                </a:solidFill>
                <a:latin typeface="Calibri" pitchFamily="34" charset="0"/>
              </a:rPr>
              <a:t>query_length</a:t>
            </a:r>
            <a:r>
              <a:rPr lang="en-US" sz="950" dirty="0">
                <a:solidFill>
                  <a:srgbClr val="374151"/>
                </a:solidFill>
                <a:latin typeface="Calibri" pitchFamily="34" charset="0"/>
              </a:rPr>
              <a:t> — characters in the query string after ? (e.g. in site.com/page?id=123&amp;user=abc, the part after ? is the query).</a:t>
            </a:r>
          </a:p>
        </p:txBody>
      </p:sp>
      <p:sp>
        <p:nvSpPr>
          <p:cNvPr id="12" name="Shape CS Bar"/>
          <p:cNvSpPr/>
          <p:nvPr/>
        </p:nvSpPr>
        <p:spPr>
          <a:xfrm>
            <a:off x="320040" y="2710000"/>
            <a:ext cx="54864" cy="1870000"/>
          </a:xfrm>
          <a:prstGeom prst="rect">
            <a:avLst/>
          </a:prstGeom>
          <a:solidFill>
            <a:srgbClr val="F59E0B"/>
          </a:solidFill>
          <a:ln w="12700">
            <a:solidFill>
              <a:srgbClr val="F59E0B"/>
            </a:solidFill>
            <a:prstDash val="solid"/>
          </a:ln>
        </p:spPr>
        <p:txBody>
          <a:bodyPr/>
          <a:lstStyle/>
          <a:p>
            <a:endParaRPr lang="en-IN"/>
          </a:p>
        </p:txBody>
      </p:sp>
      <p:sp>
        <p:nvSpPr>
          <p:cNvPr id="13" name="Text CS Header"/>
          <p:cNvSpPr/>
          <p:nvPr/>
        </p:nvSpPr>
        <p:spPr>
          <a:xfrm>
            <a:off x="438912" y="2710000"/>
            <a:ext cx="4389120" cy="240000"/>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Counts &amp; Symbols</a:t>
            </a:r>
          </a:p>
        </p:txBody>
      </p:sp>
      <p:sp>
        <p:nvSpPr>
          <p:cNvPr id="14" name="Text subdomain_count"/>
          <p:cNvSpPr/>
          <p:nvPr/>
        </p:nvSpPr>
        <p:spPr>
          <a:xfrm>
            <a:off x="438912" y="2970000"/>
            <a:ext cx="4389120" cy="390000"/>
          </a:xfrm>
          <a:prstGeom prst="rect">
            <a:avLst/>
          </a:prstGeom>
          <a:noFill/>
          <a:ln/>
        </p:spPr>
        <p:txBody>
          <a:bodyPr wrap="square" lIns="0" tIns="0" rIns="0" bIns="0" rtlCol="0" anchor="t"/>
          <a:lstStyle/>
          <a:p>
            <a:pPr marL="0" indent="0">
              <a:buNone/>
            </a:pPr>
            <a:r>
              <a:rPr lang="en-US" sz="950" b="1" dirty="0">
                <a:solidFill>
                  <a:srgbClr val="F59E0B"/>
                </a:solidFill>
                <a:latin typeface="Calibri" pitchFamily="34" charset="0"/>
              </a:rPr>
              <a:t>subdomain_count</a:t>
            </a:r>
            <a:r>
              <a:rPr lang="en-US" sz="950" dirty="0">
                <a:solidFill>
                  <a:srgbClr val="374151"/>
                </a:solidFill>
                <a:latin typeface="Calibri" pitchFamily="34" charset="0"/>
              </a:rPr>
              <a:t> — subdomain levels before the main domain (e.g. mail.login.bank.com has more than bank.com).</a:t>
            </a:r>
          </a:p>
        </p:txBody>
      </p:sp>
      <p:sp>
        <p:nvSpPr>
          <p:cNvPr id="15" name="Text hyphen_count"/>
          <p:cNvSpPr/>
          <p:nvPr/>
        </p:nvSpPr>
        <p:spPr>
          <a:xfrm>
            <a:off x="438912" y="3370000"/>
            <a:ext cx="4389120" cy="390000"/>
          </a:xfrm>
          <a:prstGeom prst="rect">
            <a:avLst/>
          </a:prstGeom>
          <a:noFill/>
          <a:ln/>
        </p:spPr>
        <p:txBody>
          <a:bodyPr wrap="square" lIns="0" tIns="0" rIns="0" bIns="0" rtlCol="0" anchor="t"/>
          <a:lstStyle/>
          <a:p>
            <a:pPr marL="0" indent="0">
              <a:buNone/>
            </a:pPr>
            <a:r>
              <a:rPr lang="en-US" sz="950" b="1" dirty="0">
                <a:solidFill>
                  <a:srgbClr val="F59E0B"/>
                </a:solidFill>
                <a:latin typeface="Calibri" pitchFamily="34" charset="0"/>
              </a:rPr>
              <a:t>hyphen_count</a:t>
            </a:r>
            <a:r>
              <a:rPr lang="en-US" sz="950" dirty="0">
                <a:solidFill>
                  <a:srgbClr val="374151"/>
                </a:solidFill>
                <a:latin typeface="Calibri" pitchFamily="34" charset="0"/>
              </a:rPr>
              <a:t> — number of hyphens in the URL (e.g. free-login-secure-site.com has many hyphens).</a:t>
            </a:r>
          </a:p>
        </p:txBody>
      </p:sp>
      <p:sp>
        <p:nvSpPr>
          <p:cNvPr id="16" name="Text has_at_symbol"/>
          <p:cNvSpPr/>
          <p:nvPr/>
        </p:nvSpPr>
        <p:spPr>
          <a:xfrm>
            <a:off x="438912" y="3770000"/>
            <a:ext cx="4389120" cy="390000"/>
          </a:xfrm>
          <a:prstGeom prst="rect">
            <a:avLst/>
          </a:prstGeom>
          <a:noFill/>
          <a:ln/>
        </p:spPr>
        <p:txBody>
          <a:bodyPr wrap="square" lIns="0" tIns="0" rIns="0" bIns="0" rtlCol="0" anchor="t"/>
          <a:lstStyle/>
          <a:p>
            <a:pPr marL="0" indent="0">
              <a:buNone/>
            </a:pPr>
            <a:r>
              <a:rPr lang="en-US" sz="950" b="1" dirty="0">
                <a:solidFill>
                  <a:srgbClr val="F59E0B"/>
                </a:solidFill>
                <a:latin typeface="Calibri" pitchFamily="34" charset="0"/>
              </a:rPr>
              <a:t>has_at_symbol</a:t>
            </a:r>
            <a:r>
              <a:rPr lang="en-US" sz="950" dirty="0">
                <a:solidFill>
                  <a:srgbClr val="374151"/>
                </a:solidFill>
                <a:latin typeface="Calibri" pitchFamily="34" charset="0"/>
              </a:rPr>
              <a:t> — whether the URL contains @, which attackers can use to disguise the real destination.</a:t>
            </a:r>
          </a:p>
        </p:txBody>
      </p:sp>
      <p:sp>
        <p:nvSpPr>
          <p:cNvPr id="17" name="Text has_query"/>
          <p:cNvSpPr/>
          <p:nvPr/>
        </p:nvSpPr>
        <p:spPr>
          <a:xfrm>
            <a:off x="438912" y="4170000"/>
            <a:ext cx="4389120" cy="390000"/>
          </a:xfrm>
          <a:prstGeom prst="rect">
            <a:avLst/>
          </a:prstGeom>
          <a:noFill/>
          <a:ln/>
        </p:spPr>
        <p:txBody>
          <a:bodyPr wrap="square" lIns="0" tIns="0" rIns="0" bIns="0" rtlCol="0" anchor="t"/>
          <a:lstStyle/>
          <a:p>
            <a:pPr marL="0" indent="0">
              <a:buNone/>
            </a:pPr>
            <a:r>
              <a:rPr lang="en-US" sz="950" b="1" dirty="0">
                <a:solidFill>
                  <a:srgbClr val="F59E0B"/>
                </a:solidFill>
                <a:latin typeface="Calibri" pitchFamily="34" charset="0"/>
              </a:rPr>
              <a:t>has_query</a:t>
            </a:r>
            <a:r>
              <a:rPr lang="en-US" sz="950" dirty="0">
                <a:solidFill>
                  <a:srgbClr val="374151"/>
                </a:solidFill>
                <a:latin typeface="Calibri" pitchFamily="34" charset="0"/>
              </a:rPr>
              <a:t> — whether the URL contains a query string, meaning a ? followed by parameters.</a:t>
            </a:r>
          </a:p>
        </p:txBody>
      </p:sp>
      <p:sp>
        <p:nvSpPr>
          <p:cNvPr id="18" name="Shape PI Bar"/>
          <p:cNvSpPr/>
          <p:nvPr/>
        </p:nvSpPr>
        <p:spPr>
          <a:xfrm>
            <a:off x="5074920" y="730000"/>
            <a:ext cx="54864" cy="1590000"/>
          </a:xfrm>
          <a:prstGeom prst="rect">
            <a:avLst/>
          </a:prstGeom>
          <a:solidFill>
            <a:srgbClr val="22C55E"/>
          </a:solidFill>
          <a:ln w="12700">
            <a:solidFill>
              <a:srgbClr val="22C55E"/>
            </a:solidFill>
            <a:prstDash val="solid"/>
          </a:ln>
        </p:spPr>
        <p:txBody>
          <a:bodyPr/>
          <a:lstStyle/>
          <a:p>
            <a:endParaRPr lang="en-IN"/>
          </a:p>
        </p:txBody>
      </p:sp>
      <p:sp>
        <p:nvSpPr>
          <p:cNvPr id="19" name="Text PI Header"/>
          <p:cNvSpPr/>
          <p:nvPr/>
        </p:nvSpPr>
        <p:spPr>
          <a:xfrm>
            <a:off x="5212080" y="730000"/>
            <a:ext cx="3538728" cy="240000"/>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Presence Indicators</a:t>
            </a:r>
          </a:p>
        </p:txBody>
      </p:sp>
      <p:sp>
        <p:nvSpPr>
          <p:cNvPr id="20" name="Text has_scheme"/>
          <p:cNvSpPr/>
          <p:nvPr/>
        </p:nvSpPr>
        <p:spPr>
          <a:xfrm>
            <a:off x="5212080" y="990000"/>
            <a:ext cx="3538728" cy="390000"/>
          </a:xfrm>
          <a:prstGeom prst="rect">
            <a:avLst/>
          </a:prstGeom>
          <a:noFill/>
          <a:ln/>
        </p:spPr>
        <p:txBody>
          <a:bodyPr wrap="square" lIns="0" tIns="0" rIns="0" bIns="0" rtlCol="0" anchor="t"/>
          <a:lstStyle/>
          <a:p>
            <a:pPr marL="0" indent="0">
              <a:buNone/>
            </a:pPr>
            <a:r>
              <a:rPr lang="en-US" sz="950" b="1" dirty="0">
                <a:solidFill>
                  <a:srgbClr val="22C55E"/>
                </a:solidFill>
                <a:latin typeface="Calibri" pitchFamily="34" charset="0"/>
              </a:rPr>
              <a:t>has_scheme</a:t>
            </a:r>
            <a:r>
              <a:rPr lang="en-US" sz="950" dirty="0">
                <a:solidFill>
                  <a:srgbClr val="374151"/>
                </a:solidFill>
                <a:latin typeface="Calibri" pitchFamily="34" charset="0"/>
              </a:rPr>
              <a:t> — whether the URL includes a scheme like http:// or https://.</a:t>
            </a:r>
          </a:p>
        </p:txBody>
      </p:sp>
      <p:sp>
        <p:nvSpPr>
          <p:cNvPr id="21" name="Text has_ip_host"/>
          <p:cNvSpPr/>
          <p:nvPr/>
        </p:nvSpPr>
        <p:spPr>
          <a:xfrm>
            <a:off x="5212080" y="1390000"/>
            <a:ext cx="3538728" cy="390000"/>
          </a:xfrm>
          <a:prstGeom prst="rect">
            <a:avLst/>
          </a:prstGeom>
          <a:noFill/>
          <a:ln/>
        </p:spPr>
        <p:txBody>
          <a:bodyPr wrap="square" lIns="0" tIns="0" rIns="0" bIns="0" rtlCol="0" anchor="t"/>
          <a:lstStyle/>
          <a:p>
            <a:pPr marL="0" indent="0">
              <a:buNone/>
            </a:pPr>
            <a:r>
              <a:rPr lang="en-US" sz="950" b="1" dirty="0">
                <a:solidFill>
                  <a:srgbClr val="22C55E"/>
                </a:solidFill>
                <a:latin typeface="Calibri" pitchFamily="34" charset="0"/>
              </a:rPr>
              <a:t>has_ip_host</a:t>
            </a:r>
            <a:r>
              <a:rPr lang="en-US" sz="950" dirty="0">
                <a:solidFill>
                  <a:srgbClr val="374151"/>
                </a:solidFill>
                <a:latin typeface="Calibri" pitchFamily="34" charset="0"/>
              </a:rPr>
              <a:t> — host is a raw IP address (e.g. 192.168.1.1) rather than a normal domain name.</a:t>
            </a:r>
          </a:p>
        </p:txBody>
      </p:sp>
      <p:sp>
        <p:nvSpPr>
          <p:cNvPr id="22" name="Text has_percent_encoding"/>
          <p:cNvSpPr/>
          <p:nvPr/>
        </p:nvSpPr>
        <p:spPr>
          <a:xfrm>
            <a:off x="5212080" y="1790000"/>
            <a:ext cx="3538728" cy="430000"/>
          </a:xfrm>
          <a:prstGeom prst="rect">
            <a:avLst/>
          </a:prstGeom>
          <a:noFill/>
          <a:ln/>
        </p:spPr>
        <p:txBody>
          <a:bodyPr wrap="square" lIns="0" tIns="0" rIns="0" bIns="0" rtlCol="0" anchor="t"/>
          <a:lstStyle/>
          <a:p>
            <a:pPr marL="0" indent="0">
              <a:buNone/>
            </a:pPr>
            <a:r>
              <a:rPr lang="en-US" sz="950" b="1" dirty="0">
                <a:solidFill>
                  <a:srgbClr val="22C55E"/>
                </a:solidFill>
                <a:latin typeface="Calibri" pitchFamily="34" charset="0"/>
              </a:rPr>
              <a:t>has_percent_encoding</a:t>
            </a:r>
            <a:r>
              <a:rPr lang="en-US" sz="950" dirty="0">
                <a:solidFill>
                  <a:srgbClr val="374151"/>
                </a:solidFill>
                <a:latin typeface="Calibri" pitchFamily="34" charset="0"/>
              </a:rPr>
              <a:t> — URL contains encoded characters like %20 for space or %2F for slash.</a:t>
            </a:r>
          </a:p>
        </p:txBody>
      </p:sp>
      <p:sp>
        <p:nvSpPr>
          <p:cNvPr id="23" name="Shape ST Bar"/>
          <p:cNvSpPr/>
          <p:nvPr/>
        </p:nvSpPr>
        <p:spPr>
          <a:xfrm>
            <a:off x="5074920" y="2460000"/>
            <a:ext cx="54864" cy="1880000"/>
          </a:xfrm>
          <a:prstGeom prst="rect">
            <a:avLst/>
          </a:prstGeom>
          <a:solidFill>
            <a:srgbClr val="E63946"/>
          </a:solidFill>
          <a:ln w="12700">
            <a:solidFill>
              <a:srgbClr val="E63946"/>
            </a:solidFill>
            <a:prstDash val="solid"/>
          </a:ln>
        </p:spPr>
        <p:txBody>
          <a:bodyPr/>
          <a:lstStyle/>
          <a:p>
            <a:endParaRPr lang="en-IN"/>
          </a:p>
        </p:txBody>
      </p:sp>
      <p:sp>
        <p:nvSpPr>
          <p:cNvPr id="24" name="Text ST Header"/>
          <p:cNvSpPr/>
          <p:nvPr/>
        </p:nvSpPr>
        <p:spPr>
          <a:xfrm>
            <a:off x="5212080" y="2460000"/>
            <a:ext cx="3538728" cy="240000"/>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Suspicious Tokens</a:t>
            </a:r>
          </a:p>
        </p:txBody>
      </p:sp>
      <p:sp>
        <p:nvSpPr>
          <p:cNvPr id="25" name="Text token_verify"/>
          <p:cNvSpPr/>
          <p:nvPr/>
        </p:nvSpPr>
        <p:spPr>
          <a:xfrm>
            <a:off x="5212080" y="2720000"/>
            <a:ext cx="3538728" cy="390000"/>
          </a:xfrm>
          <a:prstGeom prst="rect">
            <a:avLst/>
          </a:prstGeom>
          <a:noFill/>
          <a:ln/>
        </p:spPr>
        <p:txBody>
          <a:bodyPr wrap="square" lIns="0" tIns="0" rIns="0" bIns="0" rtlCol="0" anchor="t"/>
          <a:lstStyle/>
          <a:p>
            <a:pPr marL="0" indent="0">
              <a:buNone/>
            </a:pPr>
            <a:r>
              <a:rPr lang="en-US" sz="950" b="1" dirty="0">
                <a:solidFill>
                  <a:srgbClr val="E63946"/>
                </a:solidFill>
                <a:latin typeface="Calibri" pitchFamily="34" charset="0"/>
              </a:rPr>
              <a:t>token_verify</a:t>
            </a:r>
            <a:r>
              <a:rPr lang="en-US" sz="950" dirty="0">
                <a:solidFill>
                  <a:srgbClr val="374151"/>
                </a:solidFill>
                <a:latin typeface="Calibri" pitchFamily="34" charset="0"/>
              </a:rPr>
              <a:t> — whether verify appears in the URL, common in phishing links to appear legitimate.</a:t>
            </a:r>
          </a:p>
        </p:txBody>
      </p:sp>
      <p:sp>
        <p:nvSpPr>
          <p:cNvPr id="26" name="Text token_login"/>
          <p:cNvSpPr/>
          <p:nvPr/>
        </p:nvSpPr>
        <p:spPr>
          <a:xfrm>
            <a:off x="5212080" y="3120000"/>
            <a:ext cx="3538728" cy="390000"/>
          </a:xfrm>
          <a:prstGeom prst="rect">
            <a:avLst/>
          </a:prstGeom>
          <a:noFill/>
          <a:ln/>
        </p:spPr>
        <p:txBody>
          <a:bodyPr wrap="square" lIns="0" tIns="0" rIns="0" bIns="0" rtlCol="0" anchor="t"/>
          <a:lstStyle/>
          <a:p>
            <a:pPr marL="0" indent="0">
              <a:buNone/>
            </a:pPr>
            <a:r>
              <a:rPr lang="en-US" sz="950" b="1" dirty="0">
                <a:solidFill>
                  <a:srgbClr val="E63946"/>
                </a:solidFill>
                <a:latin typeface="Calibri" pitchFamily="34" charset="0"/>
              </a:rPr>
              <a:t>token_login</a:t>
            </a:r>
            <a:r>
              <a:rPr lang="en-US" sz="950" dirty="0">
                <a:solidFill>
                  <a:srgbClr val="374151"/>
                </a:solidFill>
                <a:latin typeface="Calibri" pitchFamily="34" charset="0"/>
              </a:rPr>
              <a:t> — whether login appears in the URL; attackers build login-lookalike pages to harvest credentials.</a:t>
            </a:r>
          </a:p>
        </p:txBody>
      </p:sp>
      <p:sp>
        <p:nvSpPr>
          <p:cNvPr id="27" name="Text token_account"/>
          <p:cNvSpPr/>
          <p:nvPr/>
        </p:nvSpPr>
        <p:spPr>
          <a:xfrm>
            <a:off x="5212080" y="3520000"/>
            <a:ext cx="3538728" cy="390000"/>
          </a:xfrm>
          <a:prstGeom prst="rect">
            <a:avLst/>
          </a:prstGeom>
          <a:noFill/>
          <a:ln/>
        </p:spPr>
        <p:txBody>
          <a:bodyPr wrap="square" lIns="0" tIns="0" rIns="0" bIns="0" rtlCol="0" anchor="t"/>
          <a:lstStyle/>
          <a:p>
            <a:pPr marL="0" indent="0">
              <a:buNone/>
            </a:pPr>
            <a:r>
              <a:rPr lang="en-US" sz="950" b="1" dirty="0">
                <a:solidFill>
                  <a:srgbClr val="E63946"/>
                </a:solidFill>
                <a:latin typeface="Calibri" pitchFamily="34" charset="0"/>
              </a:rPr>
              <a:t>token_account</a:t>
            </a:r>
            <a:r>
              <a:rPr lang="en-US" sz="950" dirty="0">
                <a:solidFill>
                  <a:srgbClr val="374151"/>
                </a:solidFill>
                <a:latin typeface="Calibri" pitchFamily="34" charset="0"/>
              </a:rPr>
              <a:t> — whether account appears in the URL, used in credential-harvesting phishing links.</a:t>
            </a:r>
          </a:p>
        </p:txBody>
      </p:sp>
      <p:sp>
        <p:nvSpPr>
          <p:cNvPr id="28" name="Text token_secure"/>
          <p:cNvSpPr/>
          <p:nvPr/>
        </p:nvSpPr>
        <p:spPr>
          <a:xfrm>
            <a:off x="5212080" y="3920000"/>
            <a:ext cx="3538728" cy="390000"/>
          </a:xfrm>
          <a:prstGeom prst="rect">
            <a:avLst/>
          </a:prstGeom>
          <a:noFill/>
          <a:ln/>
        </p:spPr>
        <p:txBody>
          <a:bodyPr wrap="square" lIns="0" tIns="0" rIns="0" bIns="0" rtlCol="0" anchor="t"/>
          <a:lstStyle/>
          <a:p>
            <a:pPr marL="0" indent="0">
              <a:buNone/>
            </a:pPr>
            <a:r>
              <a:rPr lang="en-US" sz="950" b="1" dirty="0">
                <a:solidFill>
                  <a:srgbClr val="E63946"/>
                </a:solidFill>
                <a:latin typeface="Calibri" pitchFamily="34" charset="0"/>
              </a:rPr>
              <a:t>token_secure</a:t>
            </a:r>
            <a:r>
              <a:rPr lang="en-US" sz="950" dirty="0">
                <a:solidFill>
                  <a:srgbClr val="374151"/>
                </a:solidFill>
                <a:latin typeface="Calibri" pitchFamily="34" charset="0"/>
              </a:rPr>
              <a:t> — whether secure appears in the URL, often used to make a fake link look trustworthy.</a:t>
            </a:r>
          </a:p>
        </p:txBody>
      </p:sp>
      <p:sp>
        <p:nvSpPr>
          <p:cNvPr id="29" name="Shape Divider"/>
          <p:cNvSpPr/>
          <p:nvPr/>
        </p:nvSpPr>
        <p:spPr>
          <a:xfrm>
            <a:off x="4921920" y="730000"/>
            <a:ext cx="0" cy="4062040"/>
          </a:xfrm>
          <a:prstGeom prst="line">
            <a:avLst/>
          </a:prstGeom>
          <a:noFill/>
          <a:ln w="9525">
            <a:solidFill>
              <a:srgbClr val="D1D5DB"/>
            </a:solidFill>
            <a:prstDash val="solid"/>
          </a:ln>
        </p:spPr>
        <p:txBody>
          <a:bodyPr/>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a:effectLst/>
      </p:bgPr>
    </p:bg>
    <p:spTree>
      <p:nvGrpSpPr>
        <p:cNvPr id="1" name=""/>
        <p:cNvGrpSpPr/>
        <p:nvPr/>
      </p:nvGrpSpPr>
      <p:grpSpPr>
        <a:xfrm>
          <a:off x="0" y="0"/>
          <a:ext cx="0" cy="0"/>
          <a:chOff x="0" y="0"/>
          <a:chExt cx="0" cy="0"/>
        </a:xfrm>
      </p:grpSpPr>
      <p:sp>
        <p:nvSpPr>
          <p:cNvPr id="2" name="Hdr"/>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HdrTxt"/>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rPr>
              <a:t>3-Fold Cross-Validation: Tuning Models Fairly</a:t>
            </a:r>
          </a:p>
        </p:txBody>
      </p:sp>
      <p:sp>
        <p:nvSpPr>
          <p:cNvPr id="4" name="Ftr"/>
          <p:cNvSpPr/>
          <p:nvPr/>
        </p:nvSpPr>
        <p:spPr>
          <a:xfrm>
            <a:off x="0" y="4892040"/>
            <a:ext cx="9144000" cy="251460"/>
          </a:xfrm>
          <a:prstGeom prst="rect">
            <a:avLst/>
          </a:prstGeom>
          <a:solidFill>
            <a:srgbClr val="1B2A41"/>
          </a:solidFill>
          <a:ln w="12700">
            <a:solidFill>
              <a:srgbClr val="1B2A41"/>
            </a:solidFill>
            <a:prstDash val="solid"/>
          </a:ln>
        </p:spPr>
        <p:txBody>
          <a:bodyPr/>
          <a:lstStyle/>
          <a:p>
            <a:endParaRPr lang="en-US"/>
          </a:p>
        </p:txBody>
      </p:sp>
      <p:sp>
        <p:nvSpPr>
          <p:cNvPr id="5" name="FtrTxt"/>
          <p:cNvSpPr/>
          <p:nvPr/>
        </p:nvSpPr>
        <p:spPr>
          <a:xfrm>
            <a:off x="274320" y="4892040"/>
            <a:ext cx="8595360" cy="251460"/>
          </a:xfrm>
          <a:prstGeom prst="rect">
            <a:avLst/>
          </a:prstGeom>
          <a:noFill/>
          <a:ln/>
        </p:spPr>
        <p:txBody>
          <a:bodyPr wrap="square" lIns="0" tIns="0" rIns="0" bIns="0" rtlCol="0" anchor="ctr"/>
          <a:lstStyle/>
          <a:p>
            <a:pPr marL="0" indent="0">
              <a:buNone/>
            </a:pPr>
            <a:r>
              <a:rPr lang="en-US" sz="800" dirty="0">
                <a:solidFill>
                  <a:srgbClr val="CADCFC"/>
                </a:solidFill>
                <a:latin typeface="Calibri" pitchFamily="34" charset="0"/>
              </a:rPr>
              <a:t>Malicious URL Detection  ·  Lexical Features Only  |  Modelling Setup</a:t>
            </a:r>
          </a:p>
        </p:txBody>
      </p:sp>
      <p:sp>
        <p:nvSpPr>
          <p:cNvPr id="6" name="LeftHead"/>
          <p:cNvSpPr/>
          <p:nvPr/>
        </p:nvSpPr>
        <p:spPr>
          <a:xfrm>
            <a:off x="320040" y="750000"/>
            <a:ext cx="4114800" cy="292608"/>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rPr>
              <a:t>What Is 3-Fold Cross-Validation?</a:t>
            </a:r>
          </a:p>
        </p:txBody>
      </p:sp>
      <p:sp>
        <p:nvSpPr>
          <p:cNvPr id="7" name="LeftBody"/>
          <p:cNvSpPr/>
          <p:nvPr/>
        </p:nvSpPr>
        <p:spPr>
          <a:xfrm>
            <a:off x="320040" y="1080000"/>
            <a:ext cx="4114800" cy="1680000"/>
          </a:xfrm>
          <a:prstGeom prst="rect">
            <a:avLst/>
          </a:prstGeom>
          <a:noFill/>
          <a:ln/>
        </p:spPr>
        <p:txBody>
          <a:bodyPr wrap="square" lIns="0" tIns="0" rIns="0" bIns="0" rtlCol="0" anchor="t"/>
          <a:lstStyle/>
          <a:p>
            <a:pPr marL="342900" indent="-342900">
              <a:buSzPct val="100000"/>
              <a:buChar char="•"/>
            </a:pPr>
            <a:r>
              <a:rPr lang="en-US" sz="1050" dirty="0">
                <a:solidFill>
                  <a:srgbClr val="334155"/>
                </a:solidFill>
                <a:latin typeface="Calibri" pitchFamily="34" charset="0"/>
              </a:rPr>
              <a:t>The training set is split into </a:t>
            </a:r>
            <a:r>
              <a:rPr lang="en-US" sz="1050" b="1" dirty="0">
                <a:solidFill>
                  <a:srgbClr val="334155"/>
                </a:solidFill>
                <a:latin typeface="Calibri" pitchFamily="34" charset="0"/>
              </a:rPr>
              <a:t>3 equal parts (folds)</a:t>
            </a:r>
          </a:p>
          <a:p>
            <a:pPr marL="342900" indent="-342900">
              <a:buSzPct val="100000"/>
              <a:buChar char="•"/>
            </a:pPr>
            <a:r>
              <a:rPr lang="en-US" sz="1050" dirty="0">
                <a:solidFill>
                  <a:srgbClr val="334155"/>
                </a:solidFill>
                <a:latin typeface="Calibri" pitchFamily="34" charset="0"/>
              </a:rPr>
              <a:t>Each fold takes a turn as the </a:t>
            </a:r>
            <a:r>
              <a:rPr lang="en-US" sz="1050" b="1" dirty="0">
                <a:solidFill>
                  <a:srgbClr val="334155"/>
                </a:solidFill>
                <a:latin typeface="Calibri" pitchFamily="34" charset="0"/>
              </a:rPr>
              <a:t>validation set</a:t>
            </a:r>
            <a:r>
              <a:rPr lang="en-US" sz="1050" dirty="0">
                <a:solidFill>
                  <a:srgbClr val="334155"/>
                </a:solidFill>
                <a:latin typeface="Calibri" pitchFamily="34" charset="0"/>
              </a:rPr>
              <a:t>; the model trains on the other two</a:t>
            </a:r>
          </a:p>
          <a:p>
            <a:pPr marL="342900" indent="-342900">
              <a:buSzPct val="100000"/>
              <a:buChar char="•"/>
            </a:pPr>
            <a:r>
              <a:rPr lang="en-US" sz="1050" dirty="0">
                <a:solidFill>
                  <a:srgbClr val="334155"/>
                </a:solidFill>
                <a:latin typeface="Calibri" pitchFamily="34" charset="0"/>
              </a:rPr>
              <a:t>This gives 3 performance estimates — we average them to choose the best setting (e.g. best value of C or k)</a:t>
            </a:r>
          </a:p>
          <a:p>
            <a:pPr marL="342900" indent="-342900">
              <a:buSzPct val="100000"/>
              <a:buChar char="•"/>
            </a:pPr>
            <a:r>
              <a:rPr lang="en-US" sz="1050" dirty="0">
                <a:solidFill>
                  <a:srgbClr val="334155"/>
                </a:solidFill>
                <a:latin typeface="Calibri" pitchFamily="34" charset="0"/>
              </a:rPr>
              <a:t>Done </a:t>
            </a:r>
            <a:r>
              <a:rPr lang="en-US" sz="1050" b="1" dirty="0">
                <a:solidFill>
                  <a:srgbClr val="334155"/>
                </a:solidFill>
                <a:latin typeface="Calibri" pitchFamily="34" charset="0"/>
              </a:rPr>
              <a:t>only on training data</a:t>
            </a:r>
            <a:r>
              <a:rPr lang="en-US" sz="1050" dirty="0">
                <a:solidFill>
                  <a:srgbClr val="334155"/>
                </a:solidFill>
                <a:latin typeface="Calibri" pitchFamily="34" charset="0"/>
              </a:rPr>
              <a:t> — the held-out test set is never touched during tuning</a:t>
            </a:r>
          </a:p>
        </p:txBody>
      </p:sp>
      <p:sp>
        <p:nvSpPr>
          <p:cNvPr id="8" name="Fold1"/>
          <p:cNvSpPr/>
          <p:nvPr/>
        </p:nvSpPr>
        <p:spPr>
          <a:xfrm>
            <a:off x="320040" y="2900000"/>
            <a:ext cx="1280000" cy="350000"/>
          </a:xfrm>
          <a:prstGeom prst="rect">
            <a:avLst/>
          </a:prstGeom>
          <a:solidFill>
            <a:srgbClr val="028090"/>
          </a:solidFill>
          <a:ln w="0">
            <a:noFill/>
          </a:ln>
        </p:spPr>
        <p:txBody>
          <a:bodyPr wrap="square" lIns="0" tIns="0" rIns="0" bIns="0" rtlCol="0" anchor="ctr"/>
          <a:lstStyle/>
          <a:p>
            <a:pPr algn="ctr">
              <a:buNone/>
            </a:pPr>
            <a:r>
              <a:rPr lang="en-US" sz="950" b="1" dirty="0">
                <a:solidFill>
                  <a:srgbClr val="FFFFFF"/>
                </a:solidFill>
                <a:latin typeface="Calibri" pitchFamily="34" charset="0"/>
              </a:rPr>
              <a:t>Fold 1
Validate</a:t>
            </a:r>
          </a:p>
        </p:txBody>
      </p:sp>
      <p:sp>
        <p:nvSpPr>
          <p:cNvPr id="9" name="Train1a"/>
          <p:cNvSpPr/>
          <p:nvPr/>
        </p:nvSpPr>
        <p:spPr>
          <a:xfrm>
            <a:off x="1640000" y="2900000"/>
            <a:ext cx="1300000" cy="350000"/>
          </a:xfrm>
          <a:prstGeom prst="rect">
            <a:avLst/>
          </a:prstGeom>
          <a:solidFill>
            <a:srgbClr val="CADCFC"/>
          </a:solidFill>
          <a:ln w="0">
            <a:noFill/>
          </a:ln>
        </p:spPr>
        <p:txBody>
          <a:bodyPr wrap="square" lIns="0" tIns="0" rIns="0" bIns="0" rtlCol="0" anchor="ctr"/>
          <a:lstStyle/>
          <a:p>
            <a:pPr algn="ctr">
              <a:buNone/>
            </a:pPr>
            <a:r>
              <a:rPr lang="en-US" sz="900" dirty="0">
                <a:solidFill>
                  <a:srgbClr val="0D1B2A"/>
                </a:solidFill>
                <a:latin typeface="Calibri" pitchFamily="34" charset="0"/>
              </a:rPr>
              <a:t>Fold 2
Train</a:t>
            </a:r>
          </a:p>
        </p:txBody>
      </p:sp>
      <p:sp>
        <p:nvSpPr>
          <p:cNvPr id="10" name="Train1b"/>
          <p:cNvSpPr/>
          <p:nvPr/>
        </p:nvSpPr>
        <p:spPr>
          <a:xfrm>
            <a:off x="2980000" y="2900000"/>
            <a:ext cx="1300000" cy="350000"/>
          </a:xfrm>
          <a:prstGeom prst="rect">
            <a:avLst/>
          </a:prstGeom>
          <a:solidFill>
            <a:srgbClr val="CADCFC"/>
          </a:solidFill>
          <a:ln w="0">
            <a:noFill/>
          </a:ln>
        </p:spPr>
        <p:txBody>
          <a:bodyPr wrap="square" lIns="0" tIns="0" rIns="0" bIns="0" rtlCol="0" anchor="ctr"/>
          <a:lstStyle/>
          <a:p>
            <a:pPr algn="ctr">
              <a:buNone/>
            </a:pPr>
            <a:r>
              <a:rPr lang="en-US" sz="900" dirty="0">
                <a:solidFill>
                  <a:srgbClr val="0D1B2A"/>
                </a:solidFill>
                <a:latin typeface="Calibri" pitchFamily="34" charset="0"/>
              </a:rPr>
              <a:t>Fold 3
Train</a:t>
            </a:r>
          </a:p>
        </p:txBody>
      </p:sp>
      <p:sp>
        <p:nvSpPr>
          <p:cNvPr id="11" name="DiagLabel"/>
          <p:cNvSpPr/>
          <p:nvPr/>
        </p:nvSpPr>
        <p:spPr>
          <a:xfrm>
            <a:off x="320040" y="3290000"/>
            <a:ext cx="3960000" cy="220000"/>
          </a:xfrm>
          <a:prstGeom prst="rect">
            <a:avLst/>
          </a:prstGeom>
          <a:noFill/>
          <a:ln/>
        </p:spPr>
        <p:txBody>
          <a:bodyPr wrap="square" lIns="0" tIns="0" rIns="0" bIns="0" rtlCol="0" anchor="ctr"/>
          <a:lstStyle/>
          <a:p>
            <a:pPr marL="0" indent="0">
              <a:buNone/>
            </a:pPr>
            <a:r>
              <a:rPr lang="en-US" sz="850" i="1" dirty="0">
                <a:solidFill>
                  <a:srgbClr val="64748B"/>
                </a:solidFill>
                <a:latin typeface="Calibri" pitchFamily="34" charset="0"/>
              </a:rPr>
              <a:t>Repeat 3 times, average results to pick best setting</a:t>
            </a:r>
          </a:p>
        </p:txBody>
      </p:sp>
      <p:sp>
        <p:nvSpPr>
          <p:cNvPr id="12" name="Div"/>
          <p:cNvSpPr/>
          <p:nvPr/>
        </p:nvSpPr>
        <p:spPr>
          <a:xfrm>
            <a:off x="4572000" y="720000"/>
            <a:ext cx="27432" cy="4072000"/>
          </a:xfrm>
          <a:prstGeom prst="rect">
            <a:avLst/>
          </a:prstGeom>
          <a:solidFill>
            <a:srgbClr val="CADCFC"/>
          </a:solidFill>
          <a:ln w="0">
            <a:noFill/>
          </a:ln>
        </p:spPr>
        <p:txBody>
          <a:bodyPr/>
          <a:lstStyle/>
          <a:p>
            <a:endParaRPr lang="en-US"/>
          </a:p>
        </p:txBody>
      </p:sp>
      <p:sp>
        <p:nvSpPr>
          <p:cNvPr id="13" name="RightHead"/>
          <p:cNvSpPr/>
          <p:nvPr/>
        </p:nvSpPr>
        <p:spPr>
          <a:xfrm>
            <a:off x="4709160" y="750000"/>
            <a:ext cx="4160880" cy="292608"/>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rPr>
              <a:t>Why We Use It</a:t>
            </a:r>
          </a:p>
        </p:txBody>
      </p:sp>
      <p:sp>
        <p:nvSpPr>
          <p:cNvPr id="14" name="RightBody"/>
          <p:cNvSpPr/>
          <p:nvPr/>
        </p:nvSpPr>
        <p:spPr>
          <a:xfrm>
            <a:off x="4709160" y="1080000"/>
            <a:ext cx="4160880" cy="1400000"/>
          </a:xfrm>
          <a:prstGeom prst="rect">
            <a:avLst/>
          </a:prstGeom>
          <a:noFill/>
          <a:ln/>
        </p:spPr>
        <p:txBody>
          <a:bodyPr wrap="square" lIns="0" tIns="0" rIns="0" bIns="0" rtlCol="0" anchor="t"/>
          <a:lstStyle/>
          <a:p>
            <a:pPr marL="342900" indent="-342900">
              <a:buSzPct val="100000"/>
              <a:buChar char="•"/>
            </a:pPr>
            <a:r>
              <a:rPr lang="en-US" sz="1050" dirty="0">
                <a:solidFill>
                  <a:srgbClr val="334155"/>
                </a:solidFill>
                <a:latin typeface="Calibri" pitchFamily="34" charset="0"/>
              </a:rPr>
              <a:t>Prevents picking settings that overfit one particular slice of training data</a:t>
            </a:r>
          </a:p>
          <a:p>
            <a:pPr marL="342900" indent="-342900">
              <a:buSzPct val="100000"/>
              <a:buChar char="•"/>
            </a:pPr>
            <a:r>
              <a:rPr lang="en-US" sz="1050" dirty="0">
                <a:solidFill>
                  <a:srgbClr val="334155"/>
                </a:solidFill>
                <a:latin typeface="Calibri" pitchFamily="34" charset="0"/>
              </a:rPr>
              <a:t>Gives a reliable estimate of how each configuration would perform on unseen data</a:t>
            </a:r>
          </a:p>
          <a:p>
            <a:pPr marL="342900" indent="-342900">
              <a:buSzPct val="100000"/>
              <a:buChar char="•"/>
            </a:pPr>
            <a:r>
              <a:rPr lang="en-US" sz="1050" dirty="0">
                <a:solidFill>
                  <a:srgbClr val="334155"/>
                </a:solidFill>
                <a:latin typeface="Calibri" pitchFamily="34" charset="0"/>
              </a:rPr>
              <a:t>Makes model comparison fair — same splits for all models</a:t>
            </a:r>
          </a:p>
        </p:txBody>
      </p:sp>
      <p:sp>
        <p:nvSpPr>
          <p:cNvPr id="15" name="TuneCard"/>
          <p:cNvSpPr/>
          <p:nvPr/>
        </p:nvSpPr>
        <p:spPr>
          <a:xfrm>
            <a:off x="4709160" y="2560000"/>
            <a:ext cx="4160880" cy="880000"/>
          </a:xfrm>
          <a:prstGeom prst="rect">
            <a:avLst/>
          </a:prstGeom>
          <a:solidFill>
            <a:srgbClr val="E8F4F8"/>
          </a:solidFill>
          <a:ln w="9525">
            <a:solidFill>
              <a:srgbClr val="028090"/>
            </a:solidFill>
            <a:prstDash val="solid"/>
          </a:ln>
          <a:effectLst>
            <a:outerShdw blurRad="101600" dist="38100" dir="8100000" algn="bl" rotWithShape="0">
              <a:srgbClr val="000000">
                <a:alpha val="12000"/>
              </a:srgbClr>
            </a:outerShdw>
          </a:effectLst>
        </p:spPr>
        <p:txBody>
          <a:bodyPr wrap="square" lIns="91440" tIns="91440" rIns="91440" bIns="91440" rtlCol="0" anchor="t"/>
          <a:lstStyle/>
          <a:p>
            <a:pPr marL="0" indent="0">
              <a:buNone/>
            </a:pPr>
            <a:r>
              <a:rPr lang="en-US" sz="1100" b="1" dirty="0">
                <a:solidFill>
                  <a:srgbClr val="028090"/>
                </a:solidFill>
                <a:latin typeface="Calibri" pitchFamily="34" charset="0"/>
              </a:rPr>
              <a:t>What it tuned in this project</a:t>
            </a:r>
          </a:p>
          <a:p>
            <a:pPr marL="342900" indent="-342900">
              <a:buSzPct val="100000"/>
              <a:buChar char="•"/>
            </a:pPr>
            <a:r>
              <a:rPr lang="en-US" sz="1000" dirty="0">
                <a:solidFill>
                  <a:srgbClr val="334155"/>
                </a:solidFill>
                <a:latin typeface="Calibri" pitchFamily="34" charset="0"/>
              </a:rPr>
              <a:t>LR: regularisation strength C (tried C = 0.01, 0.1, 1, 10)</a:t>
            </a:r>
          </a:p>
          <a:p>
            <a:pPr marL="342900" indent="-342900">
              <a:buSzPct val="100000"/>
              <a:buChar char="•"/>
            </a:pPr>
            <a:r>
              <a:rPr lang="en-US" sz="1000" dirty="0">
                <a:solidFill>
                  <a:srgbClr val="334155"/>
                </a:solidFill>
                <a:latin typeface="Calibri" pitchFamily="34" charset="0"/>
              </a:rPr>
              <a:t>k-NN: number of neighbours k and distance metric</a:t>
            </a:r>
          </a:p>
          <a:p>
            <a:pPr marL="342900" indent="-342900">
              <a:buSzPct val="100000"/>
              <a:buChar char="•"/>
            </a:pPr>
            <a:r>
              <a:rPr lang="en-US" sz="1000" dirty="0">
                <a:solidFill>
                  <a:srgbClr val="334155"/>
                </a:solidFill>
                <a:latin typeface="Calibri" pitchFamily="34" charset="0"/>
              </a:rPr>
              <a:t>Feature set: core vs. extended features (binary task only)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a:effectLst/>
      </p:bgPr>
    </p:bg>
    <p:spTree>
      <p:nvGrpSpPr>
        <p:cNvPr id="1" name=""/>
        <p:cNvGrpSpPr/>
        <p:nvPr/>
      </p:nvGrpSpPr>
      <p:grpSpPr>
        <a:xfrm>
          <a:off x="0" y="0"/>
          <a:ext cx="0" cy="0"/>
          <a:chOff x="0" y="0"/>
          <a:chExt cx="0" cy="0"/>
        </a:xfrm>
      </p:grpSpPr>
      <p:sp>
        <p:nvSpPr>
          <p:cNvPr id="2" name="Hdr"/>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HdrTxt"/>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rPr>
              <a:t>Model: k-Nearest Neighbours (k-NN)</a:t>
            </a:r>
          </a:p>
        </p:txBody>
      </p:sp>
      <p:sp>
        <p:nvSpPr>
          <p:cNvPr id="4" name="Ftr"/>
          <p:cNvSpPr/>
          <p:nvPr/>
        </p:nvSpPr>
        <p:spPr>
          <a:xfrm>
            <a:off x="0" y="4892040"/>
            <a:ext cx="9144000" cy="251460"/>
          </a:xfrm>
          <a:prstGeom prst="rect">
            <a:avLst/>
          </a:prstGeom>
          <a:solidFill>
            <a:srgbClr val="1B2A41"/>
          </a:solidFill>
          <a:ln w="12700">
            <a:solidFill>
              <a:srgbClr val="1B2A41"/>
            </a:solidFill>
            <a:prstDash val="solid"/>
          </a:ln>
        </p:spPr>
        <p:txBody>
          <a:bodyPr/>
          <a:lstStyle/>
          <a:p>
            <a:endParaRPr lang="en-US"/>
          </a:p>
        </p:txBody>
      </p:sp>
      <p:sp>
        <p:nvSpPr>
          <p:cNvPr id="5" name="FtrTxt"/>
          <p:cNvSpPr/>
          <p:nvPr/>
        </p:nvSpPr>
        <p:spPr>
          <a:xfrm>
            <a:off x="274320" y="4892040"/>
            <a:ext cx="8595360" cy="251460"/>
          </a:xfrm>
          <a:prstGeom prst="rect">
            <a:avLst/>
          </a:prstGeom>
          <a:noFill/>
          <a:ln/>
        </p:spPr>
        <p:txBody>
          <a:bodyPr wrap="square" lIns="0" tIns="0" rIns="0" bIns="0" rtlCol="0" anchor="ctr"/>
          <a:lstStyle/>
          <a:p>
            <a:pPr marL="0" indent="0">
              <a:buNone/>
            </a:pPr>
            <a:r>
              <a:rPr lang="en-US" sz="800" dirty="0">
                <a:solidFill>
                  <a:srgbClr val="CADCFC"/>
                </a:solidFill>
                <a:latin typeface="Calibri" pitchFamily="34" charset="0"/>
              </a:rPr>
              <a:t>Malicious URL Detection  ·  Lexical Features Only  |  Model Concepts</a:t>
            </a:r>
          </a:p>
        </p:txBody>
      </p:sp>
      <p:sp>
        <p:nvSpPr>
          <p:cNvPr id="6" name="LHead"/>
          <p:cNvSpPr/>
          <p:nvPr/>
        </p:nvSpPr>
        <p:spPr>
          <a:xfrm>
            <a:off x="320040" y="750000"/>
            <a:ext cx="4114800" cy="292608"/>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rPr>
              <a:t>How k-NN Works</a:t>
            </a:r>
          </a:p>
        </p:txBody>
      </p:sp>
      <p:sp>
        <p:nvSpPr>
          <p:cNvPr id="7" name="LBody"/>
          <p:cNvSpPr/>
          <p:nvPr/>
        </p:nvSpPr>
        <p:spPr>
          <a:xfrm>
            <a:off x="320040" y="1080000"/>
            <a:ext cx="4114800" cy="1500000"/>
          </a:xfrm>
          <a:prstGeom prst="rect">
            <a:avLst/>
          </a:prstGeom>
          <a:noFill/>
          <a:ln/>
        </p:spPr>
        <p:txBody>
          <a:bodyPr wrap="square" lIns="0" tIns="0" rIns="0" bIns="0" rtlCol="0" anchor="t"/>
          <a:lstStyle/>
          <a:p>
            <a:pPr marL="342900" indent="-342900">
              <a:buSzPct val="100000"/>
              <a:buChar char="•"/>
            </a:pPr>
            <a:r>
              <a:rPr lang="en-US" sz="1050" dirty="0">
                <a:solidFill>
                  <a:srgbClr val="334155"/>
                </a:solidFill>
                <a:latin typeface="Calibri" pitchFamily="34" charset="0"/>
              </a:rPr>
              <a:t>To classify a new URL, k-NN finds the </a:t>
            </a:r>
            <a:r>
              <a:rPr lang="en-US" sz="1050" b="1" dirty="0">
                <a:solidFill>
                  <a:srgbClr val="334155"/>
                </a:solidFill>
                <a:latin typeface="Calibri" pitchFamily="34" charset="0"/>
              </a:rPr>
              <a:t>k most similar URLs</a:t>
            </a:r>
            <a:r>
              <a:rPr lang="en-US" sz="1050" dirty="0">
                <a:solidFill>
                  <a:srgbClr val="334155"/>
                </a:solidFill>
                <a:latin typeface="Calibri" pitchFamily="34" charset="0"/>
              </a:rPr>
              <a:t> in the training set</a:t>
            </a:r>
          </a:p>
          <a:p>
            <a:pPr marL="342900" indent="-342900">
              <a:buSzPct val="100000"/>
              <a:buChar char="•"/>
            </a:pPr>
            <a:r>
              <a:rPr lang="en-US" sz="1050" dirty="0">
                <a:solidFill>
                  <a:srgbClr val="334155"/>
                </a:solidFill>
                <a:latin typeface="Calibri" pitchFamily="34" charset="0"/>
              </a:rPr>
              <a:t>It takes a </a:t>
            </a:r>
            <a:r>
              <a:rPr lang="en-US" sz="1050" b="1" dirty="0">
                <a:solidFill>
                  <a:srgbClr val="334155"/>
                </a:solidFill>
                <a:latin typeface="Calibri" pitchFamily="34" charset="0"/>
              </a:rPr>
              <a:t>majority vote</a:t>
            </a:r>
            <a:r>
              <a:rPr lang="en-US" sz="1050" dirty="0">
                <a:solidFill>
                  <a:srgbClr val="334155"/>
                </a:solidFill>
                <a:latin typeface="Calibri" pitchFamily="34" charset="0"/>
              </a:rPr>
              <a:t> among those k neighbours to decide the class</a:t>
            </a:r>
          </a:p>
        </p:txBody>
      </p:sp>
      <p:sp>
        <p:nvSpPr>
          <p:cNvPr id="8" name="SettingsBox"/>
          <p:cNvSpPr/>
          <p:nvPr/>
        </p:nvSpPr>
        <p:spPr>
          <a:xfrm>
            <a:off x="320040" y="2680000"/>
            <a:ext cx="4114800" cy="1020000"/>
          </a:xfrm>
          <a:prstGeom prst="rect">
            <a:avLst/>
          </a:prstGeom>
          <a:solidFill>
            <a:srgbClr val="E8F4F8"/>
          </a:solidFill>
          <a:ln w="9525">
            <a:solidFill>
              <a:srgbClr val="028090"/>
            </a:solidFill>
            <a:prstDash val="solid"/>
          </a:ln>
          <a:effectLst>
            <a:outerShdw blurRad="101600" dist="38100" dir="8100000" algn="bl" rotWithShape="0">
              <a:srgbClr val="000000">
                <a:alpha val="12000"/>
              </a:srgbClr>
            </a:outerShdw>
          </a:effectLst>
        </p:spPr>
        <p:txBody>
          <a:bodyPr wrap="square" lIns="91440" tIns="91440" rIns="91440" bIns="91440" rtlCol="0" anchor="t"/>
          <a:lstStyle/>
          <a:p>
            <a:pPr marL="0" indent="0">
              <a:buNone/>
            </a:pPr>
            <a:r>
              <a:rPr lang="en-US" sz="1100" b="1" dirty="0">
                <a:solidFill>
                  <a:srgbClr val="028090"/>
                </a:solidFill>
                <a:latin typeface="Calibri" pitchFamily="34" charset="0"/>
              </a:rPr>
              <a:t>Settings used: k=5, Manhattan distance, uniform weights</a:t>
            </a:r>
          </a:p>
          <a:p>
            <a:pPr marL="342900" indent="-342900">
              <a:buSzPct val="100000"/>
              <a:buChar char="•"/>
            </a:pPr>
            <a:r>
              <a:rPr lang="en-US" sz="1000" dirty="0">
                <a:solidFill>
                  <a:srgbClr val="334155"/>
                </a:solidFill>
                <a:latin typeface="Calibri" pitchFamily="34" charset="0"/>
              </a:rPr>
              <a:t>k=5: majority vote among 5 nearest neighbours</a:t>
            </a:r>
          </a:p>
          <a:p>
            <a:pPr marL="342900" indent="-342900">
              <a:buSzPct val="100000"/>
              <a:buChar char="•"/>
            </a:pPr>
            <a:r>
              <a:rPr lang="en-US" sz="1000" dirty="0">
                <a:solidFill>
                  <a:srgbClr val="334155"/>
                </a:solidFill>
                <a:latin typeface="Calibri" pitchFamily="34" charset="0"/>
              </a:rPr>
              <a:t>Manhattan distance: sum of absolute differences in feature values</a:t>
            </a:r>
          </a:p>
          <a:p>
            <a:pPr marL="342900" indent="-342900">
              <a:buSzPct val="100000"/>
              <a:buChar char="•"/>
            </a:pPr>
            <a:r>
              <a:rPr lang="en-US" sz="1000" dirty="0">
                <a:solidFill>
                  <a:srgbClr val="334155"/>
                </a:solidFill>
                <a:latin typeface="Calibri" pitchFamily="34" charset="0"/>
              </a:rPr>
              <a:t>Uniform weights: each neighbour counts equally</a:t>
            </a:r>
          </a:p>
        </p:txBody>
      </p:sp>
      <p:sp>
        <p:nvSpPr>
          <p:cNvPr id="9" name="Div"/>
          <p:cNvSpPr/>
          <p:nvPr/>
        </p:nvSpPr>
        <p:spPr>
          <a:xfrm>
            <a:off x="4572000" y="720000"/>
            <a:ext cx="27432" cy="4072000"/>
          </a:xfrm>
          <a:prstGeom prst="rect">
            <a:avLst/>
          </a:prstGeom>
          <a:solidFill>
            <a:srgbClr val="CADCFC"/>
          </a:solidFill>
          <a:ln w="0">
            <a:noFill/>
          </a:ln>
        </p:spPr>
        <p:txBody>
          <a:bodyPr/>
          <a:lstStyle/>
          <a:p>
            <a:endParaRPr lang="en-US"/>
          </a:p>
        </p:txBody>
      </p:sp>
      <p:sp>
        <p:nvSpPr>
          <p:cNvPr id="10" name="RHead"/>
          <p:cNvSpPr/>
          <p:nvPr/>
        </p:nvSpPr>
        <p:spPr>
          <a:xfrm>
            <a:off x="4709160" y="750000"/>
            <a:ext cx="4160880" cy="292608"/>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rPr>
              <a:t>k-NN in This Project</a:t>
            </a:r>
          </a:p>
        </p:txBody>
      </p:sp>
      <p:sp>
        <p:nvSpPr>
          <p:cNvPr id="11" name="RBody"/>
          <p:cNvSpPr/>
          <p:nvPr/>
        </p:nvSpPr>
        <p:spPr>
          <a:xfrm>
            <a:off x="4709160" y="1080000"/>
            <a:ext cx="4160880" cy="1600000"/>
          </a:xfrm>
          <a:prstGeom prst="rect">
            <a:avLst/>
          </a:prstGeom>
          <a:noFill/>
          <a:ln/>
        </p:spPr>
        <p:txBody>
          <a:bodyPr wrap="square" lIns="0" tIns="0" rIns="0" bIns="0" rtlCol="0" anchor="t"/>
          <a:lstStyle/>
          <a:p>
            <a:pPr marL="342900" indent="-342900">
              <a:buSzPct val="100000"/>
              <a:buChar char="•"/>
            </a:pPr>
            <a:r>
              <a:rPr lang="en-US" sz="1050" dirty="0">
                <a:solidFill>
                  <a:srgbClr val="334155"/>
                </a:solidFill>
                <a:latin typeface="Calibri" pitchFamily="34" charset="0"/>
              </a:rPr>
              <a:t>For each new URL, k-NN compares its 15 lexical features (lengths, counts, flags) against 64K training URLs and finds the 5 most similar URLs</a:t>
            </a:r>
          </a:p>
          <a:p>
            <a:pPr marL="342900" indent="-342900">
              <a:buSzPct val="100000"/>
              <a:buChar char="•"/>
            </a:pPr>
            <a:r>
              <a:rPr lang="en-GB" sz="1050" dirty="0">
                <a:solidFill>
                  <a:srgbClr val="334155"/>
                </a:solidFill>
                <a:latin typeface="Calibri" pitchFamily="34" charset="0"/>
              </a:rPr>
              <a:t>In this project: k-NN worked well, but it is </a:t>
            </a:r>
            <a:r>
              <a:rPr lang="en-GB" sz="1050" dirty="0">
                <a:solidFill>
                  <a:srgbClr val="FF0000"/>
                </a:solidFill>
                <a:latin typeface="Calibri" pitchFamily="34" charset="0"/>
              </a:rPr>
              <a:t>computationally heavier </a:t>
            </a:r>
            <a:r>
              <a:rPr lang="en-GB" sz="1050" dirty="0">
                <a:solidFill>
                  <a:srgbClr val="334155"/>
                </a:solidFill>
                <a:latin typeface="Calibri" pitchFamily="34" charset="0"/>
              </a:rPr>
              <a:t>because each new URL is compared against about 64K training URLs at prediction time.</a:t>
            </a:r>
            <a:endParaRPr lang="en-US" sz="1050" dirty="0">
              <a:solidFill>
                <a:srgbClr val="334155"/>
              </a:solidFill>
              <a:latin typeface="Calibri" pitchFamily="34" charset="0"/>
            </a:endParaRPr>
          </a:p>
          <a:p>
            <a:pPr marL="342900" indent="-342900">
              <a:buSzPct val="100000"/>
              <a:buChar char="•"/>
            </a:pPr>
            <a:r>
              <a:rPr lang="en-US" sz="1050" dirty="0">
                <a:solidFill>
                  <a:srgbClr val="334155"/>
                </a:solidFill>
                <a:latin typeface="Calibri" pitchFamily="34" charset="0"/>
              </a:rPr>
              <a:t>Manhattan distance works well with the mix of counts and binary flags used here</a:t>
            </a:r>
          </a:p>
          <a:p>
            <a:pPr marL="342900" indent="-342900">
              <a:buSzPct val="100000"/>
              <a:buChar char="•"/>
            </a:pPr>
            <a:r>
              <a:rPr lang="en-US" sz="1050" dirty="0">
                <a:solidFill>
                  <a:srgbClr val="334155"/>
                </a:solidFill>
                <a:latin typeface="Calibri" pitchFamily="34" charset="0"/>
              </a:rPr>
              <a:t>Strong predictor — but does not explain </a:t>
            </a:r>
            <a:r>
              <a:rPr lang="en-US" sz="1050" b="1" dirty="0">
                <a:solidFill>
                  <a:srgbClr val="334155"/>
                </a:solidFill>
                <a:latin typeface="Calibri" pitchFamily="34" charset="0"/>
              </a:rPr>
              <a:t>why</a:t>
            </a:r>
            <a:r>
              <a:rPr lang="en-US" sz="1050" dirty="0">
                <a:solidFill>
                  <a:srgbClr val="334155"/>
                </a:solidFill>
                <a:latin typeface="Calibri" pitchFamily="34" charset="0"/>
              </a:rPr>
              <a:t> it classified a URL that way</a:t>
            </a:r>
          </a:p>
        </p:txBody>
      </p:sp>
      <p:sp>
        <p:nvSpPr>
          <p:cNvPr id="12" name="TradeoffBox"/>
          <p:cNvSpPr/>
          <p:nvPr/>
        </p:nvSpPr>
        <p:spPr>
          <a:xfrm>
            <a:off x="4708800" y="2769533"/>
            <a:ext cx="4160880" cy="1060000"/>
          </a:xfrm>
          <a:prstGeom prst="rect">
            <a:avLst/>
          </a:prstGeom>
          <a:solidFill>
            <a:srgbClr val="CADCFC"/>
          </a:solidFill>
          <a:ln w="9525">
            <a:solidFill>
              <a:srgbClr val="1B2A41"/>
            </a:solidFill>
            <a:prstDash val="solid"/>
          </a:ln>
        </p:spPr>
        <p:txBody>
          <a:bodyPr wrap="square" lIns="91440" tIns="91440" rIns="91440" bIns="91440" rtlCol="0" anchor="t"/>
          <a:lstStyle/>
          <a:p>
            <a:pPr marL="0" indent="0">
              <a:buNone/>
            </a:pPr>
            <a:r>
              <a:rPr lang="en-US" sz="1050" b="1" dirty="0">
                <a:solidFill>
                  <a:srgbClr val="0D1B2A"/>
                </a:solidFill>
                <a:latin typeface="Calibri" pitchFamily="34" charset="0"/>
              </a:rPr>
              <a:t>Trade-off in this project</a:t>
            </a:r>
          </a:p>
          <a:p>
            <a:pPr marL="342900" indent="-342900">
              <a:buSzPct val="100000"/>
              <a:buChar char="•"/>
            </a:pPr>
            <a:r>
              <a:rPr lang="en-US" sz="1000" dirty="0">
                <a:solidFill>
                  <a:srgbClr val="334155"/>
                </a:solidFill>
                <a:latin typeface="Calibri" pitchFamily="34" charset="0"/>
              </a:rPr>
              <a:t>k-NN = best predictor (Bal Acc 0.935 binary)</a:t>
            </a:r>
          </a:p>
          <a:p>
            <a:pPr marL="342900" indent="-342900">
              <a:buSzPct val="100000"/>
              <a:buChar char="•"/>
            </a:pPr>
            <a:r>
              <a:rPr lang="en-US" sz="1000" dirty="0">
                <a:solidFill>
                  <a:srgbClr val="334155"/>
                </a:solidFill>
                <a:latin typeface="Calibri" pitchFamily="34" charset="0"/>
              </a:rPr>
              <a:t>Logistic Regression = interpretable — shows which features matter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a:effectLst/>
      </p:bgPr>
    </p:bg>
    <p:spTree>
      <p:nvGrpSpPr>
        <p:cNvPr id="1" name=""/>
        <p:cNvGrpSpPr/>
        <p:nvPr/>
      </p:nvGrpSpPr>
      <p:grpSpPr>
        <a:xfrm>
          <a:off x="0" y="0"/>
          <a:ext cx="0" cy="0"/>
          <a:chOff x="0" y="0"/>
          <a:chExt cx="0" cy="0"/>
        </a:xfrm>
      </p:grpSpPr>
      <p:sp>
        <p:nvSpPr>
          <p:cNvPr id="2" name="Hdr"/>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HdrTxt"/>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rPr>
              <a:t>Model: Logistic Regression</a:t>
            </a:r>
          </a:p>
        </p:txBody>
      </p:sp>
      <p:sp>
        <p:nvSpPr>
          <p:cNvPr id="4" name="Ftr"/>
          <p:cNvSpPr/>
          <p:nvPr/>
        </p:nvSpPr>
        <p:spPr>
          <a:xfrm>
            <a:off x="0" y="4892040"/>
            <a:ext cx="9144000" cy="251460"/>
          </a:xfrm>
          <a:prstGeom prst="rect">
            <a:avLst/>
          </a:prstGeom>
          <a:solidFill>
            <a:srgbClr val="1B2A41"/>
          </a:solidFill>
          <a:ln w="12700">
            <a:solidFill>
              <a:srgbClr val="1B2A41"/>
            </a:solidFill>
            <a:prstDash val="solid"/>
          </a:ln>
        </p:spPr>
        <p:txBody>
          <a:bodyPr/>
          <a:lstStyle/>
          <a:p>
            <a:endParaRPr lang="en-US"/>
          </a:p>
        </p:txBody>
      </p:sp>
      <p:sp>
        <p:nvSpPr>
          <p:cNvPr id="5" name="FtrTxt"/>
          <p:cNvSpPr/>
          <p:nvPr/>
        </p:nvSpPr>
        <p:spPr>
          <a:xfrm>
            <a:off x="274320" y="4892040"/>
            <a:ext cx="8595360" cy="251460"/>
          </a:xfrm>
          <a:prstGeom prst="rect">
            <a:avLst/>
          </a:prstGeom>
          <a:noFill/>
          <a:ln/>
        </p:spPr>
        <p:txBody>
          <a:bodyPr wrap="square" lIns="0" tIns="0" rIns="0" bIns="0" rtlCol="0" anchor="ctr"/>
          <a:lstStyle/>
          <a:p>
            <a:pPr marL="0" indent="0">
              <a:buNone/>
            </a:pPr>
            <a:r>
              <a:rPr lang="en-US" sz="800" dirty="0">
                <a:solidFill>
                  <a:srgbClr val="CADCFC"/>
                </a:solidFill>
                <a:latin typeface="Calibri" pitchFamily="34" charset="0"/>
              </a:rPr>
              <a:t>Malicious URL Detection  ·  Lexical Features Only  |  Model Concepts</a:t>
            </a:r>
          </a:p>
        </p:txBody>
      </p:sp>
      <p:sp>
        <p:nvSpPr>
          <p:cNvPr id="6" name="LH"/>
          <p:cNvSpPr/>
          <p:nvPr/>
        </p:nvSpPr>
        <p:spPr>
          <a:xfrm>
            <a:off x="320040" y="750000"/>
            <a:ext cx="4114800" cy="292608"/>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rPr>
              <a:t>How Logistic Regression Works</a:t>
            </a:r>
          </a:p>
        </p:txBody>
      </p:sp>
      <p:sp>
        <p:nvSpPr>
          <p:cNvPr id="7" name="LB"/>
          <p:cNvSpPr/>
          <p:nvPr/>
        </p:nvSpPr>
        <p:spPr>
          <a:xfrm>
            <a:off x="320040" y="1080000"/>
            <a:ext cx="4114800" cy="1480000"/>
          </a:xfrm>
          <a:prstGeom prst="rect">
            <a:avLst/>
          </a:prstGeom>
          <a:noFill/>
          <a:ln/>
        </p:spPr>
        <p:txBody>
          <a:bodyPr wrap="square" lIns="0" tIns="0" rIns="0" bIns="0" rtlCol="0" anchor="t"/>
          <a:lstStyle/>
          <a:p>
            <a:pPr marL="342900" indent="-342900">
              <a:buSzPct val="100000"/>
              <a:buChar char="•"/>
            </a:pPr>
            <a:r>
              <a:rPr lang="en-US" sz="1050" dirty="0">
                <a:solidFill>
                  <a:srgbClr val="334155"/>
                </a:solidFill>
                <a:latin typeface="Calibri" pitchFamily="34" charset="0"/>
              </a:rPr>
              <a:t>Fits a weighted formula to the features and outputs a </a:t>
            </a:r>
            <a:r>
              <a:rPr lang="en-US" sz="1050" b="1" dirty="0">
                <a:solidFill>
                  <a:srgbClr val="334155"/>
                </a:solidFill>
                <a:latin typeface="Calibri" pitchFamily="34" charset="0"/>
              </a:rPr>
              <a:t>probability of each class</a:t>
            </a:r>
          </a:p>
          <a:p>
            <a:pPr marL="342900" indent="-342900">
              <a:buSzPct val="100000"/>
              <a:buChar char="•"/>
            </a:pPr>
            <a:r>
              <a:rPr lang="en-US" sz="1050" dirty="0">
                <a:solidFill>
                  <a:srgbClr val="334155"/>
                </a:solidFill>
                <a:latin typeface="Calibri" pitchFamily="34" charset="0"/>
              </a:rPr>
              <a:t>Each feature gets a </a:t>
            </a:r>
            <a:r>
              <a:rPr lang="en-US" sz="1050" b="1" dirty="0">
                <a:solidFill>
                  <a:srgbClr val="334155"/>
                </a:solidFill>
                <a:latin typeface="Calibri" pitchFamily="34" charset="0"/>
              </a:rPr>
              <a:t>coefficient</a:t>
            </a:r>
            <a:r>
              <a:rPr lang="en-US" sz="1050" dirty="0">
                <a:solidFill>
                  <a:srgbClr val="334155"/>
                </a:solidFill>
                <a:latin typeface="Calibri" pitchFamily="34" charset="0"/>
              </a:rPr>
              <a:t> — a positive value pushes toward malicious, negative toward benign</a:t>
            </a:r>
          </a:p>
          <a:p>
            <a:pPr marL="342900" indent="-342900">
              <a:buSzPct val="100000"/>
              <a:buChar char="•"/>
            </a:pPr>
            <a:r>
              <a:rPr lang="en-US" sz="1050" dirty="0">
                <a:solidFill>
                  <a:srgbClr val="334155"/>
                </a:solidFill>
                <a:latin typeface="Calibri" pitchFamily="34" charset="0"/>
              </a:rPr>
              <a:t>Interpretable: you can read the coefficients to understand which URL features matter most</a:t>
            </a:r>
          </a:p>
        </p:txBody>
      </p:sp>
      <p:sp>
        <p:nvSpPr>
          <p:cNvPr id="8" name="LSettings"/>
          <p:cNvSpPr/>
          <p:nvPr/>
        </p:nvSpPr>
        <p:spPr>
          <a:xfrm>
            <a:off x="320040" y="2680000"/>
            <a:ext cx="4114800" cy="1080000"/>
          </a:xfrm>
          <a:prstGeom prst="rect">
            <a:avLst/>
          </a:prstGeom>
          <a:solidFill>
            <a:srgbClr val="E8F4F8"/>
          </a:solidFill>
          <a:ln w="9525">
            <a:solidFill>
              <a:srgbClr val="028090"/>
            </a:solidFill>
            <a:prstDash val="solid"/>
          </a:ln>
          <a:effectLst>
            <a:outerShdw blurRad="101600" dist="38100" dir="8100000" algn="bl" rotWithShape="0">
              <a:srgbClr val="000000">
                <a:alpha val="12000"/>
              </a:srgbClr>
            </a:outerShdw>
          </a:effectLst>
        </p:spPr>
        <p:txBody>
          <a:bodyPr wrap="square" lIns="91440" tIns="91440" rIns="91440" bIns="91440" rtlCol="0" anchor="t"/>
          <a:lstStyle/>
          <a:p>
            <a:pPr marL="0" indent="0">
              <a:buNone/>
            </a:pPr>
            <a:r>
              <a:rPr lang="en-US" sz="1100" b="1" dirty="0">
                <a:solidFill>
                  <a:srgbClr val="028090"/>
                </a:solidFill>
                <a:latin typeface="Calibri" pitchFamily="34" charset="0"/>
              </a:rPr>
              <a:t>Settings used: C=10, class_weight=balanced</a:t>
            </a:r>
          </a:p>
          <a:p>
            <a:pPr marL="342900" indent="-342900">
              <a:buSzPct val="100000"/>
              <a:buChar char="•"/>
            </a:pPr>
            <a:r>
              <a:rPr lang="en-US" sz="1000" dirty="0">
                <a:solidFill>
                  <a:srgbClr val="334155"/>
                </a:solidFill>
                <a:latin typeface="Calibri" pitchFamily="34" charset="0"/>
              </a:rPr>
              <a:t>C=10: weak regularisation, allows the model to fit the data closely</a:t>
            </a:r>
          </a:p>
          <a:p>
            <a:pPr marL="342900" indent="-342900">
              <a:buSzPct val="100000"/>
              <a:buChar char="•"/>
            </a:pPr>
            <a:r>
              <a:rPr lang="en-US" sz="1000" dirty="0">
                <a:solidFill>
                  <a:srgbClr val="334155"/>
                </a:solidFill>
                <a:latin typeface="Calibri" pitchFamily="34" charset="0"/>
              </a:rPr>
              <a:t>As C value increases, the regularization increases – it makes the model prioritize the training data, potentially causing overfitting.</a:t>
            </a:r>
          </a:p>
          <a:p>
            <a:pPr marL="342900" indent="-342900">
              <a:buSzPct val="100000"/>
              <a:buChar char="•"/>
            </a:pPr>
            <a:r>
              <a:rPr lang="en-US" sz="1000" dirty="0">
                <a:solidFill>
                  <a:srgbClr val="334155"/>
                </a:solidFill>
                <a:latin typeface="Calibri" pitchFamily="34" charset="0"/>
              </a:rPr>
              <a:t>balanced weights: minority classes (malware, phishing) are up-weighted so the model does not ignore them</a:t>
            </a:r>
          </a:p>
        </p:txBody>
      </p:sp>
      <p:sp>
        <p:nvSpPr>
          <p:cNvPr id="9" name="Div"/>
          <p:cNvSpPr/>
          <p:nvPr/>
        </p:nvSpPr>
        <p:spPr>
          <a:xfrm>
            <a:off x="4572000" y="720000"/>
            <a:ext cx="27432" cy="4072000"/>
          </a:xfrm>
          <a:prstGeom prst="rect">
            <a:avLst/>
          </a:prstGeom>
          <a:solidFill>
            <a:srgbClr val="CADCFC"/>
          </a:solidFill>
          <a:ln w="0">
            <a:noFill/>
          </a:ln>
        </p:spPr>
        <p:txBody>
          <a:bodyPr/>
          <a:lstStyle/>
          <a:p>
            <a:endParaRPr lang="en-US"/>
          </a:p>
        </p:txBody>
      </p:sp>
      <p:sp>
        <p:nvSpPr>
          <p:cNvPr id="10" name="RH"/>
          <p:cNvSpPr/>
          <p:nvPr/>
        </p:nvSpPr>
        <p:spPr>
          <a:xfrm>
            <a:off x="4709160" y="750000"/>
            <a:ext cx="4160880" cy="292608"/>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rPr>
              <a:t>Why LR Suits This Problem</a:t>
            </a:r>
          </a:p>
        </p:txBody>
      </p:sp>
      <p:sp>
        <p:nvSpPr>
          <p:cNvPr id="11" name="RB"/>
          <p:cNvSpPr/>
          <p:nvPr/>
        </p:nvSpPr>
        <p:spPr>
          <a:xfrm>
            <a:off x="4709160" y="1080000"/>
            <a:ext cx="4160880" cy="1440000"/>
          </a:xfrm>
          <a:prstGeom prst="rect">
            <a:avLst/>
          </a:prstGeom>
          <a:noFill/>
          <a:ln/>
        </p:spPr>
        <p:txBody>
          <a:bodyPr wrap="square" lIns="0" tIns="0" rIns="0" bIns="0" rtlCol="0" anchor="t"/>
          <a:lstStyle/>
          <a:p>
            <a:pPr marL="342900" indent="-342900">
              <a:buSzPct val="100000"/>
              <a:buChar char="•"/>
            </a:pPr>
            <a:r>
              <a:rPr lang="en-US" sz="1050" dirty="0">
                <a:solidFill>
                  <a:srgbClr val="334155"/>
                </a:solidFill>
                <a:latin typeface="Calibri" pitchFamily="34" charset="0"/>
              </a:rPr>
              <a:t>Coefficients reveal which URL features most distinguish malicious from benign — directly answering the project question</a:t>
            </a:r>
          </a:p>
          <a:p>
            <a:pPr marL="342900" indent="-342900">
              <a:buSzPct val="100000"/>
              <a:buChar char="•"/>
            </a:pPr>
            <a:r>
              <a:rPr lang="en-US" sz="1050" dirty="0">
                <a:solidFill>
                  <a:srgbClr val="334155"/>
                </a:solidFill>
                <a:latin typeface="Calibri" pitchFamily="34" charset="0"/>
              </a:rPr>
              <a:t>Balanced class weights directly counter the 18:1 imbalance — minority classes are not ignored</a:t>
            </a:r>
          </a:p>
          <a:p>
            <a:pPr marL="342900" indent="-342900">
              <a:buSzPct val="100000"/>
              <a:buChar char="•"/>
            </a:pPr>
            <a:r>
              <a:rPr lang="en-US" sz="1050" dirty="0">
                <a:solidFill>
                  <a:srgbClr val="334155"/>
                </a:solidFill>
                <a:latin typeface="Calibri" pitchFamily="34" charset="0"/>
              </a:rPr>
              <a:t>Fast to train — practical for the 64K-sample training set used here</a:t>
            </a:r>
          </a:p>
        </p:txBody>
      </p:sp>
      <p:sp>
        <p:nvSpPr>
          <p:cNvPr id="12" name="RoleBox"/>
          <p:cNvSpPr/>
          <p:nvPr/>
        </p:nvSpPr>
        <p:spPr>
          <a:xfrm>
            <a:off x="4709160" y="2620000"/>
            <a:ext cx="4160880" cy="1060000"/>
          </a:xfrm>
          <a:prstGeom prst="rect">
            <a:avLst/>
          </a:prstGeom>
          <a:solidFill>
            <a:srgbClr val="CADCFC"/>
          </a:solidFill>
          <a:ln w="9525">
            <a:solidFill>
              <a:srgbClr val="1B2A41"/>
            </a:solidFill>
            <a:prstDash val="solid"/>
          </a:ln>
        </p:spPr>
        <p:txBody>
          <a:bodyPr wrap="square" lIns="91440" tIns="91440" rIns="91440" bIns="91440" rtlCol="0" anchor="t"/>
          <a:lstStyle/>
          <a:p>
            <a:pPr marL="0" indent="0">
              <a:buNone/>
            </a:pPr>
            <a:r>
              <a:rPr lang="en-US" sz="1050" b="1" dirty="0">
                <a:solidFill>
                  <a:srgbClr val="0D1B2A"/>
                </a:solidFill>
                <a:latin typeface="Calibri" pitchFamily="34" charset="0"/>
              </a:rPr>
              <a:t>Role in this project</a:t>
            </a:r>
          </a:p>
          <a:p>
            <a:pPr marL="342900" indent="-342900">
              <a:buSzPct val="100000"/>
              <a:buChar char="•"/>
            </a:pPr>
            <a:r>
              <a:rPr lang="en-US" sz="1000" dirty="0">
                <a:solidFill>
                  <a:srgbClr val="334155"/>
                </a:solidFill>
                <a:latin typeface="Calibri" pitchFamily="34" charset="0"/>
              </a:rPr>
              <a:t>The </a:t>
            </a:r>
            <a:r>
              <a:rPr lang="en-US" sz="1000" b="1" dirty="0">
                <a:solidFill>
                  <a:srgbClr val="334155"/>
                </a:solidFill>
                <a:latin typeface="Calibri" pitchFamily="34" charset="0"/>
              </a:rPr>
              <a:t>interpretable</a:t>
            </a:r>
            <a:r>
              <a:rPr lang="en-US" sz="1000" dirty="0">
                <a:solidFill>
                  <a:srgbClr val="334155"/>
                </a:solidFill>
                <a:latin typeface="Calibri" pitchFamily="34" charset="0"/>
              </a:rPr>
              <a:t> model — weaker predictor than k-NN but explains which features drive the classification decision</a:t>
            </a:r>
          </a:p>
          <a:p>
            <a:pPr marL="342900" indent="-342900">
              <a:buSzPct val="100000"/>
              <a:buChar char="•"/>
            </a:pPr>
            <a:r>
              <a:rPr lang="en-US" sz="1000" dirty="0">
                <a:solidFill>
                  <a:srgbClr val="334155"/>
                </a:solidFill>
                <a:latin typeface="Calibri" pitchFamily="34" charset="0"/>
              </a:rPr>
              <a:t>Bal Acc 0.843 (binary) — respectable but k-NN scores 0.935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Binary Results: Benign vs. Malicious (Held-Out Test)</a:t>
            </a:r>
            <a:endParaRPr lang="en-US" sz="2000" dirty="0"/>
          </a:p>
        </p:txBody>
      </p:sp>
      <p:sp>
        <p:nvSpPr>
          <p:cNvPr id="4" name="Shape 2"/>
          <p:cNvSpPr/>
          <p:nvPr/>
        </p:nvSpPr>
        <p:spPr>
          <a:xfrm>
            <a:off x="0" y="4892040"/>
            <a:ext cx="9144000" cy="251460"/>
          </a:xfrm>
          <a:prstGeom prst="rect">
            <a:avLst/>
          </a:prstGeom>
          <a:solidFill>
            <a:srgbClr val="1B2A41"/>
          </a:solidFill>
          <a:ln w="12700">
            <a:solidFill>
              <a:srgbClr val="1B2A41"/>
            </a:solidFill>
            <a:prstDash val="solid"/>
          </a:ln>
        </p:spPr>
        <p:txBody>
          <a:bodyPr/>
          <a:lstStyle/>
          <a:p>
            <a:endParaRPr lang="en-IN"/>
          </a:p>
        </p:txBody>
      </p:sp>
      <p:sp>
        <p:nvSpPr>
          <p:cNvPr id="5" name="Text 3"/>
          <p:cNvSpPr/>
          <p:nvPr/>
        </p:nvSpPr>
        <p:spPr>
          <a:xfrm>
            <a:off x="274320" y="4892040"/>
            <a:ext cx="8595360" cy="251460"/>
          </a:xfrm>
          <a:prstGeom prst="rect">
            <a:avLst/>
          </a:prstGeom>
          <a:noFill/>
          <a:ln/>
        </p:spPr>
        <p:txBody>
          <a:bodyPr wrap="square" lIns="0" tIns="0" rIns="0" bIns="0" rtlCol="0" anchor="ctr"/>
          <a:lstStyle/>
          <a:p>
            <a:pPr marL="0" indent="0">
              <a:buNone/>
            </a:pPr>
            <a:r>
              <a:rPr lang="en-US" sz="800" dirty="0">
                <a:solidFill>
                  <a:srgbClr val="CADCFC"/>
                </a:solidFill>
                <a:latin typeface="Calibri" pitchFamily="34" charset="0"/>
                <a:ea typeface="Calibri" pitchFamily="34" charset="-122"/>
                <a:cs typeface="Calibri" pitchFamily="34" charset="-120"/>
              </a:rPr>
              <a:t>Malicious URL Detection · Lexical Features Only  |  Binary Classification — Test Performance</a:t>
            </a:r>
            <a:endParaRPr lang="en-US" sz="800" dirty="0"/>
          </a:p>
        </p:txBody>
      </p:sp>
      <p:sp>
        <p:nvSpPr>
          <p:cNvPr id="6" name="Text 4"/>
          <p:cNvSpPr/>
          <p:nvPr/>
        </p:nvSpPr>
        <p:spPr>
          <a:xfrm>
            <a:off x="320040" y="749808"/>
            <a:ext cx="8503920" cy="25603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Models compared on 20% held-out test set (16,000 URLs). Class imbalance: ~67% benign, ~33% malicious.</a:t>
            </a:r>
            <a:endParaRPr lang="en-US" sz="1000" dirty="0"/>
          </a:p>
        </p:txBody>
      </p:sp>
      <p:sp>
        <p:nvSpPr>
          <p:cNvPr id="7" name="Shape 5"/>
          <p:cNvSpPr/>
          <p:nvPr/>
        </p:nvSpPr>
        <p:spPr>
          <a:xfrm>
            <a:off x="228600" y="1097280"/>
            <a:ext cx="2788920" cy="1691640"/>
          </a:xfrm>
          <a:prstGeom prst="rect">
            <a:avLst/>
          </a:prstGeom>
          <a:solidFill>
            <a:srgbClr val="FFFFFF"/>
          </a:solidFill>
          <a:ln w="6350">
            <a:solidFill>
              <a:srgbClr val="D1D5DB"/>
            </a:solidFill>
            <a:prstDash val="solid"/>
          </a:ln>
          <a:effectLst>
            <a:outerShdw blurRad="101600" dist="38100" dir="8100000" algn="bl" rotWithShape="0">
              <a:srgbClr val="000000">
                <a:alpha val="12000"/>
              </a:srgbClr>
            </a:outerShdw>
          </a:effectLst>
        </p:spPr>
        <p:txBody>
          <a:bodyPr/>
          <a:lstStyle/>
          <a:p>
            <a:endParaRPr lang="en-IN"/>
          </a:p>
        </p:txBody>
      </p:sp>
      <p:sp>
        <p:nvSpPr>
          <p:cNvPr id="8" name="Shape 6"/>
          <p:cNvSpPr/>
          <p:nvPr/>
        </p:nvSpPr>
        <p:spPr>
          <a:xfrm>
            <a:off x="228600" y="1097280"/>
            <a:ext cx="2788920" cy="310896"/>
          </a:xfrm>
          <a:prstGeom prst="rect">
            <a:avLst/>
          </a:prstGeom>
          <a:solidFill>
            <a:srgbClr val="028090"/>
          </a:solidFill>
          <a:ln w="12700">
            <a:solidFill>
              <a:srgbClr val="028090"/>
            </a:solidFill>
            <a:prstDash val="solid"/>
          </a:ln>
        </p:spPr>
        <p:txBody>
          <a:bodyPr/>
          <a:lstStyle/>
          <a:p>
            <a:endParaRPr lang="en-IN"/>
          </a:p>
        </p:txBody>
      </p:sp>
      <p:sp>
        <p:nvSpPr>
          <p:cNvPr id="9" name="Text 7"/>
          <p:cNvSpPr/>
          <p:nvPr/>
        </p:nvSpPr>
        <p:spPr>
          <a:xfrm>
            <a:off x="338328" y="1115568"/>
            <a:ext cx="2569464"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k-NN</a:t>
            </a:r>
            <a:endParaRPr lang="en-US" sz="1100" dirty="0"/>
          </a:p>
        </p:txBody>
      </p:sp>
      <p:sp>
        <p:nvSpPr>
          <p:cNvPr id="10" name="Text 8"/>
          <p:cNvSpPr/>
          <p:nvPr/>
        </p:nvSpPr>
        <p:spPr>
          <a:xfrm>
            <a:off x="338328" y="1463040"/>
            <a:ext cx="2569464"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k=5, Manhattan, uniform</a:t>
            </a:r>
            <a:endParaRPr lang="en-US" sz="900" dirty="0"/>
          </a:p>
        </p:txBody>
      </p:sp>
      <p:sp>
        <p:nvSpPr>
          <p:cNvPr id="11" name="Text 9"/>
          <p:cNvSpPr/>
          <p:nvPr/>
        </p:nvSpPr>
        <p:spPr>
          <a:xfrm>
            <a:off x="338328" y="1719072"/>
            <a:ext cx="1280160" cy="2011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Balanced Acc</a:t>
            </a:r>
            <a:endParaRPr lang="en-US" sz="850" dirty="0"/>
          </a:p>
        </p:txBody>
      </p:sp>
      <p:sp>
        <p:nvSpPr>
          <p:cNvPr id="12" name="Text 10"/>
          <p:cNvSpPr/>
          <p:nvPr/>
        </p:nvSpPr>
        <p:spPr>
          <a:xfrm>
            <a:off x="338328" y="1920240"/>
            <a:ext cx="1280160" cy="329184"/>
          </a:xfrm>
          <a:prstGeom prst="rect">
            <a:avLst/>
          </a:prstGeom>
          <a:noFill/>
          <a:ln/>
        </p:spPr>
        <p:txBody>
          <a:bodyPr wrap="square" lIns="0" tIns="0" rIns="0" bIns="0" rtlCol="0" anchor="ctr"/>
          <a:lstStyle/>
          <a:p>
            <a:pPr marL="0" indent="0" algn="l">
              <a:buNone/>
            </a:pPr>
            <a:r>
              <a:rPr lang="en-US" sz="2100" b="1" dirty="0">
                <a:solidFill>
                  <a:srgbClr val="028090"/>
                </a:solidFill>
                <a:latin typeface="Calibri" pitchFamily="34" charset="0"/>
                <a:ea typeface="Calibri" pitchFamily="34" charset="-122"/>
                <a:cs typeface="Calibri" pitchFamily="34" charset="-120"/>
              </a:rPr>
              <a:t>0.935</a:t>
            </a:r>
            <a:endParaRPr lang="en-US" sz="2100" dirty="0"/>
          </a:p>
        </p:txBody>
      </p:sp>
      <p:sp>
        <p:nvSpPr>
          <p:cNvPr id="13" name="Text 11"/>
          <p:cNvSpPr/>
          <p:nvPr/>
        </p:nvSpPr>
        <p:spPr>
          <a:xfrm>
            <a:off x="1737360" y="1719072"/>
            <a:ext cx="1097280" cy="2011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Macro F1</a:t>
            </a:r>
            <a:endParaRPr lang="en-US" sz="850" dirty="0"/>
          </a:p>
        </p:txBody>
      </p:sp>
      <p:sp>
        <p:nvSpPr>
          <p:cNvPr id="14" name="Text 12"/>
          <p:cNvSpPr/>
          <p:nvPr/>
        </p:nvSpPr>
        <p:spPr>
          <a:xfrm>
            <a:off x="1737360" y="1920240"/>
            <a:ext cx="1097280" cy="329184"/>
          </a:xfrm>
          <a:prstGeom prst="rect">
            <a:avLst/>
          </a:prstGeom>
          <a:noFill/>
          <a:ln/>
        </p:spPr>
        <p:txBody>
          <a:bodyPr wrap="square" lIns="0" tIns="0" rIns="0" bIns="0" rtlCol="0" anchor="ctr"/>
          <a:lstStyle/>
          <a:p>
            <a:pPr marL="0" indent="0" algn="l">
              <a:buNone/>
            </a:pPr>
            <a:r>
              <a:rPr lang="en-US" sz="2100" b="1" dirty="0">
                <a:solidFill>
                  <a:srgbClr val="028090"/>
                </a:solidFill>
                <a:latin typeface="Calibri" pitchFamily="34" charset="0"/>
                <a:ea typeface="Calibri" pitchFamily="34" charset="-122"/>
                <a:cs typeface="Calibri" pitchFamily="34" charset="-120"/>
              </a:rPr>
              <a:t>0.937</a:t>
            </a:r>
            <a:endParaRPr lang="en-US" sz="2100" dirty="0"/>
          </a:p>
        </p:txBody>
      </p:sp>
      <p:sp>
        <p:nvSpPr>
          <p:cNvPr id="15" name="Shape 13"/>
          <p:cNvSpPr/>
          <p:nvPr/>
        </p:nvSpPr>
        <p:spPr>
          <a:xfrm>
            <a:off x="338328" y="2468880"/>
            <a:ext cx="2569464" cy="219456"/>
          </a:xfrm>
          <a:prstGeom prst="rect">
            <a:avLst/>
          </a:prstGeom>
          <a:solidFill>
            <a:srgbClr val="028090"/>
          </a:solidFill>
          <a:ln w="12700">
            <a:solidFill>
              <a:srgbClr val="028090"/>
            </a:solidFill>
            <a:prstDash val="solid"/>
          </a:ln>
        </p:spPr>
        <p:txBody>
          <a:bodyPr/>
          <a:lstStyle/>
          <a:p>
            <a:endParaRPr lang="en-IN"/>
          </a:p>
        </p:txBody>
      </p:sp>
      <p:sp>
        <p:nvSpPr>
          <p:cNvPr id="16" name="Text 14"/>
          <p:cNvSpPr/>
          <p:nvPr/>
        </p:nvSpPr>
        <p:spPr>
          <a:xfrm>
            <a:off x="338328" y="2468880"/>
            <a:ext cx="2569464"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BEST PREDICTOR</a:t>
            </a:r>
            <a:endParaRPr lang="en-US" sz="850" dirty="0"/>
          </a:p>
        </p:txBody>
      </p:sp>
      <p:sp>
        <p:nvSpPr>
          <p:cNvPr id="17" name="Shape 15"/>
          <p:cNvSpPr/>
          <p:nvPr/>
        </p:nvSpPr>
        <p:spPr>
          <a:xfrm>
            <a:off x="3172968" y="1097280"/>
            <a:ext cx="2788920" cy="1691640"/>
          </a:xfrm>
          <a:prstGeom prst="rect">
            <a:avLst/>
          </a:prstGeom>
          <a:solidFill>
            <a:srgbClr val="FFFFFF"/>
          </a:solidFill>
          <a:ln w="6350">
            <a:solidFill>
              <a:srgbClr val="D1D5DB"/>
            </a:solidFill>
            <a:prstDash val="solid"/>
          </a:ln>
          <a:effectLst>
            <a:outerShdw blurRad="101600" dist="38100" dir="8100000" algn="bl" rotWithShape="0">
              <a:srgbClr val="000000">
                <a:alpha val="12000"/>
              </a:srgbClr>
            </a:outerShdw>
          </a:effectLst>
        </p:spPr>
        <p:txBody>
          <a:bodyPr/>
          <a:lstStyle/>
          <a:p>
            <a:endParaRPr lang="en-IN"/>
          </a:p>
        </p:txBody>
      </p:sp>
      <p:sp>
        <p:nvSpPr>
          <p:cNvPr id="18" name="Shape 16"/>
          <p:cNvSpPr/>
          <p:nvPr/>
        </p:nvSpPr>
        <p:spPr>
          <a:xfrm>
            <a:off x="3172968" y="1097280"/>
            <a:ext cx="2788920" cy="310896"/>
          </a:xfrm>
          <a:prstGeom prst="rect">
            <a:avLst/>
          </a:prstGeom>
          <a:solidFill>
            <a:srgbClr val="0D1B2A"/>
          </a:solidFill>
          <a:ln w="12700">
            <a:solidFill>
              <a:srgbClr val="0D1B2A"/>
            </a:solidFill>
            <a:prstDash val="solid"/>
          </a:ln>
        </p:spPr>
        <p:txBody>
          <a:bodyPr/>
          <a:lstStyle/>
          <a:p>
            <a:endParaRPr lang="en-IN"/>
          </a:p>
        </p:txBody>
      </p:sp>
      <p:sp>
        <p:nvSpPr>
          <p:cNvPr id="19" name="Text 17"/>
          <p:cNvSpPr/>
          <p:nvPr/>
        </p:nvSpPr>
        <p:spPr>
          <a:xfrm>
            <a:off x="3282696" y="1115568"/>
            <a:ext cx="2569464"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Logistic Regression</a:t>
            </a:r>
            <a:endParaRPr lang="en-US" sz="1100" dirty="0"/>
          </a:p>
        </p:txBody>
      </p:sp>
      <p:sp>
        <p:nvSpPr>
          <p:cNvPr id="20" name="Text 18"/>
          <p:cNvSpPr/>
          <p:nvPr/>
        </p:nvSpPr>
        <p:spPr>
          <a:xfrm>
            <a:off x="3282696" y="1463040"/>
            <a:ext cx="2569464"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C=10, balanced weights</a:t>
            </a:r>
            <a:endParaRPr lang="en-US" sz="900" dirty="0"/>
          </a:p>
        </p:txBody>
      </p:sp>
      <p:sp>
        <p:nvSpPr>
          <p:cNvPr id="21" name="Text 19"/>
          <p:cNvSpPr/>
          <p:nvPr/>
        </p:nvSpPr>
        <p:spPr>
          <a:xfrm>
            <a:off x="3282696" y="1719072"/>
            <a:ext cx="1280160" cy="2011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Balanced Acc</a:t>
            </a:r>
            <a:endParaRPr lang="en-US" sz="850" dirty="0"/>
          </a:p>
        </p:txBody>
      </p:sp>
      <p:sp>
        <p:nvSpPr>
          <p:cNvPr id="22" name="Text 20"/>
          <p:cNvSpPr/>
          <p:nvPr/>
        </p:nvSpPr>
        <p:spPr>
          <a:xfrm>
            <a:off x="3282696" y="1920240"/>
            <a:ext cx="1280160" cy="329184"/>
          </a:xfrm>
          <a:prstGeom prst="rect">
            <a:avLst/>
          </a:prstGeom>
          <a:noFill/>
          <a:ln/>
        </p:spPr>
        <p:txBody>
          <a:bodyPr wrap="square" lIns="0" tIns="0" rIns="0" bIns="0" rtlCol="0" anchor="ctr"/>
          <a:lstStyle/>
          <a:p>
            <a:pPr marL="0" indent="0" algn="l">
              <a:buNone/>
            </a:pPr>
            <a:r>
              <a:rPr lang="en-US" sz="2100" b="1" dirty="0">
                <a:solidFill>
                  <a:srgbClr val="0D1B2A"/>
                </a:solidFill>
                <a:latin typeface="Calibri" pitchFamily="34" charset="0"/>
                <a:ea typeface="Calibri" pitchFamily="34" charset="-122"/>
                <a:cs typeface="Calibri" pitchFamily="34" charset="-120"/>
              </a:rPr>
              <a:t>0.843</a:t>
            </a:r>
            <a:endParaRPr lang="en-US" sz="2100" dirty="0"/>
          </a:p>
        </p:txBody>
      </p:sp>
      <p:sp>
        <p:nvSpPr>
          <p:cNvPr id="23" name="Text 21"/>
          <p:cNvSpPr/>
          <p:nvPr/>
        </p:nvSpPr>
        <p:spPr>
          <a:xfrm>
            <a:off x="4681728" y="1719072"/>
            <a:ext cx="1097280" cy="2011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Macro F1</a:t>
            </a:r>
            <a:endParaRPr lang="en-US" sz="850" dirty="0"/>
          </a:p>
        </p:txBody>
      </p:sp>
      <p:sp>
        <p:nvSpPr>
          <p:cNvPr id="24" name="Text 22"/>
          <p:cNvSpPr/>
          <p:nvPr/>
        </p:nvSpPr>
        <p:spPr>
          <a:xfrm>
            <a:off x="4681728" y="1920240"/>
            <a:ext cx="1097280" cy="329184"/>
          </a:xfrm>
          <a:prstGeom prst="rect">
            <a:avLst/>
          </a:prstGeom>
          <a:noFill/>
          <a:ln/>
        </p:spPr>
        <p:txBody>
          <a:bodyPr wrap="square" lIns="0" tIns="0" rIns="0" bIns="0" rtlCol="0" anchor="ctr"/>
          <a:lstStyle/>
          <a:p>
            <a:pPr marL="0" indent="0" algn="l">
              <a:buNone/>
            </a:pPr>
            <a:r>
              <a:rPr lang="en-US" sz="2100" b="1" dirty="0">
                <a:solidFill>
                  <a:srgbClr val="0D1B2A"/>
                </a:solidFill>
                <a:latin typeface="Calibri" pitchFamily="34" charset="0"/>
                <a:ea typeface="Calibri" pitchFamily="34" charset="-122"/>
                <a:cs typeface="Calibri" pitchFamily="34" charset="-120"/>
              </a:rPr>
              <a:t>0.844</a:t>
            </a:r>
            <a:endParaRPr lang="en-US" sz="2100" dirty="0"/>
          </a:p>
        </p:txBody>
      </p:sp>
      <p:sp>
        <p:nvSpPr>
          <p:cNvPr id="25" name="Shape 23"/>
          <p:cNvSpPr/>
          <p:nvPr/>
        </p:nvSpPr>
        <p:spPr>
          <a:xfrm>
            <a:off x="3282696" y="2468880"/>
            <a:ext cx="2569464" cy="219456"/>
          </a:xfrm>
          <a:prstGeom prst="rect">
            <a:avLst/>
          </a:prstGeom>
          <a:solidFill>
            <a:srgbClr val="0D1B2A"/>
          </a:solidFill>
          <a:ln w="12700">
            <a:solidFill>
              <a:srgbClr val="0D1B2A"/>
            </a:solidFill>
            <a:prstDash val="solid"/>
          </a:ln>
        </p:spPr>
        <p:txBody>
          <a:bodyPr/>
          <a:lstStyle/>
          <a:p>
            <a:endParaRPr lang="en-IN"/>
          </a:p>
        </p:txBody>
      </p:sp>
      <p:sp>
        <p:nvSpPr>
          <p:cNvPr id="26" name="Text 24"/>
          <p:cNvSpPr/>
          <p:nvPr/>
        </p:nvSpPr>
        <p:spPr>
          <a:xfrm>
            <a:off x="3282696" y="2468880"/>
            <a:ext cx="2569464"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INTERPRETABLE</a:t>
            </a:r>
            <a:endParaRPr lang="en-US" sz="850" dirty="0"/>
          </a:p>
        </p:txBody>
      </p:sp>
      <p:sp>
        <p:nvSpPr>
          <p:cNvPr id="27" name="Shape 25"/>
          <p:cNvSpPr/>
          <p:nvPr/>
        </p:nvSpPr>
        <p:spPr>
          <a:xfrm>
            <a:off x="6117336" y="1097280"/>
            <a:ext cx="2788920" cy="1691640"/>
          </a:xfrm>
          <a:prstGeom prst="rect">
            <a:avLst/>
          </a:prstGeom>
          <a:solidFill>
            <a:srgbClr val="FFFFFF"/>
          </a:solidFill>
          <a:ln w="6350">
            <a:solidFill>
              <a:srgbClr val="D1D5DB"/>
            </a:solidFill>
            <a:prstDash val="solid"/>
          </a:ln>
          <a:effectLst>
            <a:outerShdw blurRad="101600" dist="38100" dir="8100000" algn="bl" rotWithShape="0">
              <a:srgbClr val="000000">
                <a:alpha val="12000"/>
              </a:srgbClr>
            </a:outerShdw>
          </a:effectLst>
        </p:spPr>
        <p:txBody>
          <a:bodyPr/>
          <a:lstStyle/>
          <a:p>
            <a:endParaRPr lang="en-IN"/>
          </a:p>
        </p:txBody>
      </p:sp>
      <p:sp>
        <p:nvSpPr>
          <p:cNvPr id="28" name="Shape 26"/>
          <p:cNvSpPr/>
          <p:nvPr/>
        </p:nvSpPr>
        <p:spPr>
          <a:xfrm>
            <a:off x="6117336" y="1097280"/>
            <a:ext cx="2788920" cy="310896"/>
          </a:xfrm>
          <a:prstGeom prst="rect">
            <a:avLst/>
          </a:prstGeom>
          <a:solidFill>
            <a:srgbClr val="E63946"/>
          </a:solidFill>
          <a:ln w="12700">
            <a:solidFill>
              <a:srgbClr val="E63946"/>
            </a:solidFill>
            <a:prstDash val="solid"/>
          </a:ln>
        </p:spPr>
        <p:txBody>
          <a:bodyPr/>
          <a:lstStyle/>
          <a:p>
            <a:endParaRPr lang="en-IN"/>
          </a:p>
        </p:txBody>
      </p:sp>
      <p:sp>
        <p:nvSpPr>
          <p:cNvPr id="29" name="Text 27"/>
          <p:cNvSpPr/>
          <p:nvPr/>
        </p:nvSpPr>
        <p:spPr>
          <a:xfrm>
            <a:off x="6227064" y="1115568"/>
            <a:ext cx="2569464"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Majority Baseline</a:t>
            </a:r>
            <a:endParaRPr lang="en-US" sz="1100" dirty="0"/>
          </a:p>
        </p:txBody>
      </p:sp>
      <p:sp>
        <p:nvSpPr>
          <p:cNvPr id="30" name="Text 28"/>
          <p:cNvSpPr/>
          <p:nvPr/>
        </p:nvSpPr>
        <p:spPr>
          <a:xfrm>
            <a:off x="6227064" y="1463040"/>
            <a:ext cx="2569464"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Predicts 'benign' always</a:t>
            </a:r>
            <a:endParaRPr lang="en-US" sz="900" dirty="0"/>
          </a:p>
        </p:txBody>
      </p:sp>
      <p:sp>
        <p:nvSpPr>
          <p:cNvPr id="31" name="Text 29"/>
          <p:cNvSpPr/>
          <p:nvPr/>
        </p:nvSpPr>
        <p:spPr>
          <a:xfrm>
            <a:off x="6227064" y="1719072"/>
            <a:ext cx="1280160" cy="2011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Balanced Acc</a:t>
            </a:r>
            <a:endParaRPr lang="en-US" sz="850" dirty="0"/>
          </a:p>
        </p:txBody>
      </p:sp>
      <p:sp>
        <p:nvSpPr>
          <p:cNvPr id="32" name="Text 30"/>
          <p:cNvSpPr/>
          <p:nvPr/>
        </p:nvSpPr>
        <p:spPr>
          <a:xfrm>
            <a:off x="6227064" y="1920240"/>
            <a:ext cx="1280160" cy="329184"/>
          </a:xfrm>
          <a:prstGeom prst="rect">
            <a:avLst/>
          </a:prstGeom>
          <a:noFill/>
          <a:ln/>
        </p:spPr>
        <p:txBody>
          <a:bodyPr wrap="square" lIns="0" tIns="0" rIns="0" bIns="0" rtlCol="0" anchor="ctr"/>
          <a:lstStyle/>
          <a:p>
            <a:pPr marL="0" indent="0" algn="l">
              <a:buNone/>
            </a:pPr>
            <a:r>
              <a:rPr lang="en-US" sz="2100" b="1" dirty="0">
                <a:solidFill>
                  <a:srgbClr val="E63946"/>
                </a:solidFill>
                <a:latin typeface="Calibri" pitchFamily="34" charset="0"/>
                <a:ea typeface="Calibri" pitchFamily="34" charset="-122"/>
                <a:cs typeface="Calibri" pitchFamily="34" charset="-120"/>
              </a:rPr>
              <a:t>0.500</a:t>
            </a:r>
            <a:endParaRPr lang="en-US" sz="2100" dirty="0"/>
          </a:p>
        </p:txBody>
      </p:sp>
      <p:sp>
        <p:nvSpPr>
          <p:cNvPr id="33" name="Text 31"/>
          <p:cNvSpPr/>
          <p:nvPr/>
        </p:nvSpPr>
        <p:spPr>
          <a:xfrm>
            <a:off x="7626096" y="1719072"/>
            <a:ext cx="1097280" cy="201168"/>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Macro F1</a:t>
            </a:r>
            <a:endParaRPr lang="en-US" sz="850" dirty="0"/>
          </a:p>
        </p:txBody>
      </p:sp>
      <p:sp>
        <p:nvSpPr>
          <p:cNvPr id="34" name="Text 32"/>
          <p:cNvSpPr/>
          <p:nvPr/>
        </p:nvSpPr>
        <p:spPr>
          <a:xfrm>
            <a:off x="7626096" y="1920240"/>
            <a:ext cx="1097280" cy="329184"/>
          </a:xfrm>
          <a:prstGeom prst="rect">
            <a:avLst/>
          </a:prstGeom>
          <a:noFill/>
          <a:ln/>
        </p:spPr>
        <p:txBody>
          <a:bodyPr wrap="square" lIns="0" tIns="0" rIns="0" bIns="0" rtlCol="0" anchor="ctr"/>
          <a:lstStyle/>
          <a:p>
            <a:pPr marL="0" indent="0" algn="l">
              <a:buNone/>
            </a:pPr>
            <a:r>
              <a:rPr lang="en-US" sz="2100" b="1" dirty="0">
                <a:solidFill>
                  <a:srgbClr val="E63946"/>
                </a:solidFill>
                <a:latin typeface="Calibri" pitchFamily="34" charset="0"/>
                <a:ea typeface="Calibri" pitchFamily="34" charset="-122"/>
                <a:cs typeface="Calibri" pitchFamily="34" charset="-120"/>
              </a:rPr>
              <a:t>0.400</a:t>
            </a:r>
            <a:endParaRPr lang="en-US" sz="2100" dirty="0"/>
          </a:p>
        </p:txBody>
      </p:sp>
      <p:sp>
        <p:nvSpPr>
          <p:cNvPr id="35" name="Shape 33"/>
          <p:cNvSpPr/>
          <p:nvPr/>
        </p:nvSpPr>
        <p:spPr>
          <a:xfrm>
            <a:off x="6227064" y="2468880"/>
            <a:ext cx="2569464" cy="219456"/>
          </a:xfrm>
          <a:prstGeom prst="rect">
            <a:avLst/>
          </a:prstGeom>
          <a:solidFill>
            <a:srgbClr val="E63946"/>
          </a:solidFill>
          <a:ln w="12700">
            <a:solidFill>
              <a:srgbClr val="E63946"/>
            </a:solidFill>
            <a:prstDash val="solid"/>
          </a:ln>
        </p:spPr>
        <p:txBody>
          <a:bodyPr/>
          <a:lstStyle/>
          <a:p>
            <a:endParaRPr lang="en-IN"/>
          </a:p>
        </p:txBody>
      </p:sp>
      <p:sp>
        <p:nvSpPr>
          <p:cNvPr id="36" name="Text 34"/>
          <p:cNvSpPr/>
          <p:nvPr/>
        </p:nvSpPr>
        <p:spPr>
          <a:xfrm>
            <a:off x="6227064" y="2468880"/>
            <a:ext cx="2569464"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REFERENCE</a:t>
            </a:r>
            <a:endParaRPr lang="en-US" sz="850" dirty="0"/>
          </a:p>
        </p:txBody>
      </p:sp>
      <p:sp>
        <p:nvSpPr>
          <p:cNvPr id="37" name="Text 35"/>
          <p:cNvSpPr/>
          <p:nvPr/>
        </p:nvSpPr>
        <p:spPr>
          <a:xfrm>
            <a:off x="320040" y="2926080"/>
            <a:ext cx="8503920" cy="256032"/>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Per-Class Breakdown (test set):</a:t>
            </a:r>
            <a:endParaRPr lang="en-US" sz="1100" dirty="0"/>
          </a:p>
        </p:txBody>
      </p:sp>
      <p:sp>
        <p:nvSpPr>
          <p:cNvPr id="38" name="Shape 36"/>
          <p:cNvSpPr/>
          <p:nvPr/>
        </p:nvSpPr>
        <p:spPr>
          <a:xfrm>
            <a:off x="320040" y="3236976"/>
            <a:ext cx="2011680" cy="274320"/>
          </a:xfrm>
          <a:prstGeom prst="rect">
            <a:avLst/>
          </a:prstGeom>
          <a:solidFill>
            <a:srgbClr val="0D1B2A"/>
          </a:solidFill>
          <a:ln w="12700">
            <a:solidFill>
              <a:srgbClr val="0D1B2A"/>
            </a:solidFill>
            <a:prstDash val="solid"/>
          </a:ln>
        </p:spPr>
        <p:txBody>
          <a:bodyPr/>
          <a:lstStyle/>
          <a:p>
            <a:endParaRPr lang="en-IN"/>
          </a:p>
        </p:txBody>
      </p:sp>
      <p:sp>
        <p:nvSpPr>
          <p:cNvPr id="39" name="Text 37"/>
          <p:cNvSpPr/>
          <p:nvPr/>
        </p:nvSpPr>
        <p:spPr>
          <a:xfrm>
            <a:off x="365760" y="3236976"/>
            <a:ext cx="192024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Model</a:t>
            </a:r>
            <a:endParaRPr lang="en-US" sz="900" dirty="0"/>
          </a:p>
        </p:txBody>
      </p:sp>
      <p:sp>
        <p:nvSpPr>
          <p:cNvPr id="40" name="Shape 38"/>
          <p:cNvSpPr/>
          <p:nvPr/>
        </p:nvSpPr>
        <p:spPr>
          <a:xfrm>
            <a:off x="2350008" y="3236976"/>
            <a:ext cx="1143000" cy="274320"/>
          </a:xfrm>
          <a:prstGeom prst="rect">
            <a:avLst/>
          </a:prstGeom>
          <a:solidFill>
            <a:srgbClr val="0D1B2A"/>
          </a:solidFill>
          <a:ln w="12700">
            <a:solidFill>
              <a:srgbClr val="0D1B2A"/>
            </a:solidFill>
            <a:prstDash val="solid"/>
          </a:ln>
        </p:spPr>
        <p:txBody>
          <a:bodyPr/>
          <a:lstStyle/>
          <a:p>
            <a:endParaRPr lang="en-IN"/>
          </a:p>
        </p:txBody>
      </p:sp>
      <p:sp>
        <p:nvSpPr>
          <p:cNvPr id="41" name="Text 39"/>
          <p:cNvSpPr/>
          <p:nvPr/>
        </p:nvSpPr>
        <p:spPr>
          <a:xfrm>
            <a:off x="2395728" y="3236976"/>
            <a:ext cx="105156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Class</a:t>
            </a:r>
            <a:endParaRPr lang="en-US" sz="900" dirty="0"/>
          </a:p>
        </p:txBody>
      </p:sp>
      <p:sp>
        <p:nvSpPr>
          <p:cNvPr id="42" name="Shape 40"/>
          <p:cNvSpPr/>
          <p:nvPr/>
        </p:nvSpPr>
        <p:spPr>
          <a:xfrm>
            <a:off x="3511296" y="3236976"/>
            <a:ext cx="1097280" cy="274320"/>
          </a:xfrm>
          <a:prstGeom prst="rect">
            <a:avLst/>
          </a:prstGeom>
          <a:solidFill>
            <a:srgbClr val="0D1B2A"/>
          </a:solidFill>
          <a:ln w="12700">
            <a:solidFill>
              <a:srgbClr val="0D1B2A"/>
            </a:solidFill>
            <a:prstDash val="solid"/>
          </a:ln>
        </p:spPr>
        <p:txBody>
          <a:bodyPr/>
          <a:lstStyle/>
          <a:p>
            <a:endParaRPr lang="en-IN"/>
          </a:p>
        </p:txBody>
      </p:sp>
      <p:sp>
        <p:nvSpPr>
          <p:cNvPr id="43" name="Text 41"/>
          <p:cNvSpPr/>
          <p:nvPr/>
        </p:nvSpPr>
        <p:spPr>
          <a:xfrm>
            <a:off x="3557016" y="3236976"/>
            <a:ext cx="100584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Precision</a:t>
            </a:r>
            <a:endParaRPr lang="en-US" sz="900" dirty="0"/>
          </a:p>
        </p:txBody>
      </p:sp>
      <p:sp>
        <p:nvSpPr>
          <p:cNvPr id="44" name="Shape 42"/>
          <p:cNvSpPr/>
          <p:nvPr/>
        </p:nvSpPr>
        <p:spPr>
          <a:xfrm>
            <a:off x="4626864" y="3236976"/>
            <a:ext cx="1097280" cy="274320"/>
          </a:xfrm>
          <a:prstGeom prst="rect">
            <a:avLst/>
          </a:prstGeom>
          <a:solidFill>
            <a:srgbClr val="0D1B2A"/>
          </a:solidFill>
          <a:ln w="12700">
            <a:solidFill>
              <a:srgbClr val="0D1B2A"/>
            </a:solidFill>
            <a:prstDash val="solid"/>
          </a:ln>
        </p:spPr>
        <p:txBody>
          <a:bodyPr/>
          <a:lstStyle/>
          <a:p>
            <a:endParaRPr lang="en-IN"/>
          </a:p>
        </p:txBody>
      </p:sp>
      <p:sp>
        <p:nvSpPr>
          <p:cNvPr id="45" name="Text 43"/>
          <p:cNvSpPr/>
          <p:nvPr/>
        </p:nvSpPr>
        <p:spPr>
          <a:xfrm>
            <a:off x="4672584" y="3236976"/>
            <a:ext cx="100584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Recall</a:t>
            </a:r>
            <a:endParaRPr lang="en-US" sz="900" dirty="0"/>
          </a:p>
        </p:txBody>
      </p:sp>
      <p:sp>
        <p:nvSpPr>
          <p:cNvPr id="46" name="Shape 44"/>
          <p:cNvSpPr/>
          <p:nvPr/>
        </p:nvSpPr>
        <p:spPr>
          <a:xfrm>
            <a:off x="5742432" y="3236976"/>
            <a:ext cx="1097280" cy="274320"/>
          </a:xfrm>
          <a:prstGeom prst="rect">
            <a:avLst/>
          </a:prstGeom>
          <a:solidFill>
            <a:srgbClr val="0D1B2A"/>
          </a:solidFill>
          <a:ln w="12700">
            <a:solidFill>
              <a:srgbClr val="0D1B2A"/>
            </a:solidFill>
            <a:prstDash val="solid"/>
          </a:ln>
        </p:spPr>
        <p:txBody>
          <a:bodyPr/>
          <a:lstStyle/>
          <a:p>
            <a:endParaRPr lang="en-IN"/>
          </a:p>
        </p:txBody>
      </p:sp>
      <p:sp>
        <p:nvSpPr>
          <p:cNvPr id="47" name="Text 45"/>
          <p:cNvSpPr/>
          <p:nvPr/>
        </p:nvSpPr>
        <p:spPr>
          <a:xfrm>
            <a:off x="5788152" y="3236976"/>
            <a:ext cx="100584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F1</a:t>
            </a:r>
            <a:endParaRPr lang="en-US" sz="900" dirty="0"/>
          </a:p>
        </p:txBody>
      </p:sp>
      <p:sp>
        <p:nvSpPr>
          <p:cNvPr id="48" name="Shape 46"/>
          <p:cNvSpPr/>
          <p:nvPr/>
        </p:nvSpPr>
        <p:spPr>
          <a:xfrm>
            <a:off x="6858000" y="3236976"/>
            <a:ext cx="1234440" cy="274320"/>
          </a:xfrm>
          <a:prstGeom prst="rect">
            <a:avLst/>
          </a:prstGeom>
          <a:solidFill>
            <a:srgbClr val="0D1B2A"/>
          </a:solidFill>
          <a:ln w="12700">
            <a:solidFill>
              <a:srgbClr val="0D1B2A"/>
            </a:solidFill>
            <a:prstDash val="solid"/>
          </a:ln>
        </p:spPr>
        <p:txBody>
          <a:bodyPr/>
          <a:lstStyle/>
          <a:p>
            <a:endParaRPr lang="en-IN"/>
          </a:p>
        </p:txBody>
      </p:sp>
      <p:sp>
        <p:nvSpPr>
          <p:cNvPr id="49" name="Text 47"/>
          <p:cNvSpPr/>
          <p:nvPr/>
        </p:nvSpPr>
        <p:spPr>
          <a:xfrm>
            <a:off x="6903720" y="3236976"/>
            <a:ext cx="114300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Support</a:t>
            </a:r>
            <a:endParaRPr lang="en-US" sz="900" dirty="0"/>
          </a:p>
        </p:txBody>
      </p:sp>
      <p:sp>
        <p:nvSpPr>
          <p:cNvPr id="50" name="Shape 48"/>
          <p:cNvSpPr/>
          <p:nvPr/>
        </p:nvSpPr>
        <p:spPr>
          <a:xfrm>
            <a:off x="320040" y="3511296"/>
            <a:ext cx="2011680" cy="274320"/>
          </a:xfrm>
          <a:prstGeom prst="rect">
            <a:avLst/>
          </a:prstGeom>
          <a:solidFill>
            <a:srgbClr val="FFFFFF"/>
          </a:solidFill>
          <a:ln w="3810">
            <a:solidFill>
              <a:srgbClr val="E2E8F0"/>
            </a:solidFill>
            <a:prstDash val="solid"/>
          </a:ln>
        </p:spPr>
        <p:txBody>
          <a:bodyPr/>
          <a:lstStyle/>
          <a:p>
            <a:endParaRPr lang="en-IN"/>
          </a:p>
        </p:txBody>
      </p:sp>
      <p:sp>
        <p:nvSpPr>
          <p:cNvPr id="51" name="Text 49"/>
          <p:cNvSpPr/>
          <p:nvPr/>
        </p:nvSpPr>
        <p:spPr>
          <a:xfrm>
            <a:off x="365760" y="3511296"/>
            <a:ext cx="192024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Logistic Regression</a:t>
            </a:r>
            <a:endParaRPr lang="en-US" sz="950" dirty="0"/>
          </a:p>
        </p:txBody>
      </p:sp>
      <p:sp>
        <p:nvSpPr>
          <p:cNvPr id="52" name="Shape 50"/>
          <p:cNvSpPr/>
          <p:nvPr/>
        </p:nvSpPr>
        <p:spPr>
          <a:xfrm>
            <a:off x="2350008" y="3511296"/>
            <a:ext cx="1143000" cy="274320"/>
          </a:xfrm>
          <a:prstGeom prst="rect">
            <a:avLst/>
          </a:prstGeom>
          <a:solidFill>
            <a:srgbClr val="FFFFFF"/>
          </a:solidFill>
          <a:ln w="3810">
            <a:solidFill>
              <a:srgbClr val="E2E8F0"/>
            </a:solidFill>
            <a:prstDash val="solid"/>
          </a:ln>
        </p:spPr>
        <p:txBody>
          <a:bodyPr/>
          <a:lstStyle/>
          <a:p>
            <a:endParaRPr lang="en-IN"/>
          </a:p>
        </p:txBody>
      </p:sp>
      <p:sp>
        <p:nvSpPr>
          <p:cNvPr id="53" name="Text 51"/>
          <p:cNvSpPr/>
          <p:nvPr/>
        </p:nvSpPr>
        <p:spPr>
          <a:xfrm>
            <a:off x="2395728" y="3511296"/>
            <a:ext cx="105156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benign</a:t>
            </a:r>
            <a:endParaRPr lang="en-US" sz="950" dirty="0"/>
          </a:p>
        </p:txBody>
      </p:sp>
      <p:sp>
        <p:nvSpPr>
          <p:cNvPr id="54" name="Shape 52"/>
          <p:cNvSpPr/>
          <p:nvPr/>
        </p:nvSpPr>
        <p:spPr>
          <a:xfrm>
            <a:off x="3511296" y="3511296"/>
            <a:ext cx="1097280" cy="274320"/>
          </a:xfrm>
          <a:prstGeom prst="rect">
            <a:avLst/>
          </a:prstGeom>
          <a:solidFill>
            <a:srgbClr val="FFFFFF"/>
          </a:solidFill>
          <a:ln w="3810">
            <a:solidFill>
              <a:srgbClr val="E2E8F0"/>
            </a:solidFill>
            <a:prstDash val="solid"/>
          </a:ln>
        </p:spPr>
        <p:txBody>
          <a:bodyPr/>
          <a:lstStyle/>
          <a:p>
            <a:endParaRPr lang="en-IN"/>
          </a:p>
        </p:txBody>
      </p:sp>
      <p:sp>
        <p:nvSpPr>
          <p:cNvPr id="55" name="Text 53"/>
          <p:cNvSpPr/>
          <p:nvPr/>
        </p:nvSpPr>
        <p:spPr>
          <a:xfrm>
            <a:off x="3557016" y="3511296"/>
            <a:ext cx="100584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0.894</a:t>
            </a:r>
            <a:endParaRPr lang="en-US" sz="950" dirty="0"/>
          </a:p>
        </p:txBody>
      </p:sp>
      <p:sp>
        <p:nvSpPr>
          <p:cNvPr id="56" name="Shape 54"/>
          <p:cNvSpPr/>
          <p:nvPr/>
        </p:nvSpPr>
        <p:spPr>
          <a:xfrm>
            <a:off x="4626864" y="3511296"/>
            <a:ext cx="1097280" cy="274320"/>
          </a:xfrm>
          <a:prstGeom prst="rect">
            <a:avLst/>
          </a:prstGeom>
          <a:solidFill>
            <a:srgbClr val="FFFFFF"/>
          </a:solidFill>
          <a:ln w="3810">
            <a:solidFill>
              <a:srgbClr val="E2E8F0"/>
            </a:solidFill>
            <a:prstDash val="solid"/>
          </a:ln>
        </p:spPr>
        <p:txBody>
          <a:bodyPr/>
          <a:lstStyle/>
          <a:p>
            <a:endParaRPr lang="en-IN"/>
          </a:p>
        </p:txBody>
      </p:sp>
      <p:sp>
        <p:nvSpPr>
          <p:cNvPr id="57" name="Text 55"/>
          <p:cNvSpPr/>
          <p:nvPr/>
        </p:nvSpPr>
        <p:spPr>
          <a:xfrm>
            <a:off x="4672584" y="3511296"/>
            <a:ext cx="100584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0.900</a:t>
            </a:r>
            <a:endParaRPr lang="en-US" sz="950" dirty="0"/>
          </a:p>
        </p:txBody>
      </p:sp>
      <p:sp>
        <p:nvSpPr>
          <p:cNvPr id="58" name="Shape 56"/>
          <p:cNvSpPr/>
          <p:nvPr/>
        </p:nvSpPr>
        <p:spPr>
          <a:xfrm>
            <a:off x="5742432" y="3511296"/>
            <a:ext cx="1097280" cy="274320"/>
          </a:xfrm>
          <a:prstGeom prst="rect">
            <a:avLst/>
          </a:prstGeom>
          <a:solidFill>
            <a:srgbClr val="FFFFFF"/>
          </a:solidFill>
          <a:ln w="3810">
            <a:solidFill>
              <a:srgbClr val="E2E8F0"/>
            </a:solidFill>
            <a:prstDash val="solid"/>
          </a:ln>
        </p:spPr>
        <p:txBody>
          <a:bodyPr/>
          <a:lstStyle/>
          <a:p>
            <a:endParaRPr lang="en-IN"/>
          </a:p>
        </p:txBody>
      </p:sp>
      <p:sp>
        <p:nvSpPr>
          <p:cNvPr id="59" name="Text 57"/>
          <p:cNvSpPr/>
          <p:nvPr/>
        </p:nvSpPr>
        <p:spPr>
          <a:xfrm>
            <a:off x="5788152" y="3511296"/>
            <a:ext cx="100584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0.897</a:t>
            </a:r>
            <a:endParaRPr lang="en-US" sz="950" dirty="0"/>
          </a:p>
        </p:txBody>
      </p:sp>
      <p:sp>
        <p:nvSpPr>
          <p:cNvPr id="60" name="Shape 58"/>
          <p:cNvSpPr/>
          <p:nvPr/>
        </p:nvSpPr>
        <p:spPr>
          <a:xfrm>
            <a:off x="6858000" y="3511296"/>
            <a:ext cx="1234440" cy="274320"/>
          </a:xfrm>
          <a:prstGeom prst="rect">
            <a:avLst/>
          </a:prstGeom>
          <a:solidFill>
            <a:srgbClr val="FFFFFF"/>
          </a:solidFill>
          <a:ln w="3810">
            <a:solidFill>
              <a:srgbClr val="E2E8F0"/>
            </a:solidFill>
            <a:prstDash val="solid"/>
          </a:ln>
        </p:spPr>
        <p:txBody>
          <a:bodyPr/>
          <a:lstStyle/>
          <a:p>
            <a:endParaRPr lang="en-IN"/>
          </a:p>
        </p:txBody>
      </p:sp>
      <p:sp>
        <p:nvSpPr>
          <p:cNvPr id="61" name="Text 59"/>
          <p:cNvSpPr/>
          <p:nvPr/>
        </p:nvSpPr>
        <p:spPr>
          <a:xfrm>
            <a:off x="6903720" y="3511296"/>
            <a:ext cx="114300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10,685</a:t>
            </a:r>
            <a:endParaRPr lang="en-US" sz="950" dirty="0"/>
          </a:p>
        </p:txBody>
      </p:sp>
      <p:sp>
        <p:nvSpPr>
          <p:cNvPr id="62" name="Shape 60"/>
          <p:cNvSpPr/>
          <p:nvPr/>
        </p:nvSpPr>
        <p:spPr>
          <a:xfrm>
            <a:off x="320040" y="3803904"/>
            <a:ext cx="2011680" cy="274320"/>
          </a:xfrm>
          <a:prstGeom prst="rect">
            <a:avLst/>
          </a:prstGeom>
          <a:solidFill>
            <a:srgbClr val="E8F4F8"/>
          </a:solidFill>
          <a:ln w="3810">
            <a:solidFill>
              <a:srgbClr val="E2E8F0"/>
            </a:solidFill>
            <a:prstDash val="solid"/>
          </a:ln>
        </p:spPr>
        <p:txBody>
          <a:bodyPr/>
          <a:lstStyle/>
          <a:p>
            <a:endParaRPr lang="en-IN"/>
          </a:p>
        </p:txBody>
      </p:sp>
      <p:sp>
        <p:nvSpPr>
          <p:cNvPr id="63" name="Text 61"/>
          <p:cNvSpPr/>
          <p:nvPr/>
        </p:nvSpPr>
        <p:spPr>
          <a:xfrm>
            <a:off x="365760" y="3803904"/>
            <a:ext cx="192024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Logistic Regression</a:t>
            </a:r>
            <a:endParaRPr lang="en-US" sz="950" dirty="0"/>
          </a:p>
        </p:txBody>
      </p:sp>
      <p:sp>
        <p:nvSpPr>
          <p:cNvPr id="64" name="Shape 62"/>
          <p:cNvSpPr/>
          <p:nvPr/>
        </p:nvSpPr>
        <p:spPr>
          <a:xfrm>
            <a:off x="2350008" y="3803904"/>
            <a:ext cx="1143000" cy="274320"/>
          </a:xfrm>
          <a:prstGeom prst="rect">
            <a:avLst/>
          </a:prstGeom>
          <a:solidFill>
            <a:srgbClr val="E8F4F8"/>
          </a:solidFill>
          <a:ln w="3810">
            <a:solidFill>
              <a:srgbClr val="E2E8F0"/>
            </a:solidFill>
            <a:prstDash val="solid"/>
          </a:ln>
        </p:spPr>
        <p:txBody>
          <a:bodyPr/>
          <a:lstStyle/>
          <a:p>
            <a:endParaRPr lang="en-IN"/>
          </a:p>
        </p:txBody>
      </p:sp>
      <p:sp>
        <p:nvSpPr>
          <p:cNvPr id="65" name="Text 63"/>
          <p:cNvSpPr/>
          <p:nvPr/>
        </p:nvSpPr>
        <p:spPr>
          <a:xfrm>
            <a:off x="2395728" y="3803904"/>
            <a:ext cx="105156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malicious</a:t>
            </a:r>
            <a:endParaRPr lang="en-US" sz="950" dirty="0"/>
          </a:p>
        </p:txBody>
      </p:sp>
      <p:sp>
        <p:nvSpPr>
          <p:cNvPr id="66" name="Shape 64"/>
          <p:cNvSpPr/>
          <p:nvPr/>
        </p:nvSpPr>
        <p:spPr>
          <a:xfrm>
            <a:off x="3511296" y="3803904"/>
            <a:ext cx="1097280" cy="274320"/>
          </a:xfrm>
          <a:prstGeom prst="rect">
            <a:avLst/>
          </a:prstGeom>
          <a:solidFill>
            <a:srgbClr val="E8F4F8"/>
          </a:solidFill>
          <a:ln w="3810">
            <a:solidFill>
              <a:srgbClr val="E2E8F0"/>
            </a:solidFill>
            <a:prstDash val="solid"/>
          </a:ln>
        </p:spPr>
        <p:txBody>
          <a:bodyPr/>
          <a:lstStyle/>
          <a:p>
            <a:endParaRPr lang="en-IN"/>
          </a:p>
        </p:txBody>
      </p:sp>
      <p:sp>
        <p:nvSpPr>
          <p:cNvPr id="67" name="Text 65"/>
          <p:cNvSpPr/>
          <p:nvPr/>
        </p:nvSpPr>
        <p:spPr>
          <a:xfrm>
            <a:off x="3557016" y="3803904"/>
            <a:ext cx="100584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0.795</a:t>
            </a:r>
            <a:endParaRPr lang="en-US" sz="950" dirty="0"/>
          </a:p>
        </p:txBody>
      </p:sp>
      <p:sp>
        <p:nvSpPr>
          <p:cNvPr id="68" name="Shape 66"/>
          <p:cNvSpPr/>
          <p:nvPr/>
        </p:nvSpPr>
        <p:spPr>
          <a:xfrm>
            <a:off x="4626864" y="3803904"/>
            <a:ext cx="1097280" cy="274320"/>
          </a:xfrm>
          <a:prstGeom prst="rect">
            <a:avLst/>
          </a:prstGeom>
          <a:solidFill>
            <a:srgbClr val="E8F4F8"/>
          </a:solidFill>
          <a:ln w="3810">
            <a:solidFill>
              <a:srgbClr val="E2E8F0"/>
            </a:solidFill>
            <a:prstDash val="solid"/>
          </a:ln>
        </p:spPr>
        <p:txBody>
          <a:bodyPr/>
          <a:lstStyle/>
          <a:p>
            <a:endParaRPr lang="en-IN"/>
          </a:p>
        </p:txBody>
      </p:sp>
      <p:sp>
        <p:nvSpPr>
          <p:cNvPr id="69" name="Text 67"/>
          <p:cNvSpPr/>
          <p:nvPr/>
        </p:nvSpPr>
        <p:spPr>
          <a:xfrm>
            <a:off x="4672584" y="3803904"/>
            <a:ext cx="100584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0.786</a:t>
            </a:r>
            <a:endParaRPr lang="en-US" sz="950" dirty="0"/>
          </a:p>
        </p:txBody>
      </p:sp>
      <p:sp>
        <p:nvSpPr>
          <p:cNvPr id="70" name="Shape 68"/>
          <p:cNvSpPr/>
          <p:nvPr/>
        </p:nvSpPr>
        <p:spPr>
          <a:xfrm>
            <a:off x="5742432" y="3803904"/>
            <a:ext cx="1097280" cy="274320"/>
          </a:xfrm>
          <a:prstGeom prst="rect">
            <a:avLst/>
          </a:prstGeom>
          <a:solidFill>
            <a:srgbClr val="E8F4F8"/>
          </a:solidFill>
          <a:ln w="3810">
            <a:solidFill>
              <a:srgbClr val="E2E8F0"/>
            </a:solidFill>
            <a:prstDash val="solid"/>
          </a:ln>
        </p:spPr>
        <p:txBody>
          <a:bodyPr/>
          <a:lstStyle/>
          <a:p>
            <a:endParaRPr lang="en-IN"/>
          </a:p>
        </p:txBody>
      </p:sp>
      <p:sp>
        <p:nvSpPr>
          <p:cNvPr id="71" name="Text 69"/>
          <p:cNvSpPr/>
          <p:nvPr/>
        </p:nvSpPr>
        <p:spPr>
          <a:xfrm>
            <a:off x="5788152" y="3803904"/>
            <a:ext cx="100584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0.790</a:t>
            </a:r>
            <a:endParaRPr lang="en-US" sz="950" dirty="0"/>
          </a:p>
        </p:txBody>
      </p:sp>
      <p:sp>
        <p:nvSpPr>
          <p:cNvPr id="72" name="Shape 70"/>
          <p:cNvSpPr/>
          <p:nvPr/>
        </p:nvSpPr>
        <p:spPr>
          <a:xfrm>
            <a:off x="6858000" y="3803904"/>
            <a:ext cx="1234440" cy="274320"/>
          </a:xfrm>
          <a:prstGeom prst="rect">
            <a:avLst/>
          </a:prstGeom>
          <a:solidFill>
            <a:srgbClr val="E8F4F8"/>
          </a:solidFill>
          <a:ln w="3810">
            <a:solidFill>
              <a:srgbClr val="E2E8F0"/>
            </a:solidFill>
            <a:prstDash val="solid"/>
          </a:ln>
        </p:spPr>
        <p:txBody>
          <a:bodyPr/>
          <a:lstStyle/>
          <a:p>
            <a:endParaRPr lang="en-IN"/>
          </a:p>
        </p:txBody>
      </p:sp>
      <p:sp>
        <p:nvSpPr>
          <p:cNvPr id="73" name="Text 71"/>
          <p:cNvSpPr/>
          <p:nvPr/>
        </p:nvSpPr>
        <p:spPr>
          <a:xfrm>
            <a:off x="6903720" y="3803904"/>
            <a:ext cx="114300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5,315</a:t>
            </a:r>
            <a:endParaRPr lang="en-US" sz="950" dirty="0"/>
          </a:p>
        </p:txBody>
      </p:sp>
      <p:sp>
        <p:nvSpPr>
          <p:cNvPr id="74" name="Shape 72"/>
          <p:cNvSpPr/>
          <p:nvPr/>
        </p:nvSpPr>
        <p:spPr>
          <a:xfrm>
            <a:off x="320040" y="4096512"/>
            <a:ext cx="2011680" cy="274320"/>
          </a:xfrm>
          <a:prstGeom prst="rect">
            <a:avLst/>
          </a:prstGeom>
          <a:solidFill>
            <a:srgbClr val="FFFFFF"/>
          </a:solidFill>
          <a:ln w="3810">
            <a:solidFill>
              <a:srgbClr val="E2E8F0"/>
            </a:solidFill>
            <a:prstDash val="solid"/>
          </a:ln>
        </p:spPr>
        <p:txBody>
          <a:bodyPr/>
          <a:lstStyle/>
          <a:p>
            <a:endParaRPr lang="en-IN"/>
          </a:p>
        </p:txBody>
      </p:sp>
      <p:sp>
        <p:nvSpPr>
          <p:cNvPr id="75" name="Text 73"/>
          <p:cNvSpPr/>
          <p:nvPr/>
        </p:nvSpPr>
        <p:spPr>
          <a:xfrm>
            <a:off x="365760" y="4096512"/>
            <a:ext cx="192024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k-NN</a:t>
            </a:r>
            <a:endParaRPr lang="en-US" sz="950" dirty="0"/>
          </a:p>
        </p:txBody>
      </p:sp>
      <p:sp>
        <p:nvSpPr>
          <p:cNvPr id="76" name="Shape 74"/>
          <p:cNvSpPr/>
          <p:nvPr/>
        </p:nvSpPr>
        <p:spPr>
          <a:xfrm>
            <a:off x="2350008" y="4096512"/>
            <a:ext cx="1143000" cy="274320"/>
          </a:xfrm>
          <a:prstGeom prst="rect">
            <a:avLst/>
          </a:prstGeom>
          <a:solidFill>
            <a:srgbClr val="FFFFFF"/>
          </a:solidFill>
          <a:ln w="3810">
            <a:solidFill>
              <a:srgbClr val="E2E8F0"/>
            </a:solidFill>
            <a:prstDash val="solid"/>
          </a:ln>
        </p:spPr>
        <p:txBody>
          <a:bodyPr/>
          <a:lstStyle/>
          <a:p>
            <a:endParaRPr lang="en-IN"/>
          </a:p>
        </p:txBody>
      </p:sp>
      <p:sp>
        <p:nvSpPr>
          <p:cNvPr id="77" name="Text 75"/>
          <p:cNvSpPr/>
          <p:nvPr/>
        </p:nvSpPr>
        <p:spPr>
          <a:xfrm>
            <a:off x="2395728" y="4096512"/>
            <a:ext cx="105156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benign</a:t>
            </a:r>
            <a:endParaRPr lang="en-US" sz="950" dirty="0"/>
          </a:p>
        </p:txBody>
      </p:sp>
      <p:sp>
        <p:nvSpPr>
          <p:cNvPr id="78" name="Shape 76"/>
          <p:cNvSpPr/>
          <p:nvPr/>
        </p:nvSpPr>
        <p:spPr>
          <a:xfrm>
            <a:off x="3511296" y="4096512"/>
            <a:ext cx="1097280" cy="274320"/>
          </a:xfrm>
          <a:prstGeom prst="rect">
            <a:avLst/>
          </a:prstGeom>
          <a:solidFill>
            <a:srgbClr val="FFFFFF"/>
          </a:solidFill>
          <a:ln w="3810">
            <a:solidFill>
              <a:srgbClr val="E2E8F0"/>
            </a:solidFill>
            <a:prstDash val="solid"/>
          </a:ln>
        </p:spPr>
        <p:txBody>
          <a:bodyPr/>
          <a:lstStyle/>
          <a:p>
            <a:endParaRPr lang="en-IN"/>
          </a:p>
        </p:txBody>
      </p:sp>
      <p:sp>
        <p:nvSpPr>
          <p:cNvPr id="79" name="Text 77"/>
          <p:cNvSpPr/>
          <p:nvPr/>
        </p:nvSpPr>
        <p:spPr>
          <a:xfrm>
            <a:off x="3557016" y="4096512"/>
            <a:ext cx="100584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0.954</a:t>
            </a:r>
            <a:endParaRPr lang="en-US" sz="950" dirty="0"/>
          </a:p>
        </p:txBody>
      </p:sp>
      <p:sp>
        <p:nvSpPr>
          <p:cNvPr id="80" name="Shape 78"/>
          <p:cNvSpPr/>
          <p:nvPr/>
        </p:nvSpPr>
        <p:spPr>
          <a:xfrm>
            <a:off x="4626864" y="4096512"/>
            <a:ext cx="1097280" cy="274320"/>
          </a:xfrm>
          <a:prstGeom prst="rect">
            <a:avLst/>
          </a:prstGeom>
          <a:solidFill>
            <a:srgbClr val="FFFFFF"/>
          </a:solidFill>
          <a:ln w="3810">
            <a:solidFill>
              <a:srgbClr val="E2E8F0"/>
            </a:solidFill>
            <a:prstDash val="solid"/>
          </a:ln>
        </p:spPr>
        <p:txBody>
          <a:bodyPr/>
          <a:lstStyle/>
          <a:p>
            <a:endParaRPr lang="en-IN"/>
          </a:p>
        </p:txBody>
      </p:sp>
      <p:sp>
        <p:nvSpPr>
          <p:cNvPr id="81" name="Text 79"/>
          <p:cNvSpPr/>
          <p:nvPr/>
        </p:nvSpPr>
        <p:spPr>
          <a:xfrm>
            <a:off x="4672584" y="4096512"/>
            <a:ext cx="100584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0.963</a:t>
            </a:r>
            <a:endParaRPr lang="en-US" sz="950" dirty="0"/>
          </a:p>
        </p:txBody>
      </p:sp>
      <p:sp>
        <p:nvSpPr>
          <p:cNvPr id="82" name="Shape 80"/>
          <p:cNvSpPr/>
          <p:nvPr/>
        </p:nvSpPr>
        <p:spPr>
          <a:xfrm>
            <a:off x="5742432" y="4096512"/>
            <a:ext cx="1097280" cy="274320"/>
          </a:xfrm>
          <a:prstGeom prst="rect">
            <a:avLst/>
          </a:prstGeom>
          <a:solidFill>
            <a:srgbClr val="FFFFFF"/>
          </a:solidFill>
          <a:ln w="3810">
            <a:solidFill>
              <a:srgbClr val="E2E8F0"/>
            </a:solidFill>
            <a:prstDash val="solid"/>
          </a:ln>
        </p:spPr>
        <p:txBody>
          <a:bodyPr/>
          <a:lstStyle/>
          <a:p>
            <a:endParaRPr lang="en-IN"/>
          </a:p>
        </p:txBody>
      </p:sp>
      <p:sp>
        <p:nvSpPr>
          <p:cNvPr id="83" name="Text 81"/>
          <p:cNvSpPr/>
          <p:nvPr/>
        </p:nvSpPr>
        <p:spPr>
          <a:xfrm>
            <a:off x="5788152" y="4096512"/>
            <a:ext cx="100584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0.959</a:t>
            </a:r>
            <a:endParaRPr lang="en-US" sz="950" dirty="0"/>
          </a:p>
        </p:txBody>
      </p:sp>
      <p:sp>
        <p:nvSpPr>
          <p:cNvPr id="84" name="Shape 82"/>
          <p:cNvSpPr/>
          <p:nvPr/>
        </p:nvSpPr>
        <p:spPr>
          <a:xfrm>
            <a:off x="6858000" y="4096512"/>
            <a:ext cx="1234440" cy="274320"/>
          </a:xfrm>
          <a:prstGeom prst="rect">
            <a:avLst/>
          </a:prstGeom>
          <a:solidFill>
            <a:srgbClr val="FFFFFF"/>
          </a:solidFill>
          <a:ln w="3810">
            <a:solidFill>
              <a:srgbClr val="E2E8F0"/>
            </a:solidFill>
            <a:prstDash val="solid"/>
          </a:ln>
        </p:spPr>
        <p:txBody>
          <a:bodyPr/>
          <a:lstStyle/>
          <a:p>
            <a:endParaRPr lang="en-IN"/>
          </a:p>
        </p:txBody>
      </p:sp>
      <p:sp>
        <p:nvSpPr>
          <p:cNvPr id="85" name="Text 83"/>
          <p:cNvSpPr/>
          <p:nvPr/>
        </p:nvSpPr>
        <p:spPr>
          <a:xfrm>
            <a:off x="6903720" y="4096512"/>
            <a:ext cx="114300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10,685</a:t>
            </a:r>
            <a:endParaRPr lang="en-US" sz="950" dirty="0"/>
          </a:p>
        </p:txBody>
      </p:sp>
      <p:sp>
        <p:nvSpPr>
          <p:cNvPr id="86" name="Shape 84"/>
          <p:cNvSpPr/>
          <p:nvPr/>
        </p:nvSpPr>
        <p:spPr>
          <a:xfrm>
            <a:off x="320040" y="4389120"/>
            <a:ext cx="2011680" cy="274320"/>
          </a:xfrm>
          <a:prstGeom prst="rect">
            <a:avLst/>
          </a:prstGeom>
          <a:solidFill>
            <a:srgbClr val="E8F4F8"/>
          </a:solidFill>
          <a:ln w="3810">
            <a:solidFill>
              <a:srgbClr val="E2E8F0"/>
            </a:solidFill>
            <a:prstDash val="solid"/>
          </a:ln>
        </p:spPr>
        <p:txBody>
          <a:bodyPr/>
          <a:lstStyle/>
          <a:p>
            <a:endParaRPr lang="en-IN"/>
          </a:p>
        </p:txBody>
      </p:sp>
      <p:sp>
        <p:nvSpPr>
          <p:cNvPr id="87" name="Text 85"/>
          <p:cNvSpPr/>
          <p:nvPr/>
        </p:nvSpPr>
        <p:spPr>
          <a:xfrm>
            <a:off x="365760" y="4389120"/>
            <a:ext cx="192024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k-NN</a:t>
            </a:r>
            <a:endParaRPr lang="en-US" sz="950" dirty="0"/>
          </a:p>
        </p:txBody>
      </p:sp>
      <p:sp>
        <p:nvSpPr>
          <p:cNvPr id="88" name="Shape 86"/>
          <p:cNvSpPr/>
          <p:nvPr/>
        </p:nvSpPr>
        <p:spPr>
          <a:xfrm>
            <a:off x="2350008" y="4389120"/>
            <a:ext cx="1143000" cy="274320"/>
          </a:xfrm>
          <a:prstGeom prst="rect">
            <a:avLst/>
          </a:prstGeom>
          <a:solidFill>
            <a:srgbClr val="E8F4F8"/>
          </a:solidFill>
          <a:ln w="3810">
            <a:solidFill>
              <a:srgbClr val="E2E8F0"/>
            </a:solidFill>
            <a:prstDash val="solid"/>
          </a:ln>
        </p:spPr>
        <p:txBody>
          <a:bodyPr/>
          <a:lstStyle/>
          <a:p>
            <a:endParaRPr lang="en-IN"/>
          </a:p>
        </p:txBody>
      </p:sp>
      <p:sp>
        <p:nvSpPr>
          <p:cNvPr id="89" name="Text 87"/>
          <p:cNvSpPr/>
          <p:nvPr/>
        </p:nvSpPr>
        <p:spPr>
          <a:xfrm>
            <a:off x="2395728" y="4389120"/>
            <a:ext cx="105156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malicious</a:t>
            </a:r>
            <a:endParaRPr lang="en-US" sz="950" dirty="0"/>
          </a:p>
        </p:txBody>
      </p:sp>
      <p:sp>
        <p:nvSpPr>
          <p:cNvPr id="90" name="Shape 88"/>
          <p:cNvSpPr/>
          <p:nvPr/>
        </p:nvSpPr>
        <p:spPr>
          <a:xfrm>
            <a:off x="3511296" y="4389120"/>
            <a:ext cx="1097280" cy="274320"/>
          </a:xfrm>
          <a:prstGeom prst="rect">
            <a:avLst/>
          </a:prstGeom>
          <a:solidFill>
            <a:srgbClr val="E8F4F8"/>
          </a:solidFill>
          <a:ln w="3810">
            <a:solidFill>
              <a:srgbClr val="E2E8F0"/>
            </a:solidFill>
            <a:prstDash val="solid"/>
          </a:ln>
        </p:spPr>
        <p:txBody>
          <a:bodyPr/>
          <a:lstStyle/>
          <a:p>
            <a:endParaRPr lang="en-IN"/>
          </a:p>
        </p:txBody>
      </p:sp>
      <p:sp>
        <p:nvSpPr>
          <p:cNvPr id="91" name="Text 89"/>
          <p:cNvSpPr/>
          <p:nvPr/>
        </p:nvSpPr>
        <p:spPr>
          <a:xfrm>
            <a:off x="3557016" y="4389120"/>
            <a:ext cx="100584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0.924</a:t>
            </a:r>
            <a:endParaRPr lang="en-US" sz="950" dirty="0"/>
          </a:p>
        </p:txBody>
      </p:sp>
      <p:sp>
        <p:nvSpPr>
          <p:cNvPr id="92" name="Shape 90"/>
          <p:cNvSpPr/>
          <p:nvPr/>
        </p:nvSpPr>
        <p:spPr>
          <a:xfrm>
            <a:off x="4626864" y="4389120"/>
            <a:ext cx="1097280" cy="274320"/>
          </a:xfrm>
          <a:prstGeom prst="rect">
            <a:avLst/>
          </a:prstGeom>
          <a:solidFill>
            <a:srgbClr val="E8F4F8"/>
          </a:solidFill>
          <a:ln w="3810">
            <a:solidFill>
              <a:srgbClr val="E2E8F0"/>
            </a:solidFill>
            <a:prstDash val="solid"/>
          </a:ln>
        </p:spPr>
        <p:txBody>
          <a:bodyPr/>
          <a:lstStyle/>
          <a:p>
            <a:endParaRPr lang="en-IN"/>
          </a:p>
        </p:txBody>
      </p:sp>
      <p:sp>
        <p:nvSpPr>
          <p:cNvPr id="93" name="Text 91"/>
          <p:cNvSpPr/>
          <p:nvPr/>
        </p:nvSpPr>
        <p:spPr>
          <a:xfrm>
            <a:off x="4672584" y="4389120"/>
            <a:ext cx="100584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0.907</a:t>
            </a:r>
            <a:endParaRPr lang="en-US" sz="950" dirty="0"/>
          </a:p>
        </p:txBody>
      </p:sp>
      <p:sp>
        <p:nvSpPr>
          <p:cNvPr id="94" name="Shape 92"/>
          <p:cNvSpPr/>
          <p:nvPr/>
        </p:nvSpPr>
        <p:spPr>
          <a:xfrm>
            <a:off x="5742432" y="4389120"/>
            <a:ext cx="1097280" cy="274320"/>
          </a:xfrm>
          <a:prstGeom prst="rect">
            <a:avLst/>
          </a:prstGeom>
          <a:solidFill>
            <a:srgbClr val="E8F4F8"/>
          </a:solidFill>
          <a:ln w="3810">
            <a:solidFill>
              <a:srgbClr val="E2E8F0"/>
            </a:solidFill>
            <a:prstDash val="solid"/>
          </a:ln>
        </p:spPr>
        <p:txBody>
          <a:bodyPr/>
          <a:lstStyle/>
          <a:p>
            <a:endParaRPr lang="en-IN"/>
          </a:p>
        </p:txBody>
      </p:sp>
      <p:sp>
        <p:nvSpPr>
          <p:cNvPr id="95" name="Text 93"/>
          <p:cNvSpPr/>
          <p:nvPr/>
        </p:nvSpPr>
        <p:spPr>
          <a:xfrm>
            <a:off x="5788152" y="4389120"/>
            <a:ext cx="100584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0.916</a:t>
            </a:r>
            <a:endParaRPr lang="en-US" sz="950" dirty="0"/>
          </a:p>
        </p:txBody>
      </p:sp>
      <p:sp>
        <p:nvSpPr>
          <p:cNvPr id="96" name="Shape 94"/>
          <p:cNvSpPr/>
          <p:nvPr/>
        </p:nvSpPr>
        <p:spPr>
          <a:xfrm>
            <a:off x="6858000" y="4389120"/>
            <a:ext cx="1234440" cy="274320"/>
          </a:xfrm>
          <a:prstGeom prst="rect">
            <a:avLst/>
          </a:prstGeom>
          <a:solidFill>
            <a:srgbClr val="E8F4F8"/>
          </a:solidFill>
          <a:ln w="3810">
            <a:solidFill>
              <a:srgbClr val="E2E8F0"/>
            </a:solidFill>
            <a:prstDash val="solid"/>
          </a:ln>
        </p:spPr>
        <p:txBody>
          <a:bodyPr/>
          <a:lstStyle/>
          <a:p>
            <a:endParaRPr lang="en-IN"/>
          </a:p>
        </p:txBody>
      </p:sp>
      <p:sp>
        <p:nvSpPr>
          <p:cNvPr id="97" name="Text 95"/>
          <p:cNvSpPr/>
          <p:nvPr/>
        </p:nvSpPr>
        <p:spPr>
          <a:xfrm>
            <a:off x="6903720" y="4389120"/>
            <a:ext cx="114300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5,315</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a:effectLst/>
      </p:bgPr>
    </p:bg>
    <p:spTree>
      <p:nvGrpSpPr>
        <p:cNvPr id="1" name=""/>
        <p:cNvGrpSpPr/>
        <p:nvPr/>
      </p:nvGrpSpPr>
      <p:grpSpPr>
        <a:xfrm>
          <a:off x="0" y="0"/>
          <a:ext cx="0" cy="0"/>
          <a:chOff x="0" y="0"/>
          <a:chExt cx="0" cy="0"/>
        </a:xfrm>
      </p:grpSpPr>
      <p:sp>
        <p:nvSpPr>
          <p:cNvPr id="2" name="Hdr"/>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HdrTxt"/>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rPr>
              <a:t>Reading the Binary Results: What Each Number Means</a:t>
            </a:r>
          </a:p>
        </p:txBody>
      </p:sp>
      <p:sp>
        <p:nvSpPr>
          <p:cNvPr id="4" name="Ftr"/>
          <p:cNvSpPr/>
          <p:nvPr/>
        </p:nvSpPr>
        <p:spPr>
          <a:xfrm>
            <a:off x="0" y="4892040"/>
            <a:ext cx="9144000" cy="251460"/>
          </a:xfrm>
          <a:prstGeom prst="rect">
            <a:avLst/>
          </a:prstGeom>
          <a:solidFill>
            <a:srgbClr val="1B2A41"/>
          </a:solidFill>
          <a:ln w="12700">
            <a:solidFill>
              <a:srgbClr val="1B2A41"/>
            </a:solidFill>
            <a:prstDash val="solid"/>
          </a:ln>
        </p:spPr>
        <p:txBody>
          <a:bodyPr/>
          <a:lstStyle/>
          <a:p>
            <a:endParaRPr lang="en-US"/>
          </a:p>
        </p:txBody>
      </p:sp>
      <p:sp>
        <p:nvSpPr>
          <p:cNvPr id="5" name="FtrTxt"/>
          <p:cNvSpPr/>
          <p:nvPr/>
        </p:nvSpPr>
        <p:spPr>
          <a:xfrm>
            <a:off x="274320" y="4892040"/>
            <a:ext cx="8595360" cy="251460"/>
          </a:xfrm>
          <a:prstGeom prst="rect">
            <a:avLst/>
          </a:prstGeom>
          <a:noFill/>
          <a:ln/>
        </p:spPr>
        <p:txBody>
          <a:bodyPr wrap="square" lIns="0" tIns="0" rIns="0" bIns="0" rtlCol="0" anchor="ctr"/>
          <a:lstStyle/>
          <a:p>
            <a:pPr marL="0" indent="0">
              <a:buNone/>
            </a:pPr>
            <a:r>
              <a:rPr lang="en-US" sz="800" dirty="0">
                <a:solidFill>
                  <a:srgbClr val="CADCFC"/>
                </a:solidFill>
                <a:latin typeface="Calibri" pitchFamily="34" charset="0"/>
              </a:rPr>
              <a:t>Malicious URL Detection  ·  Lexical Features Only  |  Binary Classification</a:t>
            </a:r>
          </a:p>
        </p:txBody>
      </p:sp>
      <p:sp>
        <p:nvSpPr>
          <p:cNvPr id="6" name="Intro"/>
          <p:cNvSpPr/>
          <p:nvPr/>
        </p:nvSpPr>
        <p:spPr>
          <a:xfrm>
            <a:off x="320040" y="730000"/>
            <a:ext cx="8503920" cy="2800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rPr>
              <a:t>The previous slide shows these metrics for k-NN and Logistic Regression. Here is how to read them.</a:t>
            </a:r>
          </a:p>
        </p:txBody>
      </p:sp>
      <p:sp>
        <p:nvSpPr>
          <p:cNvPr id="7" name="Card1"/>
          <p:cNvSpPr/>
          <p:nvPr/>
        </p:nvSpPr>
        <p:spPr>
          <a:xfrm>
            <a:off x="320040" y="1080000"/>
            <a:ext cx="4000000" cy="840000"/>
          </a:xfrm>
          <a:prstGeom prst="rect">
            <a:avLst/>
          </a:prstGeom>
          <a:solidFill>
            <a:srgbClr val="E8F4F8"/>
          </a:solidFill>
          <a:ln w="9525">
            <a:solidFill>
              <a:srgbClr val="028090"/>
            </a:solidFill>
            <a:prstDash val="solid"/>
          </a:ln>
          <a:effectLst>
            <a:outerShdw blurRad="101600" dist="38100" dir="8100000" algn="bl" rotWithShape="0">
              <a:srgbClr val="000000">
                <a:alpha val="12000"/>
              </a:srgbClr>
            </a:outerShdw>
          </a:effectLst>
        </p:spPr>
        <p:txBody>
          <a:bodyPr wrap="square" lIns="91440" tIns="91440" rIns="91440" bIns="91440" rtlCol="0" anchor="t"/>
          <a:lstStyle/>
          <a:p>
            <a:pPr marL="0" indent="0">
              <a:buNone/>
            </a:pPr>
            <a:r>
              <a:rPr lang="en-US" sz="1100" b="1" dirty="0">
                <a:solidFill>
                  <a:srgbClr val="028090"/>
                </a:solidFill>
                <a:latin typeface="Calibri" pitchFamily="34" charset="0"/>
              </a:rPr>
              <a:t>Balanced Accuracy</a:t>
            </a:r>
          </a:p>
          <a:p>
            <a:pPr marL="0" indent="0">
              <a:buNone/>
            </a:pPr>
            <a:r>
              <a:rPr lang="en-US" sz="950" dirty="0">
                <a:solidFill>
                  <a:srgbClr val="334155"/>
                </a:solidFill>
                <a:latin typeface="Calibri" pitchFamily="34" charset="0"/>
              </a:rPr>
              <a:t>Average of recall on benign and recall on malicious. Higher = better on both classes. k-NN: 0.935, LR: 0.843.</a:t>
            </a:r>
          </a:p>
        </p:txBody>
      </p:sp>
      <p:sp>
        <p:nvSpPr>
          <p:cNvPr id="8" name="Card2"/>
          <p:cNvSpPr/>
          <p:nvPr/>
        </p:nvSpPr>
        <p:spPr>
          <a:xfrm>
            <a:off x="4823960" y="1080000"/>
            <a:ext cx="4000000" cy="840000"/>
          </a:xfrm>
          <a:prstGeom prst="rect">
            <a:avLst/>
          </a:prstGeom>
          <a:solidFill>
            <a:srgbClr val="E8F4F8"/>
          </a:solidFill>
          <a:ln w="9525">
            <a:solidFill>
              <a:srgbClr val="028090"/>
            </a:solidFill>
            <a:prstDash val="solid"/>
          </a:ln>
          <a:effectLst>
            <a:outerShdw blurRad="101600" dist="38100" dir="8100000" algn="bl" rotWithShape="0">
              <a:srgbClr val="000000">
                <a:alpha val="12000"/>
              </a:srgbClr>
            </a:outerShdw>
          </a:effectLst>
        </p:spPr>
        <p:txBody>
          <a:bodyPr wrap="square" lIns="91440" tIns="91440" rIns="91440" bIns="91440" rtlCol="0" anchor="t"/>
          <a:lstStyle/>
          <a:p>
            <a:pPr marL="0" indent="0">
              <a:buNone/>
            </a:pPr>
            <a:r>
              <a:rPr lang="en-US" sz="1100" b="1" dirty="0">
                <a:solidFill>
                  <a:srgbClr val="028090"/>
                </a:solidFill>
                <a:latin typeface="Calibri" pitchFamily="34" charset="0"/>
              </a:rPr>
              <a:t>Macro F1</a:t>
            </a:r>
          </a:p>
          <a:p>
            <a:pPr marL="0" indent="0">
              <a:buNone/>
            </a:pPr>
            <a:r>
              <a:rPr lang="en-US" sz="950" dirty="0">
                <a:solidFill>
                  <a:srgbClr val="334155"/>
                </a:solidFill>
                <a:latin typeface="Calibri" pitchFamily="34" charset="0"/>
              </a:rPr>
              <a:t>Average F1 across both classes, weighted equally. Balances precision and recall. k-NN: 0.937, LR: 0.844.</a:t>
            </a:r>
          </a:p>
        </p:txBody>
      </p:sp>
      <p:sp>
        <p:nvSpPr>
          <p:cNvPr id="9" name="Card3"/>
          <p:cNvSpPr/>
          <p:nvPr/>
        </p:nvSpPr>
        <p:spPr>
          <a:xfrm>
            <a:off x="320040" y="2020000"/>
            <a:ext cx="4000000" cy="840000"/>
          </a:xfrm>
          <a:prstGeom prst="rect">
            <a:avLst/>
          </a:prstGeom>
          <a:solidFill>
            <a:srgbClr val="E8F4F8"/>
          </a:solidFill>
          <a:ln w="9525">
            <a:solidFill>
              <a:srgbClr val="028090"/>
            </a:solidFill>
            <a:prstDash val="solid"/>
          </a:ln>
          <a:effectLst>
            <a:outerShdw blurRad="101600" dist="38100" dir="8100000" algn="bl" rotWithShape="0">
              <a:srgbClr val="000000">
                <a:alpha val="12000"/>
              </a:srgbClr>
            </a:outerShdw>
          </a:effectLst>
        </p:spPr>
        <p:txBody>
          <a:bodyPr wrap="square" lIns="91440" tIns="91440" rIns="91440" bIns="91440" rtlCol="0" anchor="t"/>
          <a:lstStyle/>
          <a:p>
            <a:pPr marL="0" indent="0">
              <a:buNone/>
            </a:pPr>
            <a:r>
              <a:rPr lang="en-US" sz="1100" b="1" dirty="0">
                <a:solidFill>
                  <a:srgbClr val="028090"/>
                </a:solidFill>
                <a:latin typeface="Calibri" pitchFamily="34" charset="0"/>
              </a:rPr>
              <a:t>Per-Class F1 (Precision, Recall, F1)</a:t>
            </a:r>
          </a:p>
          <a:p>
            <a:pPr marL="0" indent="0">
              <a:buNone/>
            </a:pPr>
            <a:r>
              <a:rPr lang="en-US" sz="950" dirty="0">
                <a:solidFill>
                  <a:srgbClr val="334155"/>
                </a:solidFill>
                <a:latin typeface="Calibri" pitchFamily="34" charset="0"/>
              </a:rPr>
              <a:t>Precision: of all URLs flagged as malicious, how many truly are? Recall: of all truly malicious URLs, how many did we catch?</a:t>
            </a:r>
          </a:p>
        </p:txBody>
      </p:sp>
      <p:sp>
        <p:nvSpPr>
          <p:cNvPr id="10" name="Card4"/>
          <p:cNvSpPr/>
          <p:nvPr/>
        </p:nvSpPr>
        <p:spPr>
          <a:xfrm>
            <a:off x="4823960" y="2020000"/>
            <a:ext cx="4000000" cy="840000"/>
          </a:xfrm>
          <a:prstGeom prst="rect">
            <a:avLst/>
          </a:prstGeom>
          <a:solidFill>
            <a:srgbClr val="E8F4F8"/>
          </a:solidFill>
          <a:ln w="9525">
            <a:solidFill>
              <a:srgbClr val="028090"/>
            </a:solidFill>
            <a:prstDash val="solid"/>
          </a:ln>
          <a:effectLst>
            <a:outerShdw blurRad="101600" dist="38100" dir="8100000" algn="bl" rotWithShape="0">
              <a:srgbClr val="000000">
                <a:alpha val="12000"/>
              </a:srgbClr>
            </a:outerShdw>
          </a:effectLst>
        </p:spPr>
        <p:txBody>
          <a:bodyPr wrap="square" lIns="91440" tIns="91440" rIns="91440" bIns="91440" rtlCol="0" anchor="t"/>
          <a:lstStyle/>
          <a:p>
            <a:pPr marL="0" indent="0">
              <a:buNone/>
            </a:pPr>
            <a:r>
              <a:rPr lang="en-US" sz="1100" b="1" dirty="0">
                <a:solidFill>
                  <a:srgbClr val="028090"/>
                </a:solidFill>
                <a:latin typeface="Calibri" pitchFamily="34" charset="0"/>
              </a:rPr>
              <a:t>Support</a:t>
            </a:r>
          </a:p>
          <a:p>
            <a:pPr marL="0" indent="0">
              <a:buNone/>
            </a:pPr>
            <a:r>
              <a:rPr lang="en-US" sz="950" dirty="0">
                <a:solidFill>
                  <a:srgbClr val="334155"/>
                </a:solidFill>
                <a:latin typeface="Calibri" pitchFamily="34" charset="0"/>
              </a:rPr>
              <a:t>Number of test URLs in that class. Benign: 10,685, Malicious: 5,315. Metrics hold even on 16K held-out URLs not seen during training.</a:t>
            </a:r>
          </a:p>
        </p:txBody>
      </p:sp>
      <p:sp>
        <p:nvSpPr>
          <p:cNvPr id="11" name="Takeaway"/>
          <p:cNvSpPr/>
          <p:nvPr/>
        </p:nvSpPr>
        <p:spPr>
          <a:xfrm>
            <a:off x="320040" y="3000000"/>
            <a:ext cx="8503920" cy="560000"/>
          </a:xfrm>
          <a:prstGeom prst="rect">
            <a:avLst/>
          </a:prstGeom>
          <a:solidFill>
            <a:srgbClr val="CADCFC"/>
          </a:solidFill>
          <a:ln w="9525">
            <a:solidFill>
              <a:srgbClr val="1B2A41"/>
            </a:solidFill>
            <a:prstDash val="solid"/>
          </a:ln>
        </p:spPr>
        <p:txBody>
          <a:bodyPr wrap="square" lIns="91440" tIns="91440" rIns="91440" bIns="91440" rtlCol="0" anchor="ctr"/>
          <a:lstStyle/>
          <a:p>
            <a:pPr marL="0" indent="0">
              <a:buNone/>
            </a:pPr>
            <a:r>
              <a:rPr lang="en-US" sz="1050" b="1" i="1" dirty="0">
                <a:solidFill>
                  <a:srgbClr val="0D1B2A"/>
                </a:solidFill>
                <a:latin typeface="Calibri" pitchFamily="34" charset="0"/>
              </a:rPr>
              <a:t>k-NN leads on all metrics. Logistic Regression is weaker on prediction but far easier to interpret — that trade-off is why we keep both.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What Drives the Binary Decision? Logistic Regression Coefficients</a:t>
            </a:r>
            <a:endParaRPr lang="en-US" sz="2000" dirty="0"/>
          </a:p>
        </p:txBody>
      </p:sp>
      <p:sp>
        <p:nvSpPr>
          <p:cNvPr id="4" name="Shape 2"/>
          <p:cNvSpPr/>
          <p:nvPr/>
        </p:nvSpPr>
        <p:spPr>
          <a:xfrm>
            <a:off x="0" y="4892040"/>
            <a:ext cx="9144000" cy="251460"/>
          </a:xfrm>
          <a:prstGeom prst="rect">
            <a:avLst/>
          </a:prstGeom>
          <a:solidFill>
            <a:srgbClr val="1B2A41"/>
          </a:solidFill>
          <a:ln w="12700">
            <a:solidFill>
              <a:srgbClr val="1B2A41"/>
            </a:solidFill>
            <a:prstDash val="solid"/>
          </a:ln>
        </p:spPr>
        <p:txBody>
          <a:bodyPr/>
          <a:lstStyle/>
          <a:p>
            <a:endParaRPr lang="en-IN"/>
          </a:p>
        </p:txBody>
      </p:sp>
      <p:sp>
        <p:nvSpPr>
          <p:cNvPr id="5" name="Text 3"/>
          <p:cNvSpPr/>
          <p:nvPr/>
        </p:nvSpPr>
        <p:spPr>
          <a:xfrm>
            <a:off x="274320" y="4892040"/>
            <a:ext cx="8595360" cy="251460"/>
          </a:xfrm>
          <a:prstGeom prst="rect">
            <a:avLst/>
          </a:prstGeom>
          <a:noFill/>
          <a:ln/>
        </p:spPr>
        <p:txBody>
          <a:bodyPr wrap="square" lIns="0" tIns="0" rIns="0" bIns="0" rtlCol="0" anchor="ctr"/>
          <a:lstStyle/>
          <a:p>
            <a:pPr marL="0" indent="0">
              <a:buNone/>
            </a:pPr>
            <a:r>
              <a:rPr lang="en-US" sz="800" dirty="0">
                <a:solidFill>
                  <a:srgbClr val="CADCFC"/>
                </a:solidFill>
                <a:latin typeface="Calibri" pitchFamily="34" charset="0"/>
                <a:ea typeface="Calibri" pitchFamily="34" charset="-122"/>
                <a:cs typeface="Calibri" pitchFamily="34" charset="-120"/>
              </a:rPr>
              <a:t>Malicious URL Detection · Lexical Features Only  |  Binary Classification — Interpretation</a:t>
            </a:r>
            <a:endParaRPr lang="en-US" sz="800" dirty="0"/>
          </a:p>
        </p:txBody>
      </p:sp>
      <p:sp>
        <p:nvSpPr>
          <p:cNvPr id="6" name="Text 4"/>
          <p:cNvSpPr/>
          <p:nvPr/>
        </p:nvSpPr>
        <p:spPr>
          <a:xfrm>
            <a:off x="320040" y="749808"/>
            <a:ext cx="850392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Features sorted by absolute coefficient magnitude (larger = more influential). Numeric features: per 1 SD increase. Binary features: present vs. absent.</a:t>
            </a:r>
            <a:endParaRPr lang="en-US" sz="1000" dirty="0"/>
          </a:p>
        </p:txBody>
      </p:sp>
      <p:sp>
        <p:nvSpPr>
          <p:cNvPr id="7" name="Shape 5"/>
          <p:cNvSpPr/>
          <p:nvPr/>
        </p:nvSpPr>
        <p:spPr>
          <a:xfrm>
            <a:off x="4572000" y="1115568"/>
            <a:ext cx="0" cy="3547872"/>
          </a:xfrm>
          <a:prstGeom prst="line">
            <a:avLst/>
          </a:prstGeom>
          <a:noFill/>
          <a:ln w="9525">
            <a:solidFill>
              <a:srgbClr val="334155"/>
            </a:solidFill>
            <a:prstDash val="solid"/>
          </a:ln>
        </p:spPr>
        <p:txBody>
          <a:bodyPr/>
          <a:lstStyle/>
          <a:p>
            <a:endParaRPr lang="en-IN"/>
          </a:p>
        </p:txBody>
      </p:sp>
      <p:sp>
        <p:nvSpPr>
          <p:cNvPr id="8" name="Text 6"/>
          <p:cNvSpPr/>
          <p:nvPr/>
        </p:nvSpPr>
        <p:spPr>
          <a:xfrm>
            <a:off x="914400" y="1005840"/>
            <a:ext cx="3200400" cy="201168"/>
          </a:xfrm>
          <a:prstGeom prst="rect">
            <a:avLst/>
          </a:prstGeom>
          <a:noFill/>
          <a:ln/>
        </p:spPr>
        <p:txBody>
          <a:bodyPr wrap="square" lIns="0" tIns="0" rIns="0" bIns="0" rtlCol="0" anchor="ctr"/>
          <a:lstStyle/>
          <a:p>
            <a:pPr marL="0" indent="0" algn="r">
              <a:buNone/>
            </a:pPr>
            <a:r>
              <a:rPr lang="en-US" sz="900" b="1" dirty="0">
                <a:solidFill>
                  <a:srgbClr val="22C55E"/>
                </a:solidFill>
                <a:latin typeface="Calibri" pitchFamily="34" charset="0"/>
                <a:ea typeface="Calibri" pitchFamily="34" charset="-122"/>
                <a:cs typeface="Calibri" pitchFamily="34" charset="-120"/>
              </a:rPr>
              <a:t>← More Benign</a:t>
            </a:r>
            <a:endParaRPr lang="en-US" sz="900" dirty="0"/>
          </a:p>
        </p:txBody>
      </p:sp>
      <p:sp>
        <p:nvSpPr>
          <p:cNvPr id="9" name="Text 7"/>
          <p:cNvSpPr/>
          <p:nvPr/>
        </p:nvSpPr>
        <p:spPr>
          <a:xfrm>
            <a:off x="4754880" y="1005840"/>
            <a:ext cx="3200400" cy="201168"/>
          </a:xfrm>
          <a:prstGeom prst="rect">
            <a:avLst/>
          </a:prstGeom>
          <a:noFill/>
          <a:ln/>
        </p:spPr>
        <p:txBody>
          <a:bodyPr wrap="square" lIns="0" tIns="0" rIns="0" bIns="0" rtlCol="0" anchor="ctr"/>
          <a:lstStyle/>
          <a:p>
            <a:pPr marL="0" indent="0" algn="l">
              <a:buNone/>
            </a:pPr>
            <a:r>
              <a:rPr lang="en-US" sz="900" b="1" dirty="0">
                <a:solidFill>
                  <a:srgbClr val="E63946"/>
                </a:solidFill>
                <a:latin typeface="Calibri" pitchFamily="34" charset="0"/>
                <a:ea typeface="Calibri" pitchFamily="34" charset="-122"/>
                <a:cs typeface="Calibri" pitchFamily="34" charset="-120"/>
              </a:rPr>
              <a:t>More Malicious →</a:t>
            </a:r>
            <a:endParaRPr lang="en-US" sz="900" dirty="0"/>
          </a:p>
        </p:txBody>
      </p:sp>
      <p:sp>
        <p:nvSpPr>
          <p:cNvPr id="10" name="Shape 8"/>
          <p:cNvSpPr/>
          <p:nvPr/>
        </p:nvSpPr>
        <p:spPr>
          <a:xfrm>
            <a:off x="4572000" y="1152144"/>
            <a:ext cx="3200400" cy="219456"/>
          </a:xfrm>
          <a:prstGeom prst="rect">
            <a:avLst/>
          </a:prstGeom>
          <a:solidFill>
            <a:srgbClr val="E63946"/>
          </a:solidFill>
          <a:ln w="12700">
            <a:solidFill>
              <a:srgbClr val="E63946"/>
            </a:solidFill>
            <a:prstDash val="solid"/>
          </a:ln>
        </p:spPr>
        <p:txBody>
          <a:bodyPr/>
          <a:lstStyle/>
          <a:p>
            <a:endParaRPr lang="en-IN"/>
          </a:p>
        </p:txBody>
      </p:sp>
      <p:sp>
        <p:nvSpPr>
          <p:cNvPr id="11" name="Text 9"/>
          <p:cNvSpPr/>
          <p:nvPr/>
        </p:nvSpPr>
        <p:spPr>
          <a:xfrm>
            <a:off x="320040" y="1133856"/>
            <a:ext cx="4114800" cy="274320"/>
          </a:xfrm>
          <a:prstGeom prst="rect">
            <a:avLst/>
          </a:prstGeom>
          <a:noFill/>
          <a:ln/>
        </p:spPr>
        <p:txBody>
          <a:bodyPr wrap="square" lIns="0" tIns="0" rIns="0" bIns="0" rtlCol="0" anchor="ctr"/>
          <a:lstStyle/>
          <a:p>
            <a:pPr marL="0" indent="0" algn="r">
              <a:buNone/>
            </a:pPr>
            <a:r>
              <a:rPr lang="en-US" sz="900" dirty="0">
                <a:solidFill>
                  <a:srgbClr val="334155"/>
                </a:solidFill>
                <a:latin typeface="Calibri" pitchFamily="34" charset="0"/>
                <a:ea typeface="Calibri" pitchFamily="34" charset="-122"/>
                <a:cs typeface="Calibri" pitchFamily="34" charset="-120"/>
              </a:rPr>
              <a:t>has_scheme</a:t>
            </a:r>
            <a:endParaRPr lang="en-US" sz="900" dirty="0"/>
          </a:p>
        </p:txBody>
      </p:sp>
      <p:sp>
        <p:nvSpPr>
          <p:cNvPr id="12" name="Text 10"/>
          <p:cNvSpPr/>
          <p:nvPr/>
        </p:nvSpPr>
        <p:spPr>
          <a:xfrm>
            <a:off x="7808976" y="1133856"/>
            <a:ext cx="457200" cy="274320"/>
          </a:xfrm>
          <a:prstGeom prst="rect">
            <a:avLst/>
          </a:prstGeom>
          <a:noFill/>
          <a:ln/>
        </p:spPr>
        <p:txBody>
          <a:bodyPr wrap="square" lIns="0" tIns="0" rIns="0" bIns="0" rtlCol="0" anchor="ctr"/>
          <a:lstStyle/>
          <a:p>
            <a:pPr marL="0" indent="0">
              <a:buNone/>
            </a:pPr>
            <a:r>
              <a:rPr lang="en-US" sz="850" b="1" dirty="0">
                <a:solidFill>
                  <a:srgbClr val="E63946"/>
                </a:solidFill>
                <a:latin typeface="Calibri" pitchFamily="34" charset="0"/>
                <a:ea typeface="Calibri" pitchFamily="34" charset="-122"/>
                <a:cs typeface="Calibri" pitchFamily="34" charset="-120"/>
              </a:rPr>
              <a:t>5.91</a:t>
            </a:r>
            <a:endParaRPr lang="en-US" sz="850" dirty="0"/>
          </a:p>
        </p:txBody>
      </p:sp>
      <p:sp>
        <p:nvSpPr>
          <p:cNvPr id="13" name="Shape 11"/>
          <p:cNvSpPr/>
          <p:nvPr/>
        </p:nvSpPr>
        <p:spPr>
          <a:xfrm>
            <a:off x="3369819" y="1435608"/>
            <a:ext cx="1202181" cy="219456"/>
          </a:xfrm>
          <a:prstGeom prst="rect">
            <a:avLst/>
          </a:prstGeom>
          <a:solidFill>
            <a:srgbClr val="22C55E"/>
          </a:solidFill>
          <a:ln w="12700">
            <a:solidFill>
              <a:srgbClr val="22C55E"/>
            </a:solidFill>
            <a:prstDash val="solid"/>
          </a:ln>
        </p:spPr>
        <p:txBody>
          <a:bodyPr/>
          <a:lstStyle/>
          <a:p>
            <a:endParaRPr lang="en-IN"/>
          </a:p>
        </p:txBody>
      </p:sp>
      <p:sp>
        <p:nvSpPr>
          <p:cNvPr id="14" name="Text 12"/>
          <p:cNvSpPr/>
          <p:nvPr/>
        </p:nvSpPr>
        <p:spPr>
          <a:xfrm>
            <a:off x="320040" y="1417320"/>
            <a:ext cx="4114800" cy="274320"/>
          </a:xfrm>
          <a:prstGeom prst="rect">
            <a:avLst/>
          </a:prstGeom>
          <a:noFill/>
          <a:ln/>
        </p:spPr>
        <p:txBody>
          <a:bodyPr wrap="square" lIns="0" tIns="0" rIns="0" bIns="0" rtlCol="0" anchor="ctr"/>
          <a:lstStyle/>
          <a:p>
            <a:pPr marL="0" indent="0" algn="r">
              <a:buNone/>
            </a:pPr>
            <a:r>
              <a:rPr lang="en-US" sz="900" dirty="0">
                <a:solidFill>
                  <a:srgbClr val="334155"/>
                </a:solidFill>
                <a:latin typeface="Calibri" pitchFamily="34" charset="0"/>
                <a:ea typeface="Calibri" pitchFamily="34" charset="-122"/>
                <a:cs typeface="Calibri" pitchFamily="34" charset="-120"/>
              </a:rPr>
              <a:t>has_percent_encoding</a:t>
            </a:r>
            <a:endParaRPr lang="en-US" sz="900" dirty="0"/>
          </a:p>
        </p:txBody>
      </p:sp>
      <p:sp>
        <p:nvSpPr>
          <p:cNvPr id="15" name="Text 13"/>
          <p:cNvSpPr/>
          <p:nvPr/>
        </p:nvSpPr>
        <p:spPr>
          <a:xfrm>
            <a:off x="2866899" y="1417320"/>
            <a:ext cx="457200" cy="274320"/>
          </a:xfrm>
          <a:prstGeom prst="rect">
            <a:avLst/>
          </a:prstGeom>
          <a:noFill/>
          <a:ln/>
        </p:spPr>
        <p:txBody>
          <a:bodyPr wrap="square" lIns="0" tIns="0" rIns="0" bIns="0" rtlCol="0" anchor="ctr"/>
          <a:lstStyle/>
          <a:p>
            <a:pPr marL="0" indent="0">
              <a:buNone/>
            </a:pPr>
            <a:r>
              <a:rPr lang="en-US" sz="850" b="1" dirty="0">
                <a:solidFill>
                  <a:srgbClr val="22C55E"/>
                </a:solidFill>
                <a:latin typeface="Calibri" pitchFamily="34" charset="0"/>
                <a:ea typeface="Calibri" pitchFamily="34" charset="-122"/>
                <a:cs typeface="Calibri" pitchFamily="34" charset="-120"/>
              </a:rPr>
              <a:t>-2.22</a:t>
            </a:r>
            <a:endParaRPr lang="en-US" sz="850" dirty="0"/>
          </a:p>
        </p:txBody>
      </p:sp>
      <p:sp>
        <p:nvSpPr>
          <p:cNvPr id="16" name="Shape 14"/>
          <p:cNvSpPr/>
          <p:nvPr/>
        </p:nvSpPr>
        <p:spPr>
          <a:xfrm>
            <a:off x="3656826" y="1719072"/>
            <a:ext cx="915174" cy="219456"/>
          </a:xfrm>
          <a:prstGeom prst="rect">
            <a:avLst/>
          </a:prstGeom>
          <a:solidFill>
            <a:srgbClr val="22C55E"/>
          </a:solidFill>
          <a:ln w="12700">
            <a:solidFill>
              <a:srgbClr val="22C55E"/>
            </a:solidFill>
            <a:prstDash val="solid"/>
          </a:ln>
        </p:spPr>
        <p:txBody>
          <a:bodyPr/>
          <a:lstStyle/>
          <a:p>
            <a:endParaRPr lang="en-IN"/>
          </a:p>
        </p:txBody>
      </p:sp>
      <p:sp>
        <p:nvSpPr>
          <p:cNvPr id="17" name="Text 15"/>
          <p:cNvSpPr/>
          <p:nvPr/>
        </p:nvSpPr>
        <p:spPr>
          <a:xfrm>
            <a:off x="320040" y="1700784"/>
            <a:ext cx="4114800" cy="274320"/>
          </a:xfrm>
          <a:prstGeom prst="rect">
            <a:avLst/>
          </a:prstGeom>
          <a:noFill/>
          <a:ln/>
        </p:spPr>
        <p:txBody>
          <a:bodyPr wrap="square" lIns="0" tIns="0" rIns="0" bIns="0" rtlCol="0" anchor="ctr"/>
          <a:lstStyle/>
          <a:p>
            <a:pPr marL="0" indent="0" algn="r">
              <a:buNone/>
            </a:pPr>
            <a:r>
              <a:rPr lang="en-US" sz="900" dirty="0">
                <a:solidFill>
                  <a:srgbClr val="334155"/>
                </a:solidFill>
                <a:latin typeface="Calibri" pitchFamily="34" charset="0"/>
                <a:ea typeface="Calibri" pitchFamily="34" charset="-122"/>
                <a:cs typeface="Calibri" pitchFamily="34" charset="-120"/>
              </a:rPr>
              <a:t>has_query</a:t>
            </a:r>
            <a:endParaRPr lang="en-US" sz="900" dirty="0"/>
          </a:p>
        </p:txBody>
      </p:sp>
      <p:sp>
        <p:nvSpPr>
          <p:cNvPr id="18" name="Text 16"/>
          <p:cNvSpPr/>
          <p:nvPr/>
        </p:nvSpPr>
        <p:spPr>
          <a:xfrm>
            <a:off x="3153906" y="1700784"/>
            <a:ext cx="457200" cy="274320"/>
          </a:xfrm>
          <a:prstGeom prst="rect">
            <a:avLst/>
          </a:prstGeom>
          <a:noFill/>
          <a:ln/>
        </p:spPr>
        <p:txBody>
          <a:bodyPr wrap="square" lIns="0" tIns="0" rIns="0" bIns="0" rtlCol="0" anchor="ctr"/>
          <a:lstStyle/>
          <a:p>
            <a:pPr marL="0" indent="0">
              <a:buNone/>
            </a:pPr>
            <a:r>
              <a:rPr lang="en-US" sz="850" b="1" dirty="0">
                <a:solidFill>
                  <a:srgbClr val="22C55E"/>
                </a:solidFill>
                <a:latin typeface="Calibri" pitchFamily="34" charset="0"/>
                <a:ea typeface="Calibri" pitchFamily="34" charset="-122"/>
                <a:cs typeface="Calibri" pitchFamily="34" charset="-120"/>
              </a:rPr>
              <a:t>-1.69</a:t>
            </a:r>
            <a:endParaRPr lang="en-US" sz="850" dirty="0"/>
          </a:p>
        </p:txBody>
      </p:sp>
      <p:sp>
        <p:nvSpPr>
          <p:cNvPr id="19" name="Shape 17"/>
          <p:cNvSpPr/>
          <p:nvPr/>
        </p:nvSpPr>
        <p:spPr>
          <a:xfrm>
            <a:off x="3765131" y="2002536"/>
            <a:ext cx="806869" cy="219456"/>
          </a:xfrm>
          <a:prstGeom prst="rect">
            <a:avLst/>
          </a:prstGeom>
          <a:solidFill>
            <a:srgbClr val="22C55E"/>
          </a:solidFill>
          <a:ln w="12700">
            <a:solidFill>
              <a:srgbClr val="22C55E"/>
            </a:solidFill>
            <a:prstDash val="solid"/>
          </a:ln>
        </p:spPr>
        <p:txBody>
          <a:bodyPr/>
          <a:lstStyle/>
          <a:p>
            <a:endParaRPr lang="en-IN"/>
          </a:p>
        </p:txBody>
      </p:sp>
      <p:sp>
        <p:nvSpPr>
          <p:cNvPr id="20" name="Text 18"/>
          <p:cNvSpPr/>
          <p:nvPr/>
        </p:nvSpPr>
        <p:spPr>
          <a:xfrm>
            <a:off x="320040" y="1984248"/>
            <a:ext cx="4114800" cy="274320"/>
          </a:xfrm>
          <a:prstGeom prst="rect">
            <a:avLst/>
          </a:prstGeom>
          <a:noFill/>
          <a:ln/>
        </p:spPr>
        <p:txBody>
          <a:bodyPr wrap="square" lIns="0" tIns="0" rIns="0" bIns="0" rtlCol="0" anchor="ctr"/>
          <a:lstStyle/>
          <a:p>
            <a:pPr marL="0" indent="0" algn="r">
              <a:buNone/>
            </a:pPr>
            <a:r>
              <a:rPr lang="en-US" sz="900" dirty="0">
                <a:solidFill>
                  <a:srgbClr val="334155"/>
                </a:solidFill>
                <a:latin typeface="Calibri" pitchFamily="34" charset="0"/>
                <a:ea typeface="Calibri" pitchFamily="34" charset="-122"/>
                <a:cs typeface="Calibri" pitchFamily="34" charset="-120"/>
              </a:rPr>
              <a:t>path_length</a:t>
            </a:r>
            <a:endParaRPr lang="en-US" sz="900" dirty="0"/>
          </a:p>
        </p:txBody>
      </p:sp>
      <p:sp>
        <p:nvSpPr>
          <p:cNvPr id="21" name="Text 19"/>
          <p:cNvSpPr/>
          <p:nvPr/>
        </p:nvSpPr>
        <p:spPr>
          <a:xfrm>
            <a:off x="3262211" y="1984248"/>
            <a:ext cx="457200" cy="274320"/>
          </a:xfrm>
          <a:prstGeom prst="rect">
            <a:avLst/>
          </a:prstGeom>
          <a:noFill/>
          <a:ln/>
        </p:spPr>
        <p:txBody>
          <a:bodyPr wrap="square" lIns="0" tIns="0" rIns="0" bIns="0" rtlCol="0" anchor="ctr"/>
          <a:lstStyle/>
          <a:p>
            <a:pPr marL="0" indent="0">
              <a:buNone/>
            </a:pPr>
            <a:r>
              <a:rPr lang="en-US" sz="850" b="1" dirty="0">
                <a:solidFill>
                  <a:srgbClr val="22C55E"/>
                </a:solidFill>
                <a:latin typeface="Calibri" pitchFamily="34" charset="0"/>
                <a:ea typeface="Calibri" pitchFamily="34" charset="-122"/>
                <a:cs typeface="Calibri" pitchFamily="34" charset="-120"/>
              </a:rPr>
              <a:t>-1.49</a:t>
            </a:r>
            <a:endParaRPr lang="en-US" sz="850" dirty="0"/>
          </a:p>
        </p:txBody>
      </p:sp>
      <p:sp>
        <p:nvSpPr>
          <p:cNvPr id="22" name="Shape 20"/>
          <p:cNvSpPr/>
          <p:nvPr/>
        </p:nvSpPr>
        <p:spPr>
          <a:xfrm>
            <a:off x="3862605" y="2286000"/>
            <a:ext cx="709395" cy="219456"/>
          </a:xfrm>
          <a:prstGeom prst="rect">
            <a:avLst/>
          </a:prstGeom>
          <a:solidFill>
            <a:srgbClr val="22C55E"/>
          </a:solidFill>
          <a:ln w="12700">
            <a:solidFill>
              <a:srgbClr val="22C55E"/>
            </a:solidFill>
            <a:prstDash val="solid"/>
          </a:ln>
        </p:spPr>
        <p:txBody>
          <a:bodyPr/>
          <a:lstStyle/>
          <a:p>
            <a:endParaRPr lang="en-IN"/>
          </a:p>
        </p:txBody>
      </p:sp>
      <p:sp>
        <p:nvSpPr>
          <p:cNvPr id="23" name="Text 21"/>
          <p:cNvSpPr/>
          <p:nvPr/>
        </p:nvSpPr>
        <p:spPr>
          <a:xfrm>
            <a:off x="320040" y="2267712"/>
            <a:ext cx="4114800" cy="274320"/>
          </a:xfrm>
          <a:prstGeom prst="rect">
            <a:avLst/>
          </a:prstGeom>
          <a:noFill/>
          <a:ln/>
        </p:spPr>
        <p:txBody>
          <a:bodyPr wrap="square" lIns="0" tIns="0" rIns="0" bIns="0" rtlCol="0" anchor="ctr"/>
          <a:lstStyle/>
          <a:p>
            <a:pPr marL="0" indent="0" algn="r">
              <a:buNone/>
            </a:pPr>
            <a:r>
              <a:rPr lang="en-US" sz="900" dirty="0">
                <a:solidFill>
                  <a:srgbClr val="334155"/>
                </a:solidFill>
                <a:latin typeface="Calibri" pitchFamily="34" charset="0"/>
                <a:ea typeface="Calibri" pitchFamily="34" charset="-122"/>
                <a:cs typeface="Calibri" pitchFamily="34" charset="-120"/>
              </a:rPr>
              <a:t>token_login</a:t>
            </a:r>
            <a:endParaRPr lang="en-US" sz="900" dirty="0"/>
          </a:p>
        </p:txBody>
      </p:sp>
      <p:sp>
        <p:nvSpPr>
          <p:cNvPr id="24" name="Text 22"/>
          <p:cNvSpPr/>
          <p:nvPr/>
        </p:nvSpPr>
        <p:spPr>
          <a:xfrm>
            <a:off x="3359685" y="2267712"/>
            <a:ext cx="457200" cy="274320"/>
          </a:xfrm>
          <a:prstGeom prst="rect">
            <a:avLst/>
          </a:prstGeom>
          <a:noFill/>
          <a:ln/>
        </p:spPr>
        <p:txBody>
          <a:bodyPr wrap="square" lIns="0" tIns="0" rIns="0" bIns="0" rtlCol="0" anchor="ctr"/>
          <a:lstStyle/>
          <a:p>
            <a:pPr marL="0" indent="0">
              <a:buNone/>
            </a:pPr>
            <a:r>
              <a:rPr lang="en-US" sz="850" b="1" dirty="0">
                <a:solidFill>
                  <a:srgbClr val="22C55E"/>
                </a:solidFill>
                <a:latin typeface="Calibri" pitchFamily="34" charset="0"/>
                <a:ea typeface="Calibri" pitchFamily="34" charset="-122"/>
                <a:cs typeface="Calibri" pitchFamily="34" charset="-120"/>
              </a:rPr>
              <a:t>-1.31</a:t>
            </a:r>
            <a:endParaRPr lang="en-US" sz="850" dirty="0"/>
          </a:p>
        </p:txBody>
      </p:sp>
      <p:sp>
        <p:nvSpPr>
          <p:cNvPr id="25" name="Shape 23"/>
          <p:cNvSpPr/>
          <p:nvPr/>
        </p:nvSpPr>
        <p:spPr>
          <a:xfrm>
            <a:off x="4572000" y="2569464"/>
            <a:ext cx="655243" cy="219456"/>
          </a:xfrm>
          <a:prstGeom prst="rect">
            <a:avLst/>
          </a:prstGeom>
          <a:solidFill>
            <a:srgbClr val="E63946"/>
          </a:solidFill>
          <a:ln w="12700">
            <a:solidFill>
              <a:srgbClr val="E63946"/>
            </a:solidFill>
            <a:prstDash val="solid"/>
          </a:ln>
        </p:spPr>
        <p:txBody>
          <a:bodyPr/>
          <a:lstStyle/>
          <a:p>
            <a:endParaRPr lang="en-IN"/>
          </a:p>
        </p:txBody>
      </p:sp>
      <p:sp>
        <p:nvSpPr>
          <p:cNvPr id="26" name="Text 24"/>
          <p:cNvSpPr/>
          <p:nvPr/>
        </p:nvSpPr>
        <p:spPr>
          <a:xfrm>
            <a:off x="320040" y="2551176"/>
            <a:ext cx="4114800" cy="274320"/>
          </a:xfrm>
          <a:prstGeom prst="rect">
            <a:avLst/>
          </a:prstGeom>
          <a:noFill/>
          <a:ln/>
        </p:spPr>
        <p:txBody>
          <a:bodyPr wrap="square" lIns="0" tIns="0" rIns="0" bIns="0" rtlCol="0" anchor="ctr"/>
          <a:lstStyle/>
          <a:p>
            <a:pPr marL="0" indent="0" algn="r">
              <a:buNone/>
            </a:pPr>
            <a:r>
              <a:rPr lang="en-US" sz="900" dirty="0">
                <a:solidFill>
                  <a:srgbClr val="334155"/>
                </a:solidFill>
                <a:latin typeface="Calibri" pitchFamily="34" charset="0"/>
                <a:ea typeface="Calibri" pitchFamily="34" charset="-122"/>
                <a:cs typeface="Calibri" pitchFamily="34" charset="-120"/>
              </a:rPr>
              <a:t>token_verify</a:t>
            </a:r>
            <a:endParaRPr lang="en-US" sz="900" dirty="0"/>
          </a:p>
        </p:txBody>
      </p:sp>
      <p:sp>
        <p:nvSpPr>
          <p:cNvPr id="27" name="Text 25"/>
          <p:cNvSpPr/>
          <p:nvPr/>
        </p:nvSpPr>
        <p:spPr>
          <a:xfrm>
            <a:off x="5263819" y="2551176"/>
            <a:ext cx="457200" cy="274320"/>
          </a:xfrm>
          <a:prstGeom prst="rect">
            <a:avLst/>
          </a:prstGeom>
          <a:noFill/>
          <a:ln/>
        </p:spPr>
        <p:txBody>
          <a:bodyPr wrap="square" lIns="0" tIns="0" rIns="0" bIns="0" rtlCol="0" anchor="ctr"/>
          <a:lstStyle/>
          <a:p>
            <a:pPr marL="0" indent="0">
              <a:buNone/>
            </a:pPr>
            <a:r>
              <a:rPr lang="en-US" sz="850" b="1" dirty="0">
                <a:solidFill>
                  <a:srgbClr val="E63946"/>
                </a:solidFill>
                <a:latin typeface="Calibri" pitchFamily="34" charset="0"/>
                <a:ea typeface="Calibri" pitchFamily="34" charset="-122"/>
                <a:cs typeface="Calibri" pitchFamily="34" charset="-120"/>
              </a:rPr>
              <a:t>1.21</a:t>
            </a:r>
            <a:endParaRPr lang="en-US" sz="850" dirty="0"/>
          </a:p>
        </p:txBody>
      </p:sp>
      <p:sp>
        <p:nvSpPr>
          <p:cNvPr id="28" name="Shape 26"/>
          <p:cNvSpPr/>
          <p:nvPr/>
        </p:nvSpPr>
        <p:spPr>
          <a:xfrm>
            <a:off x="4572000" y="2852928"/>
            <a:ext cx="633582" cy="219456"/>
          </a:xfrm>
          <a:prstGeom prst="rect">
            <a:avLst/>
          </a:prstGeom>
          <a:solidFill>
            <a:srgbClr val="E63946"/>
          </a:solidFill>
          <a:ln w="12700">
            <a:solidFill>
              <a:srgbClr val="E63946"/>
            </a:solidFill>
            <a:prstDash val="solid"/>
          </a:ln>
        </p:spPr>
        <p:txBody>
          <a:bodyPr/>
          <a:lstStyle/>
          <a:p>
            <a:endParaRPr lang="en-IN"/>
          </a:p>
        </p:txBody>
      </p:sp>
      <p:sp>
        <p:nvSpPr>
          <p:cNvPr id="29" name="Text 27"/>
          <p:cNvSpPr/>
          <p:nvPr/>
        </p:nvSpPr>
        <p:spPr>
          <a:xfrm>
            <a:off x="320040" y="2834640"/>
            <a:ext cx="4114800" cy="274320"/>
          </a:xfrm>
          <a:prstGeom prst="rect">
            <a:avLst/>
          </a:prstGeom>
          <a:noFill/>
          <a:ln/>
        </p:spPr>
        <p:txBody>
          <a:bodyPr wrap="square" lIns="0" tIns="0" rIns="0" bIns="0" rtlCol="0" anchor="ctr"/>
          <a:lstStyle/>
          <a:p>
            <a:pPr marL="0" indent="0" algn="r">
              <a:buNone/>
            </a:pPr>
            <a:r>
              <a:rPr lang="en-US" sz="900" dirty="0">
                <a:solidFill>
                  <a:srgbClr val="334155"/>
                </a:solidFill>
                <a:latin typeface="Calibri" pitchFamily="34" charset="0"/>
                <a:ea typeface="Calibri" pitchFamily="34" charset="-122"/>
                <a:cs typeface="Calibri" pitchFamily="34" charset="-120"/>
              </a:rPr>
              <a:t>subdomain_count</a:t>
            </a:r>
            <a:endParaRPr lang="en-US" sz="900" dirty="0"/>
          </a:p>
        </p:txBody>
      </p:sp>
      <p:sp>
        <p:nvSpPr>
          <p:cNvPr id="30" name="Text 28"/>
          <p:cNvSpPr/>
          <p:nvPr/>
        </p:nvSpPr>
        <p:spPr>
          <a:xfrm>
            <a:off x="5242158" y="2834640"/>
            <a:ext cx="457200" cy="274320"/>
          </a:xfrm>
          <a:prstGeom prst="rect">
            <a:avLst/>
          </a:prstGeom>
          <a:noFill/>
          <a:ln/>
        </p:spPr>
        <p:txBody>
          <a:bodyPr wrap="square" lIns="0" tIns="0" rIns="0" bIns="0" rtlCol="0" anchor="ctr"/>
          <a:lstStyle/>
          <a:p>
            <a:pPr marL="0" indent="0">
              <a:buNone/>
            </a:pPr>
            <a:r>
              <a:rPr lang="en-US" sz="850" b="1" dirty="0">
                <a:solidFill>
                  <a:srgbClr val="E63946"/>
                </a:solidFill>
                <a:latin typeface="Calibri" pitchFamily="34" charset="0"/>
                <a:ea typeface="Calibri" pitchFamily="34" charset="-122"/>
                <a:cs typeface="Calibri" pitchFamily="34" charset="-120"/>
              </a:rPr>
              <a:t>1.17</a:t>
            </a:r>
            <a:endParaRPr lang="en-US" sz="850" dirty="0"/>
          </a:p>
        </p:txBody>
      </p:sp>
      <p:sp>
        <p:nvSpPr>
          <p:cNvPr id="31" name="Shape 29"/>
          <p:cNvSpPr/>
          <p:nvPr/>
        </p:nvSpPr>
        <p:spPr>
          <a:xfrm>
            <a:off x="4572000" y="3136392"/>
            <a:ext cx="633582" cy="219456"/>
          </a:xfrm>
          <a:prstGeom prst="rect">
            <a:avLst/>
          </a:prstGeom>
          <a:solidFill>
            <a:srgbClr val="E63946"/>
          </a:solidFill>
          <a:ln w="12700">
            <a:solidFill>
              <a:srgbClr val="E63946"/>
            </a:solidFill>
            <a:prstDash val="solid"/>
          </a:ln>
        </p:spPr>
        <p:txBody>
          <a:bodyPr/>
          <a:lstStyle/>
          <a:p>
            <a:endParaRPr lang="en-IN"/>
          </a:p>
        </p:txBody>
      </p:sp>
      <p:sp>
        <p:nvSpPr>
          <p:cNvPr id="32" name="Text 30"/>
          <p:cNvSpPr/>
          <p:nvPr/>
        </p:nvSpPr>
        <p:spPr>
          <a:xfrm>
            <a:off x="320040" y="3118104"/>
            <a:ext cx="4114800" cy="274320"/>
          </a:xfrm>
          <a:prstGeom prst="rect">
            <a:avLst/>
          </a:prstGeom>
          <a:noFill/>
          <a:ln/>
        </p:spPr>
        <p:txBody>
          <a:bodyPr wrap="square" lIns="0" tIns="0" rIns="0" bIns="0" rtlCol="0" anchor="ctr"/>
          <a:lstStyle/>
          <a:p>
            <a:pPr marL="0" indent="0" algn="r">
              <a:buNone/>
            </a:pPr>
            <a:r>
              <a:rPr lang="en-US" sz="900" dirty="0">
                <a:solidFill>
                  <a:srgbClr val="334155"/>
                </a:solidFill>
                <a:latin typeface="Calibri" pitchFamily="34" charset="0"/>
                <a:ea typeface="Calibri" pitchFamily="34" charset="-122"/>
                <a:cs typeface="Calibri" pitchFamily="34" charset="-120"/>
              </a:rPr>
              <a:t>has_at_symbol</a:t>
            </a:r>
            <a:endParaRPr lang="en-US" sz="900" dirty="0"/>
          </a:p>
        </p:txBody>
      </p:sp>
      <p:sp>
        <p:nvSpPr>
          <p:cNvPr id="33" name="Text 31"/>
          <p:cNvSpPr/>
          <p:nvPr/>
        </p:nvSpPr>
        <p:spPr>
          <a:xfrm>
            <a:off x="5242158" y="3118104"/>
            <a:ext cx="457200" cy="274320"/>
          </a:xfrm>
          <a:prstGeom prst="rect">
            <a:avLst/>
          </a:prstGeom>
          <a:noFill/>
          <a:ln/>
        </p:spPr>
        <p:txBody>
          <a:bodyPr wrap="square" lIns="0" tIns="0" rIns="0" bIns="0" rtlCol="0" anchor="ctr"/>
          <a:lstStyle/>
          <a:p>
            <a:pPr marL="0" indent="0">
              <a:buNone/>
            </a:pPr>
            <a:r>
              <a:rPr lang="en-US" sz="850" b="1" dirty="0">
                <a:solidFill>
                  <a:srgbClr val="E63946"/>
                </a:solidFill>
                <a:latin typeface="Calibri" pitchFamily="34" charset="0"/>
                <a:ea typeface="Calibri" pitchFamily="34" charset="-122"/>
                <a:cs typeface="Calibri" pitchFamily="34" charset="-120"/>
              </a:rPr>
              <a:t>1.17</a:t>
            </a:r>
            <a:endParaRPr lang="en-US" sz="850" dirty="0"/>
          </a:p>
        </p:txBody>
      </p:sp>
      <p:sp>
        <p:nvSpPr>
          <p:cNvPr id="34" name="Shape 32"/>
          <p:cNvSpPr/>
          <p:nvPr/>
        </p:nvSpPr>
        <p:spPr>
          <a:xfrm>
            <a:off x="4572000" y="3419856"/>
            <a:ext cx="492786" cy="219456"/>
          </a:xfrm>
          <a:prstGeom prst="rect">
            <a:avLst/>
          </a:prstGeom>
          <a:solidFill>
            <a:srgbClr val="E63946"/>
          </a:solidFill>
          <a:ln w="12700">
            <a:solidFill>
              <a:srgbClr val="E63946"/>
            </a:solidFill>
            <a:prstDash val="solid"/>
          </a:ln>
        </p:spPr>
        <p:txBody>
          <a:bodyPr/>
          <a:lstStyle/>
          <a:p>
            <a:endParaRPr lang="en-IN"/>
          </a:p>
        </p:txBody>
      </p:sp>
      <p:sp>
        <p:nvSpPr>
          <p:cNvPr id="35" name="Text 33"/>
          <p:cNvSpPr/>
          <p:nvPr/>
        </p:nvSpPr>
        <p:spPr>
          <a:xfrm>
            <a:off x="320040" y="3401568"/>
            <a:ext cx="4114800" cy="274320"/>
          </a:xfrm>
          <a:prstGeom prst="rect">
            <a:avLst/>
          </a:prstGeom>
          <a:noFill/>
          <a:ln/>
        </p:spPr>
        <p:txBody>
          <a:bodyPr wrap="square" lIns="0" tIns="0" rIns="0" bIns="0" rtlCol="0" anchor="ctr"/>
          <a:lstStyle/>
          <a:p>
            <a:pPr marL="0" indent="0" algn="r">
              <a:buNone/>
            </a:pPr>
            <a:r>
              <a:rPr lang="en-US" sz="900" dirty="0">
                <a:solidFill>
                  <a:srgbClr val="334155"/>
                </a:solidFill>
                <a:latin typeface="Calibri" pitchFamily="34" charset="0"/>
                <a:ea typeface="Calibri" pitchFamily="34" charset="-122"/>
                <a:cs typeface="Calibri" pitchFamily="34" charset="-120"/>
              </a:rPr>
              <a:t>url_length</a:t>
            </a:r>
            <a:endParaRPr lang="en-US" sz="900" dirty="0"/>
          </a:p>
        </p:txBody>
      </p:sp>
      <p:sp>
        <p:nvSpPr>
          <p:cNvPr id="36" name="Text 34"/>
          <p:cNvSpPr/>
          <p:nvPr/>
        </p:nvSpPr>
        <p:spPr>
          <a:xfrm>
            <a:off x="5101362" y="3401568"/>
            <a:ext cx="457200" cy="274320"/>
          </a:xfrm>
          <a:prstGeom prst="rect">
            <a:avLst/>
          </a:prstGeom>
          <a:noFill/>
          <a:ln/>
        </p:spPr>
        <p:txBody>
          <a:bodyPr wrap="square" lIns="0" tIns="0" rIns="0" bIns="0" rtlCol="0" anchor="ctr"/>
          <a:lstStyle/>
          <a:p>
            <a:pPr marL="0" indent="0">
              <a:buNone/>
            </a:pPr>
            <a:r>
              <a:rPr lang="en-US" sz="850" b="1" dirty="0">
                <a:solidFill>
                  <a:srgbClr val="E63946"/>
                </a:solidFill>
                <a:latin typeface="Calibri" pitchFamily="34" charset="0"/>
                <a:ea typeface="Calibri" pitchFamily="34" charset="-122"/>
                <a:cs typeface="Calibri" pitchFamily="34" charset="-120"/>
              </a:rPr>
              <a:t>0.91</a:t>
            </a:r>
            <a:endParaRPr lang="en-US" sz="850" dirty="0"/>
          </a:p>
        </p:txBody>
      </p:sp>
      <p:sp>
        <p:nvSpPr>
          <p:cNvPr id="37" name="Shape 35"/>
          <p:cNvSpPr/>
          <p:nvPr/>
        </p:nvSpPr>
        <p:spPr>
          <a:xfrm>
            <a:off x="4144197" y="3703320"/>
            <a:ext cx="427803" cy="219456"/>
          </a:xfrm>
          <a:prstGeom prst="rect">
            <a:avLst/>
          </a:prstGeom>
          <a:solidFill>
            <a:srgbClr val="22C55E"/>
          </a:solidFill>
          <a:ln w="12700">
            <a:solidFill>
              <a:srgbClr val="22C55E"/>
            </a:solidFill>
            <a:prstDash val="solid"/>
          </a:ln>
        </p:spPr>
        <p:txBody>
          <a:bodyPr/>
          <a:lstStyle/>
          <a:p>
            <a:endParaRPr lang="en-IN"/>
          </a:p>
        </p:txBody>
      </p:sp>
      <p:sp>
        <p:nvSpPr>
          <p:cNvPr id="38" name="Text 36"/>
          <p:cNvSpPr/>
          <p:nvPr/>
        </p:nvSpPr>
        <p:spPr>
          <a:xfrm>
            <a:off x="320040" y="3685032"/>
            <a:ext cx="4114800" cy="274320"/>
          </a:xfrm>
          <a:prstGeom prst="rect">
            <a:avLst/>
          </a:prstGeom>
          <a:noFill/>
          <a:ln/>
        </p:spPr>
        <p:txBody>
          <a:bodyPr wrap="square" lIns="0" tIns="0" rIns="0" bIns="0" rtlCol="0" anchor="ctr"/>
          <a:lstStyle/>
          <a:p>
            <a:pPr marL="0" indent="0" algn="r">
              <a:buNone/>
            </a:pPr>
            <a:r>
              <a:rPr lang="en-US" sz="900" dirty="0">
                <a:solidFill>
                  <a:srgbClr val="334155"/>
                </a:solidFill>
                <a:latin typeface="Calibri" pitchFamily="34" charset="0"/>
                <a:ea typeface="Calibri" pitchFamily="34" charset="-122"/>
                <a:cs typeface="Calibri" pitchFamily="34" charset="-120"/>
              </a:rPr>
              <a:t>host_length</a:t>
            </a:r>
            <a:endParaRPr lang="en-US" sz="900" dirty="0"/>
          </a:p>
        </p:txBody>
      </p:sp>
      <p:sp>
        <p:nvSpPr>
          <p:cNvPr id="39" name="Text 37"/>
          <p:cNvSpPr/>
          <p:nvPr/>
        </p:nvSpPr>
        <p:spPr>
          <a:xfrm>
            <a:off x="3613180" y="3678646"/>
            <a:ext cx="457200" cy="274320"/>
          </a:xfrm>
          <a:prstGeom prst="rect">
            <a:avLst/>
          </a:prstGeom>
          <a:noFill/>
          <a:ln/>
        </p:spPr>
        <p:txBody>
          <a:bodyPr wrap="square" lIns="0" tIns="0" rIns="0" bIns="0" rtlCol="0" anchor="ctr"/>
          <a:lstStyle/>
          <a:p>
            <a:pPr marL="0" indent="0">
              <a:buNone/>
            </a:pPr>
            <a:r>
              <a:rPr lang="en-US" sz="850" b="1" dirty="0">
                <a:solidFill>
                  <a:srgbClr val="22C55E"/>
                </a:solidFill>
                <a:latin typeface="Calibri" pitchFamily="34" charset="0"/>
                <a:ea typeface="Calibri" pitchFamily="34" charset="-122"/>
                <a:cs typeface="Calibri" pitchFamily="34" charset="-120"/>
              </a:rPr>
              <a:t>-0.79</a:t>
            </a:r>
            <a:endParaRPr lang="en-US" sz="850" dirty="0"/>
          </a:p>
        </p:txBody>
      </p:sp>
      <p:sp>
        <p:nvSpPr>
          <p:cNvPr id="40" name="Shape 38"/>
          <p:cNvSpPr/>
          <p:nvPr/>
        </p:nvSpPr>
        <p:spPr>
          <a:xfrm>
            <a:off x="4155027" y="3986784"/>
            <a:ext cx="416973" cy="219456"/>
          </a:xfrm>
          <a:prstGeom prst="rect">
            <a:avLst/>
          </a:prstGeom>
          <a:solidFill>
            <a:srgbClr val="22C55E"/>
          </a:solidFill>
          <a:ln w="12700">
            <a:solidFill>
              <a:srgbClr val="22C55E"/>
            </a:solidFill>
            <a:prstDash val="solid"/>
          </a:ln>
        </p:spPr>
        <p:txBody>
          <a:bodyPr/>
          <a:lstStyle/>
          <a:p>
            <a:endParaRPr lang="en-IN"/>
          </a:p>
        </p:txBody>
      </p:sp>
      <p:sp>
        <p:nvSpPr>
          <p:cNvPr id="41" name="Text 39"/>
          <p:cNvSpPr/>
          <p:nvPr/>
        </p:nvSpPr>
        <p:spPr>
          <a:xfrm>
            <a:off x="365760" y="3991574"/>
            <a:ext cx="4114800" cy="310896"/>
          </a:xfrm>
          <a:prstGeom prst="rect">
            <a:avLst/>
          </a:prstGeom>
          <a:noFill/>
          <a:ln/>
        </p:spPr>
        <p:txBody>
          <a:bodyPr wrap="square" lIns="0" tIns="0" rIns="0" bIns="0" rtlCol="0" anchor="ctr"/>
          <a:lstStyle/>
          <a:p>
            <a:pPr marL="0" indent="0" algn="r">
              <a:buNone/>
            </a:pPr>
            <a:r>
              <a:rPr lang="en-US" sz="900" dirty="0">
                <a:solidFill>
                  <a:srgbClr val="334155"/>
                </a:solidFill>
                <a:latin typeface="Calibri" pitchFamily="34" charset="0"/>
                <a:ea typeface="Calibri" pitchFamily="34" charset="-122"/>
                <a:cs typeface="Calibri" pitchFamily="34" charset="-120"/>
              </a:rPr>
              <a:t>hyphen_count</a:t>
            </a:r>
            <a:endParaRPr lang="en-US" sz="900" dirty="0"/>
          </a:p>
        </p:txBody>
      </p:sp>
      <p:sp>
        <p:nvSpPr>
          <p:cNvPr id="42" name="Text 40"/>
          <p:cNvSpPr/>
          <p:nvPr/>
        </p:nvSpPr>
        <p:spPr>
          <a:xfrm>
            <a:off x="3452379" y="3895344"/>
            <a:ext cx="341655" cy="512064"/>
          </a:xfrm>
          <a:prstGeom prst="rect">
            <a:avLst/>
          </a:prstGeom>
          <a:noFill/>
          <a:ln/>
        </p:spPr>
        <p:txBody>
          <a:bodyPr wrap="square" lIns="0" tIns="0" rIns="0" bIns="0" rtlCol="0" anchor="ctr"/>
          <a:lstStyle/>
          <a:p>
            <a:pPr marL="0" indent="0">
              <a:buNone/>
            </a:pPr>
            <a:r>
              <a:rPr lang="en-US" sz="850" b="1" dirty="0">
                <a:solidFill>
                  <a:srgbClr val="22C55E"/>
                </a:solidFill>
                <a:latin typeface="Calibri" pitchFamily="34" charset="0"/>
                <a:ea typeface="Calibri" pitchFamily="34" charset="-122"/>
                <a:cs typeface="Calibri" pitchFamily="34" charset="-120"/>
              </a:rPr>
              <a:t>-0.77</a:t>
            </a:r>
            <a:endParaRPr lang="en-US" sz="850" dirty="0"/>
          </a:p>
        </p:txBody>
      </p:sp>
      <p:sp>
        <p:nvSpPr>
          <p:cNvPr id="43" name="Shape 41"/>
          <p:cNvSpPr/>
          <p:nvPr/>
        </p:nvSpPr>
        <p:spPr>
          <a:xfrm>
            <a:off x="4573708" y="4288536"/>
            <a:ext cx="400727" cy="219456"/>
          </a:xfrm>
          <a:prstGeom prst="rect">
            <a:avLst/>
          </a:prstGeom>
          <a:solidFill>
            <a:srgbClr val="E63946"/>
          </a:solidFill>
          <a:ln w="12700">
            <a:solidFill>
              <a:srgbClr val="E63946"/>
            </a:solidFill>
            <a:prstDash val="solid"/>
          </a:ln>
        </p:spPr>
        <p:txBody>
          <a:bodyPr/>
          <a:lstStyle/>
          <a:p>
            <a:endParaRPr lang="en-IN"/>
          </a:p>
        </p:txBody>
      </p:sp>
      <p:sp>
        <p:nvSpPr>
          <p:cNvPr id="44" name="Text 42"/>
          <p:cNvSpPr/>
          <p:nvPr/>
        </p:nvSpPr>
        <p:spPr>
          <a:xfrm>
            <a:off x="320040" y="4251960"/>
            <a:ext cx="4114800" cy="274320"/>
          </a:xfrm>
          <a:prstGeom prst="rect">
            <a:avLst/>
          </a:prstGeom>
          <a:noFill/>
          <a:ln/>
        </p:spPr>
        <p:txBody>
          <a:bodyPr wrap="square" lIns="0" tIns="0" rIns="0" bIns="0" rtlCol="0" anchor="ctr"/>
          <a:lstStyle/>
          <a:p>
            <a:pPr marL="0" indent="0" algn="r">
              <a:buNone/>
            </a:pPr>
            <a:r>
              <a:rPr lang="en-US" sz="900" dirty="0">
                <a:solidFill>
                  <a:srgbClr val="334155"/>
                </a:solidFill>
                <a:latin typeface="Calibri" pitchFamily="34" charset="0"/>
                <a:ea typeface="Calibri" pitchFamily="34" charset="-122"/>
                <a:cs typeface="Calibri" pitchFamily="34" charset="-120"/>
              </a:rPr>
              <a:t>token_account</a:t>
            </a:r>
            <a:endParaRPr lang="en-US" sz="900" dirty="0"/>
          </a:p>
        </p:txBody>
      </p:sp>
      <p:sp>
        <p:nvSpPr>
          <p:cNvPr id="45" name="Text 43"/>
          <p:cNvSpPr/>
          <p:nvPr/>
        </p:nvSpPr>
        <p:spPr>
          <a:xfrm>
            <a:off x="5009303" y="4251960"/>
            <a:ext cx="457200" cy="274320"/>
          </a:xfrm>
          <a:prstGeom prst="rect">
            <a:avLst/>
          </a:prstGeom>
          <a:noFill/>
          <a:ln/>
        </p:spPr>
        <p:txBody>
          <a:bodyPr wrap="square" lIns="0" tIns="0" rIns="0" bIns="0" rtlCol="0" anchor="ctr"/>
          <a:lstStyle/>
          <a:p>
            <a:pPr marL="0" indent="0">
              <a:buNone/>
            </a:pPr>
            <a:r>
              <a:rPr lang="en-US" sz="850" b="1" dirty="0">
                <a:solidFill>
                  <a:srgbClr val="E63946"/>
                </a:solidFill>
                <a:latin typeface="Calibri" pitchFamily="34" charset="0"/>
                <a:ea typeface="Calibri" pitchFamily="34" charset="-122"/>
                <a:cs typeface="Calibri" pitchFamily="34" charset="-120"/>
              </a:rPr>
              <a:t>0.74</a:t>
            </a:r>
            <a:endParaRPr lang="en-US" sz="850" dirty="0"/>
          </a:p>
        </p:txBody>
      </p:sp>
      <p:sp>
        <p:nvSpPr>
          <p:cNvPr id="46" name="Shape 44"/>
          <p:cNvSpPr/>
          <p:nvPr/>
        </p:nvSpPr>
        <p:spPr>
          <a:xfrm>
            <a:off x="320040" y="4526280"/>
            <a:ext cx="8503920" cy="347472"/>
          </a:xfrm>
          <a:prstGeom prst="rect">
            <a:avLst/>
          </a:prstGeom>
          <a:solidFill>
            <a:srgbClr val="FEF3C7"/>
          </a:solidFill>
          <a:ln w="9525">
            <a:solidFill>
              <a:srgbClr val="F59E0B"/>
            </a:solidFill>
            <a:prstDash val="solid"/>
          </a:ln>
        </p:spPr>
        <p:txBody>
          <a:bodyPr/>
          <a:lstStyle/>
          <a:p>
            <a:endParaRPr lang="en-IN"/>
          </a:p>
        </p:txBody>
      </p:sp>
      <p:sp>
        <p:nvSpPr>
          <p:cNvPr id="47" name="Text 45"/>
          <p:cNvSpPr/>
          <p:nvPr/>
        </p:nvSpPr>
        <p:spPr>
          <a:xfrm>
            <a:off x="457200" y="4507992"/>
            <a:ext cx="8229600" cy="329184"/>
          </a:xfrm>
          <a:prstGeom prst="rect">
            <a:avLst/>
          </a:prstGeom>
          <a:noFill/>
          <a:ln/>
        </p:spPr>
        <p:txBody>
          <a:bodyPr wrap="square" rtlCol="0" anchor="ctr"/>
          <a:lstStyle/>
          <a:p>
            <a:pPr marL="0" indent="0">
              <a:buNone/>
            </a:pPr>
            <a:r>
              <a:rPr lang="en-US" sz="950" dirty="0">
                <a:solidFill>
                  <a:srgbClr val="78350F"/>
                </a:solidFill>
                <a:latin typeface="Calibri" pitchFamily="34" charset="0"/>
                <a:ea typeface="Calibri" pitchFamily="34" charset="-122"/>
                <a:cs typeface="Calibri" pitchFamily="34" charset="-120"/>
              </a:rPr>
              <a:t>These are associations in this dataset, not causal rules. 'has_scheme' being the strongest positive predictor reflects that malware and defacement URLs almost always include http/https, while most benign URLs in this dataset do not.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Multiclass Results: All 4 URL Types (Held-Out Test)</a:t>
            </a:r>
            <a:endParaRPr lang="en-US" sz="2000" dirty="0"/>
          </a:p>
        </p:txBody>
      </p:sp>
      <p:sp>
        <p:nvSpPr>
          <p:cNvPr id="4" name="Shape 2"/>
          <p:cNvSpPr/>
          <p:nvPr/>
        </p:nvSpPr>
        <p:spPr>
          <a:xfrm>
            <a:off x="0" y="4892040"/>
            <a:ext cx="9144000" cy="251460"/>
          </a:xfrm>
          <a:prstGeom prst="rect">
            <a:avLst/>
          </a:prstGeom>
          <a:solidFill>
            <a:srgbClr val="1B2A41"/>
          </a:solidFill>
          <a:ln w="12700">
            <a:solidFill>
              <a:srgbClr val="1B2A41"/>
            </a:solidFill>
            <a:prstDash val="solid"/>
          </a:ln>
        </p:spPr>
        <p:txBody>
          <a:bodyPr/>
          <a:lstStyle/>
          <a:p>
            <a:endParaRPr lang="en-IN"/>
          </a:p>
        </p:txBody>
      </p:sp>
      <p:sp>
        <p:nvSpPr>
          <p:cNvPr id="5" name="Text 3"/>
          <p:cNvSpPr/>
          <p:nvPr/>
        </p:nvSpPr>
        <p:spPr>
          <a:xfrm>
            <a:off x="274320" y="4892040"/>
            <a:ext cx="8595360" cy="251460"/>
          </a:xfrm>
          <a:prstGeom prst="rect">
            <a:avLst/>
          </a:prstGeom>
          <a:noFill/>
          <a:ln/>
        </p:spPr>
        <p:txBody>
          <a:bodyPr wrap="square" lIns="0" tIns="0" rIns="0" bIns="0" rtlCol="0" anchor="ctr"/>
          <a:lstStyle/>
          <a:p>
            <a:pPr marL="0" indent="0">
              <a:buNone/>
            </a:pPr>
            <a:r>
              <a:rPr lang="en-US" sz="800" dirty="0">
                <a:solidFill>
                  <a:srgbClr val="CADCFC"/>
                </a:solidFill>
                <a:latin typeface="Calibri" pitchFamily="34" charset="0"/>
                <a:ea typeface="Calibri" pitchFamily="34" charset="-122"/>
                <a:cs typeface="Calibri" pitchFamily="34" charset="-120"/>
              </a:rPr>
              <a:t>Malicious URL Detection · Lexical Features Only  |  Multiclass Classification — Test Performance</a:t>
            </a:r>
            <a:endParaRPr lang="en-US" sz="800" dirty="0"/>
          </a:p>
        </p:txBody>
      </p:sp>
      <p:sp>
        <p:nvSpPr>
          <p:cNvPr id="6" name="Text 4"/>
          <p:cNvSpPr/>
          <p:nvPr/>
        </p:nvSpPr>
        <p:spPr>
          <a:xfrm>
            <a:off x="320040" y="749808"/>
            <a:ext cx="8503920" cy="237744"/>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Same 80K stratified sample · 4-class problem: benign / phishing / malware / defacement</a:t>
            </a:r>
            <a:endParaRPr lang="en-US" sz="1000" dirty="0"/>
          </a:p>
        </p:txBody>
      </p:sp>
      <p:sp>
        <p:nvSpPr>
          <p:cNvPr id="7" name="Shape 5"/>
          <p:cNvSpPr/>
          <p:nvPr/>
        </p:nvSpPr>
        <p:spPr>
          <a:xfrm>
            <a:off x="228600" y="1042416"/>
            <a:ext cx="2788920" cy="1417320"/>
          </a:xfrm>
          <a:prstGeom prst="rect">
            <a:avLst/>
          </a:prstGeom>
          <a:solidFill>
            <a:srgbClr val="FFFFFF"/>
          </a:solidFill>
          <a:ln w="6350">
            <a:solidFill>
              <a:srgbClr val="D1D5DB"/>
            </a:solidFill>
            <a:prstDash val="solid"/>
          </a:ln>
          <a:effectLst>
            <a:outerShdw blurRad="101600" dist="38100" dir="8100000" algn="bl" rotWithShape="0">
              <a:srgbClr val="000000">
                <a:alpha val="12000"/>
              </a:srgbClr>
            </a:outerShdw>
          </a:effectLst>
        </p:spPr>
        <p:txBody>
          <a:bodyPr/>
          <a:lstStyle/>
          <a:p>
            <a:endParaRPr lang="en-IN"/>
          </a:p>
        </p:txBody>
      </p:sp>
      <p:sp>
        <p:nvSpPr>
          <p:cNvPr id="8" name="Shape 6"/>
          <p:cNvSpPr/>
          <p:nvPr/>
        </p:nvSpPr>
        <p:spPr>
          <a:xfrm>
            <a:off x="228600" y="1042416"/>
            <a:ext cx="2788920" cy="274320"/>
          </a:xfrm>
          <a:prstGeom prst="rect">
            <a:avLst/>
          </a:prstGeom>
          <a:solidFill>
            <a:srgbClr val="028090"/>
          </a:solidFill>
          <a:ln w="12700">
            <a:solidFill>
              <a:srgbClr val="028090"/>
            </a:solidFill>
            <a:prstDash val="solid"/>
          </a:ln>
        </p:spPr>
        <p:txBody>
          <a:bodyPr/>
          <a:lstStyle/>
          <a:p>
            <a:endParaRPr lang="en-IN"/>
          </a:p>
        </p:txBody>
      </p:sp>
      <p:sp>
        <p:nvSpPr>
          <p:cNvPr id="9" name="Text 7"/>
          <p:cNvSpPr/>
          <p:nvPr/>
        </p:nvSpPr>
        <p:spPr>
          <a:xfrm>
            <a:off x="338328" y="1042416"/>
            <a:ext cx="2569464"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k-NN</a:t>
            </a:r>
            <a:endParaRPr lang="en-US" sz="1100" dirty="0"/>
          </a:p>
        </p:txBody>
      </p:sp>
      <p:sp>
        <p:nvSpPr>
          <p:cNvPr id="10" name="Text 8"/>
          <p:cNvSpPr/>
          <p:nvPr/>
        </p:nvSpPr>
        <p:spPr>
          <a:xfrm>
            <a:off x="338328" y="1371600"/>
            <a:ext cx="128016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Balanced Acc</a:t>
            </a:r>
            <a:endParaRPr lang="en-US" sz="800" dirty="0"/>
          </a:p>
        </p:txBody>
      </p:sp>
      <p:sp>
        <p:nvSpPr>
          <p:cNvPr id="11" name="Text 9"/>
          <p:cNvSpPr/>
          <p:nvPr/>
        </p:nvSpPr>
        <p:spPr>
          <a:xfrm>
            <a:off x="338328" y="1572768"/>
            <a:ext cx="1280160" cy="274320"/>
          </a:xfrm>
          <a:prstGeom prst="rect">
            <a:avLst/>
          </a:prstGeom>
          <a:noFill/>
          <a:ln/>
        </p:spPr>
        <p:txBody>
          <a:bodyPr wrap="square" lIns="0" tIns="0" rIns="0" bIns="0" rtlCol="0" anchor="ctr"/>
          <a:lstStyle/>
          <a:p>
            <a:pPr marL="0" indent="0">
              <a:buNone/>
            </a:pPr>
            <a:r>
              <a:rPr lang="en-US" sz="1900" b="1" dirty="0">
                <a:solidFill>
                  <a:srgbClr val="028090"/>
                </a:solidFill>
                <a:latin typeface="Calibri" pitchFamily="34" charset="0"/>
                <a:ea typeface="Calibri" pitchFamily="34" charset="-122"/>
                <a:cs typeface="Calibri" pitchFamily="34" charset="-120"/>
              </a:rPr>
              <a:t>0.876</a:t>
            </a:r>
            <a:endParaRPr lang="en-US" sz="1900" dirty="0"/>
          </a:p>
        </p:txBody>
      </p:sp>
      <p:sp>
        <p:nvSpPr>
          <p:cNvPr id="12" name="Text 10"/>
          <p:cNvSpPr/>
          <p:nvPr/>
        </p:nvSpPr>
        <p:spPr>
          <a:xfrm>
            <a:off x="1737360" y="1371600"/>
            <a:ext cx="109728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Macro F1</a:t>
            </a:r>
            <a:endParaRPr lang="en-US" sz="800" dirty="0"/>
          </a:p>
        </p:txBody>
      </p:sp>
      <p:sp>
        <p:nvSpPr>
          <p:cNvPr id="13" name="Text 11"/>
          <p:cNvSpPr/>
          <p:nvPr/>
        </p:nvSpPr>
        <p:spPr>
          <a:xfrm>
            <a:off x="1737360" y="1572768"/>
            <a:ext cx="1097280" cy="274320"/>
          </a:xfrm>
          <a:prstGeom prst="rect">
            <a:avLst/>
          </a:prstGeom>
          <a:noFill/>
          <a:ln/>
        </p:spPr>
        <p:txBody>
          <a:bodyPr wrap="square" lIns="0" tIns="0" rIns="0" bIns="0" rtlCol="0" anchor="ctr"/>
          <a:lstStyle/>
          <a:p>
            <a:pPr marL="0" indent="0">
              <a:buNone/>
            </a:pPr>
            <a:r>
              <a:rPr lang="en-US" sz="1900" b="1" dirty="0">
                <a:solidFill>
                  <a:srgbClr val="028090"/>
                </a:solidFill>
                <a:latin typeface="Calibri" pitchFamily="34" charset="0"/>
                <a:ea typeface="Calibri" pitchFamily="34" charset="-122"/>
                <a:cs typeface="Calibri" pitchFamily="34" charset="-120"/>
              </a:rPr>
              <a:t>0.891</a:t>
            </a:r>
            <a:endParaRPr lang="en-US" sz="1900" dirty="0"/>
          </a:p>
        </p:txBody>
      </p:sp>
      <p:sp>
        <p:nvSpPr>
          <p:cNvPr id="14" name="Shape 12"/>
          <p:cNvSpPr/>
          <p:nvPr/>
        </p:nvSpPr>
        <p:spPr>
          <a:xfrm>
            <a:off x="338328" y="2194560"/>
            <a:ext cx="2569464" cy="201168"/>
          </a:xfrm>
          <a:prstGeom prst="rect">
            <a:avLst/>
          </a:prstGeom>
          <a:solidFill>
            <a:srgbClr val="028090"/>
          </a:solidFill>
          <a:ln w="12700">
            <a:solidFill>
              <a:srgbClr val="028090"/>
            </a:solidFill>
            <a:prstDash val="solid"/>
          </a:ln>
        </p:spPr>
        <p:txBody>
          <a:bodyPr/>
          <a:lstStyle/>
          <a:p>
            <a:endParaRPr lang="en-IN"/>
          </a:p>
        </p:txBody>
      </p:sp>
      <p:sp>
        <p:nvSpPr>
          <p:cNvPr id="15" name="Text 13"/>
          <p:cNvSpPr/>
          <p:nvPr/>
        </p:nvSpPr>
        <p:spPr>
          <a:xfrm>
            <a:off x="338328" y="2194560"/>
            <a:ext cx="2569464"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BEST PREDICTOR</a:t>
            </a:r>
            <a:endParaRPr lang="en-US" sz="850" dirty="0"/>
          </a:p>
        </p:txBody>
      </p:sp>
      <p:sp>
        <p:nvSpPr>
          <p:cNvPr id="16" name="Shape 14"/>
          <p:cNvSpPr/>
          <p:nvPr/>
        </p:nvSpPr>
        <p:spPr>
          <a:xfrm>
            <a:off x="3172968" y="1042416"/>
            <a:ext cx="2788920" cy="1417320"/>
          </a:xfrm>
          <a:prstGeom prst="rect">
            <a:avLst/>
          </a:prstGeom>
          <a:solidFill>
            <a:srgbClr val="FFFFFF"/>
          </a:solidFill>
          <a:ln w="6350">
            <a:solidFill>
              <a:srgbClr val="D1D5DB"/>
            </a:solidFill>
            <a:prstDash val="solid"/>
          </a:ln>
          <a:effectLst>
            <a:outerShdw blurRad="101600" dist="38100" dir="8100000" algn="bl" rotWithShape="0">
              <a:srgbClr val="000000">
                <a:alpha val="12000"/>
              </a:srgbClr>
            </a:outerShdw>
          </a:effectLst>
        </p:spPr>
        <p:txBody>
          <a:bodyPr/>
          <a:lstStyle/>
          <a:p>
            <a:endParaRPr lang="en-IN"/>
          </a:p>
        </p:txBody>
      </p:sp>
      <p:sp>
        <p:nvSpPr>
          <p:cNvPr id="17" name="Shape 15"/>
          <p:cNvSpPr/>
          <p:nvPr/>
        </p:nvSpPr>
        <p:spPr>
          <a:xfrm>
            <a:off x="3172968" y="1042416"/>
            <a:ext cx="2788920" cy="274320"/>
          </a:xfrm>
          <a:prstGeom prst="rect">
            <a:avLst/>
          </a:prstGeom>
          <a:solidFill>
            <a:srgbClr val="0D1B2A"/>
          </a:solidFill>
          <a:ln w="12700">
            <a:solidFill>
              <a:srgbClr val="0D1B2A"/>
            </a:solidFill>
            <a:prstDash val="solid"/>
          </a:ln>
        </p:spPr>
        <p:txBody>
          <a:bodyPr/>
          <a:lstStyle/>
          <a:p>
            <a:endParaRPr lang="en-IN"/>
          </a:p>
        </p:txBody>
      </p:sp>
      <p:sp>
        <p:nvSpPr>
          <p:cNvPr id="18" name="Text 16"/>
          <p:cNvSpPr/>
          <p:nvPr/>
        </p:nvSpPr>
        <p:spPr>
          <a:xfrm>
            <a:off x="3282696" y="1042416"/>
            <a:ext cx="2569464"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Logistic Regression</a:t>
            </a:r>
            <a:endParaRPr lang="en-US" sz="1100" dirty="0"/>
          </a:p>
        </p:txBody>
      </p:sp>
      <p:sp>
        <p:nvSpPr>
          <p:cNvPr id="19" name="Text 17"/>
          <p:cNvSpPr/>
          <p:nvPr/>
        </p:nvSpPr>
        <p:spPr>
          <a:xfrm>
            <a:off x="3282696" y="1371600"/>
            <a:ext cx="128016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Balanced Acc</a:t>
            </a:r>
            <a:endParaRPr lang="en-US" sz="800" dirty="0"/>
          </a:p>
        </p:txBody>
      </p:sp>
      <p:sp>
        <p:nvSpPr>
          <p:cNvPr id="20" name="Text 18"/>
          <p:cNvSpPr/>
          <p:nvPr/>
        </p:nvSpPr>
        <p:spPr>
          <a:xfrm>
            <a:off x="3282696" y="1572768"/>
            <a:ext cx="1280160" cy="274320"/>
          </a:xfrm>
          <a:prstGeom prst="rect">
            <a:avLst/>
          </a:prstGeom>
          <a:noFill/>
          <a:ln/>
        </p:spPr>
        <p:txBody>
          <a:bodyPr wrap="square" lIns="0" tIns="0" rIns="0" bIns="0" rtlCol="0" anchor="ctr"/>
          <a:lstStyle/>
          <a:p>
            <a:pPr marL="0" indent="0">
              <a:buNone/>
            </a:pPr>
            <a:r>
              <a:rPr lang="en-US" sz="1900" b="1" dirty="0">
                <a:solidFill>
                  <a:srgbClr val="0D1B2A"/>
                </a:solidFill>
                <a:latin typeface="Calibri" pitchFamily="34" charset="0"/>
                <a:ea typeface="Calibri" pitchFamily="34" charset="-122"/>
                <a:cs typeface="Calibri" pitchFamily="34" charset="-120"/>
              </a:rPr>
              <a:t>0.802</a:t>
            </a:r>
            <a:endParaRPr lang="en-US" sz="1900" dirty="0"/>
          </a:p>
        </p:txBody>
      </p:sp>
      <p:sp>
        <p:nvSpPr>
          <p:cNvPr id="21" name="Text 19"/>
          <p:cNvSpPr/>
          <p:nvPr/>
        </p:nvSpPr>
        <p:spPr>
          <a:xfrm>
            <a:off x="4681728" y="1371600"/>
            <a:ext cx="109728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Macro F1</a:t>
            </a:r>
            <a:endParaRPr lang="en-US" sz="800" dirty="0"/>
          </a:p>
        </p:txBody>
      </p:sp>
      <p:sp>
        <p:nvSpPr>
          <p:cNvPr id="22" name="Text 20"/>
          <p:cNvSpPr/>
          <p:nvPr/>
        </p:nvSpPr>
        <p:spPr>
          <a:xfrm>
            <a:off x="4681728" y="1572768"/>
            <a:ext cx="1097280" cy="274320"/>
          </a:xfrm>
          <a:prstGeom prst="rect">
            <a:avLst/>
          </a:prstGeom>
          <a:noFill/>
          <a:ln/>
        </p:spPr>
        <p:txBody>
          <a:bodyPr wrap="square" lIns="0" tIns="0" rIns="0" bIns="0" rtlCol="0" anchor="ctr"/>
          <a:lstStyle/>
          <a:p>
            <a:pPr marL="0" indent="0">
              <a:buNone/>
            </a:pPr>
            <a:r>
              <a:rPr lang="en-US" sz="1900" b="1" dirty="0">
                <a:solidFill>
                  <a:srgbClr val="0D1B2A"/>
                </a:solidFill>
                <a:latin typeface="Calibri" pitchFamily="34" charset="0"/>
                <a:ea typeface="Calibri" pitchFamily="34" charset="-122"/>
                <a:cs typeface="Calibri" pitchFamily="34" charset="-120"/>
              </a:rPr>
              <a:t>0.725</a:t>
            </a:r>
            <a:endParaRPr lang="en-US" sz="1900" dirty="0"/>
          </a:p>
        </p:txBody>
      </p:sp>
      <p:sp>
        <p:nvSpPr>
          <p:cNvPr id="23" name="Shape 21"/>
          <p:cNvSpPr/>
          <p:nvPr/>
        </p:nvSpPr>
        <p:spPr>
          <a:xfrm>
            <a:off x="3282696" y="2194560"/>
            <a:ext cx="2569464" cy="201168"/>
          </a:xfrm>
          <a:prstGeom prst="rect">
            <a:avLst/>
          </a:prstGeom>
          <a:solidFill>
            <a:srgbClr val="0D1B2A"/>
          </a:solidFill>
          <a:ln w="12700">
            <a:solidFill>
              <a:srgbClr val="0D1B2A"/>
            </a:solidFill>
            <a:prstDash val="solid"/>
          </a:ln>
        </p:spPr>
        <p:txBody>
          <a:bodyPr/>
          <a:lstStyle/>
          <a:p>
            <a:endParaRPr lang="en-IN"/>
          </a:p>
        </p:txBody>
      </p:sp>
      <p:sp>
        <p:nvSpPr>
          <p:cNvPr id="24" name="Text 22"/>
          <p:cNvSpPr/>
          <p:nvPr/>
        </p:nvSpPr>
        <p:spPr>
          <a:xfrm>
            <a:off x="3282696" y="2194560"/>
            <a:ext cx="2569464"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INTERPRETABLE</a:t>
            </a:r>
            <a:endParaRPr lang="en-US" sz="850" dirty="0"/>
          </a:p>
        </p:txBody>
      </p:sp>
      <p:sp>
        <p:nvSpPr>
          <p:cNvPr id="25" name="Shape 23"/>
          <p:cNvSpPr/>
          <p:nvPr/>
        </p:nvSpPr>
        <p:spPr>
          <a:xfrm>
            <a:off x="6117336" y="1042416"/>
            <a:ext cx="2788920" cy="1417320"/>
          </a:xfrm>
          <a:prstGeom prst="rect">
            <a:avLst/>
          </a:prstGeom>
          <a:solidFill>
            <a:srgbClr val="FFFFFF"/>
          </a:solidFill>
          <a:ln w="6350">
            <a:solidFill>
              <a:srgbClr val="D1D5DB"/>
            </a:solidFill>
            <a:prstDash val="solid"/>
          </a:ln>
          <a:effectLst>
            <a:outerShdw blurRad="101600" dist="38100" dir="8100000" algn="bl" rotWithShape="0">
              <a:srgbClr val="000000">
                <a:alpha val="12000"/>
              </a:srgbClr>
            </a:outerShdw>
          </a:effectLst>
        </p:spPr>
        <p:txBody>
          <a:bodyPr/>
          <a:lstStyle/>
          <a:p>
            <a:endParaRPr lang="en-IN"/>
          </a:p>
        </p:txBody>
      </p:sp>
      <p:sp>
        <p:nvSpPr>
          <p:cNvPr id="26" name="Shape 24"/>
          <p:cNvSpPr/>
          <p:nvPr/>
        </p:nvSpPr>
        <p:spPr>
          <a:xfrm>
            <a:off x="6117336" y="1042416"/>
            <a:ext cx="2788920" cy="274320"/>
          </a:xfrm>
          <a:prstGeom prst="rect">
            <a:avLst/>
          </a:prstGeom>
          <a:solidFill>
            <a:srgbClr val="E63946"/>
          </a:solidFill>
          <a:ln w="12700">
            <a:solidFill>
              <a:srgbClr val="E63946"/>
            </a:solidFill>
            <a:prstDash val="solid"/>
          </a:ln>
        </p:spPr>
        <p:txBody>
          <a:bodyPr/>
          <a:lstStyle/>
          <a:p>
            <a:endParaRPr lang="en-IN"/>
          </a:p>
        </p:txBody>
      </p:sp>
      <p:sp>
        <p:nvSpPr>
          <p:cNvPr id="27" name="Text 25"/>
          <p:cNvSpPr/>
          <p:nvPr/>
        </p:nvSpPr>
        <p:spPr>
          <a:xfrm>
            <a:off x="6227064" y="1042416"/>
            <a:ext cx="2569464"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Majority Baseline</a:t>
            </a:r>
            <a:endParaRPr lang="en-US" sz="1100" dirty="0"/>
          </a:p>
        </p:txBody>
      </p:sp>
      <p:sp>
        <p:nvSpPr>
          <p:cNvPr id="28" name="Text 26"/>
          <p:cNvSpPr/>
          <p:nvPr/>
        </p:nvSpPr>
        <p:spPr>
          <a:xfrm>
            <a:off x="6227064" y="1371600"/>
            <a:ext cx="128016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Balanced Acc</a:t>
            </a:r>
            <a:endParaRPr lang="en-US" sz="800" dirty="0"/>
          </a:p>
        </p:txBody>
      </p:sp>
      <p:sp>
        <p:nvSpPr>
          <p:cNvPr id="29" name="Text 27"/>
          <p:cNvSpPr/>
          <p:nvPr/>
        </p:nvSpPr>
        <p:spPr>
          <a:xfrm>
            <a:off x="6227064" y="1572768"/>
            <a:ext cx="1280160" cy="274320"/>
          </a:xfrm>
          <a:prstGeom prst="rect">
            <a:avLst/>
          </a:prstGeom>
          <a:noFill/>
          <a:ln/>
        </p:spPr>
        <p:txBody>
          <a:bodyPr wrap="square" lIns="0" tIns="0" rIns="0" bIns="0" rtlCol="0" anchor="ctr"/>
          <a:lstStyle/>
          <a:p>
            <a:pPr marL="0" indent="0">
              <a:buNone/>
            </a:pPr>
            <a:r>
              <a:rPr lang="en-US" sz="1900" b="1" dirty="0">
                <a:solidFill>
                  <a:srgbClr val="E63946"/>
                </a:solidFill>
                <a:latin typeface="Calibri" pitchFamily="34" charset="0"/>
                <a:ea typeface="Calibri" pitchFamily="34" charset="-122"/>
                <a:cs typeface="Calibri" pitchFamily="34" charset="-120"/>
              </a:rPr>
              <a:t>0.250</a:t>
            </a:r>
            <a:endParaRPr lang="en-US" sz="1900" dirty="0"/>
          </a:p>
        </p:txBody>
      </p:sp>
      <p:sp>
        <p:nvSpPr>
          <p:cNvPr id="30" name="Text 28"/>
          <p:cNvSpPr/>
          <p:nvPr/>
        </p:nvSpPr>
        <p:spPr>
          <a:xfrm>
            <a:off x="7626096" y="1371600"/>
            <a:ext cx="109728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Macro F1</a:t>
            </a:r>
            <a:endParaRPr lang="en-US" sz="800" dirty="0"/>
          </a:p>
        </p:txBody>
      </p:sp>
      <p:sp>
        <p:nvSpPr>
          <p:cNvPr id="31" name="Text 29"/>
          <p:cNvSpPr/>
          <p:nvPr/>
        </p:nvSpPr>
        <p:spPr>
          <a:xfrm>
            <a:off x="7626096" y="1572768"/>
            <a:ext cx="1097280" cy="274320"/>
          </a:xfrm>
          <a:prstGeom prst="rect">
            <a:avLst/>
          </a:prstGeom>
          <a:noFill/>
          <a:ln/>
        </p:spPr>
        <p:txBody>
          <a:bodyPr wrap="square" lIns="0" tIns="0" rIns="0" bIns="0" rtlCol="0" anchor="ctr"/>
          <a:lstStyle/>
          <a:p>
            <a:pPr marL="0" indent="0">
              <a:buNone/>
            </a:pPr>
            <a:r>
              <a:rPr lang="en-US" sz="1900" b="1" dirty="0">
                <a:solidFill>
                  <a:srgbClr val="E63946"/>
                </a:solidFill>
                <a:latin typeface="Calibri" pitchFamily="34" charset="0"/>
                <a:ea typeface="Calibri" pitchFamily="34" charset="-122"/>
                <a:cs typeface="Calibri" pitchFamily="34" charset="-120"/>
              </a:rPr>
              <a:t>0.200</a:t>
            </a:r>
            <a:endParaRPr lang="en-US" sz="1900" dirty="0"/>
          </a:p>
        </p:txBody>
      </p:sp>
      <p:sp>
        <p:nvSpPr>
          <p:cNvPr id="32" name="Shape 30"/>
          <p:cNvSpPr/>
          <p:nvPr/>
        </p:nvSpPr>
        <p:spPr>
          <a:xfrm>
            <a:off x="6227064" y="2194560"/>
            <a:ext cx="2569464" cy="201168"/>
          </a:xfrm>
          <a:prstGeom prst="rect">
            <a:avLst/>
          </a:prstGeom>
          <a:solidFill>
            <a:srgbClr val="E63946"/>
          </a:solidFill>
          <a:ln w="12700">
            <a:solidFill>
              <a:srgbClr val="E63946"/>
            </a:solidFill>
            <a:prstDash val="solid"/>
          </a:ln>
        </p:spPr>
        <p:txBody>
          <a:bodyPr/>
          <a:lstStyle/>
          <a:p>
            <a:endParaRPr lang="en-IN"/>
          </a:p>
        </p:txBody>
      </p:sp>
      <p:sp>
        <p:nvSpPr>
          <p:cNvPr id="33" name="Text 31"/>
          <p:cNvSpPr/>
          <p:nvPr/>
        </p:nvSpPr>
        <p:spPr>
          <a:xfrm>
            <a:off x="6227064" y="2194560"/>
            <a:ext cx="2569464"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REFERENCE</a:t>
            </a:r>
            <a:endParaRPr lang="en-US" sz="850" dirty="0"/>
          </a:p>
        </p:txBody>
      </p:sp>
      <p:sp>
        <p:nvSpPr>
          <p:cNvPr id="34" name="Text 32"/>
          <p:cNvSpPr/>
          <p:nvPr/>
        </p:nvSpPr>
        <p:spPr>
          <a:xfrm>
            <a:off x="320040" y="2578608"/>
            <a:ext cx="8503920" cy="256032"/>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Per-Class F1 Scores — The Most Important Detail:</a:t>
            </a:r>
            <a:endParaRPr lang="en-US" sz="1100" dirty="0"/>
          </a:p>
        </p:txBody>
      </p:sp>
      <p:sp>
        <p:nvSpPr>
          <p:cNvPr id="35" name="Shape 33"/>
          <p:cNvSpPr/>
          <p:nvPr/>
        </p:nvSpPr>
        <p:spPr>
          <a:xfrm>
            <a:off x="320040" y="2889504"/>
            <a:ext cx="2514600" cy="256032"/>
          </a:xfrm>
          <a:prstGeom prst="rect">
            <a:avLst/>
          </a:prstGeom>
          <a:solidFill>
            <a:srgbClr val="0D1B2A"/>
          </a:solidFill>
          <a:ln w="12700">
            <a:solidFill>
              <a:srgbClr val="0D1B2A"/>
            </a:solidFill>
            <a:prstDash val="solid"/>
          </a:ln>
        </p:spPr>
        <p:txBody>
          <a:bodyPr/>
          <a:lstStyle/>
          <a:p>
            <a:endParaRPr lang="en-IN"/>
          </a:p>
        </p:txBody>
      </p:sp>
      <p:sp>
        <p:nvSpPr>
          <p:cNvPr id="36" name="Text 34"/>
          <p:cNvSpPr/>
          <p:nvPr/>
        </p:nvSpPr>
        <p:spPr>
          <a:xfrm>
            <a:off x="365760" y="2889504"/>
            <a:ext cx="242316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Class</a:t>
            </a:r>
            <a:endParaRPr lang="en-US" sz="900" dirty="0"/>
          </a:p>
        </p:txBody>
      </p:sp>
      <p:sp>
        <p:nvSpPr>
          <p:cNvPr id="37" name="Shape 35"/>
          <p:cNvSpPr/>
          <p:nvPr/>
        </p:nvSpPr>
        <p:spPr>
          <a:xfrm>
            <a:off x="2926080" y="2889504"/>
            <a:ext cx="1828800" cy="256032"/>
          </a:xfrm>
          <a:prstGeom prst="rect">
            <a:avLst/>
          </a:prstGeom>
          <a:solidFill>
            <a:srgbClr val="0D1B2A"/>
          </a:solidFill>
          <a:ln w="12700">
            <a:solidFill>
              <a:srgbClr val="0D1B2A"/>
            </a:solidFill>
            <a:prstDash val="solid"/>
          </a:ln>
        </p:spPr>
        <p:txBody>
          <a:bodyPr/>
          <a:lstStyle/>
          <a:p>
            <a:endParaRPr lang="en-IN"/>
          </a:p>
        </p:txBody>
      </p:sp>
      <p:sp>
        <p:nvSpPr>
          <p:cNvPr id="38" name="Text 36"/>
          <p:cNvSpPr/>
          <p:nvPr/>
        </p:nvSpPr>
        <p:spPr>
          <a:xfrm>
            <a:off x="2971800" y="2889504"/>
            <a:ext cx="173736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LR F1</a:t>
            </a:r>
            <a:endParaRPr lang="en-US" sz="900" dirty="0"/>
          </a:p>
        </p:txBody>
      </p:sp>
      <p:sp>
        <p:nvSpPr>
          <p:cNvPr id="39" name="Shape 37"/>
          <p:cNvSpPr/>
          <p:nvPr/>
        </p:nvSpPr>
        <p:spPr>
          <a:xfrm>
            <a:off x="4892040" y="2889504"/>
            <a:ext cx="1828800" cy="256032"/>
          </a:xfrm>
          <a:prstGeom prst="rect">
            <a:avLst/>
          </a:prstGeom>
          <a:solidFill>
            <a:srgbClr val="0D1B2A"/>
          </a:solidFill>
          <a:ln w="12700">
            <a:solidFill>
              <a:srgbClr val="0D1B2A"/>
            </a:solidFill>
            <a:prstDash val="solid"/>
          </a:ln>
        </p:spPr>
        <p:txBody>
          <a:bodyPr/>
          <a:lstStyle/>
          <a:p>
            <a:endParaRPr lang="en-IN"/>
          </a:p>
        </p:txBody>
      </p:sp>
      <p:sp>
        <p:nvSpPr>
          <p:cNvPr id="40" name="Text 38"/>
          <p:cNvSpPr/>
          <p:nvPr/>
        </p:nvSpPr>
        <p:spPr>
          <a:xfrm>
            <a:off x="4937760" y="2889504"/>
            <a:ext cx="173736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k-NN F1</a:t>
            </a:r>
            <a:endParaRPr lang="en-US" sz="900" dirty="0"/>
          </a:p>
        </p:txBody>
      </p:sp>
      <p:sp>
        <p:nvSpPr>
          <p:cNvPr id="41" name="Shape 39"/>
          <p:cNvSpPr/>
          <p:nvPr/>
        </p:nvSpPr>
        <p:spPr>
          <a:xfrm>
            <a:off x="6766560" y="2889504"/>
            <a:ext cx="1828800" cy="256032"/>
          </a:xfrm>
          <a:prstGeom prst="rect">
            <a:avLst/>
          </a:prstGeom>
          <a:solidFill>
            <a:srgbClr val="0D1B2A"/>
          </a:solidFill>
          <a:ln w="12700">
            <a:solidFill>
              <a:srgbClr val="0D1B2A"/>
            </a:solidFill>
            <a:prstDash val="solid"/>
          </a:ln>
        </p:spPr>
        <p:txBody>
          <a:bodyPr/>
          <a:lstStyle/>
          <a:p>
            <a:endParaRPr lang="en-IN"/>
          </a:p>
        </p:txBody>
      </p:sp>
      <p:sp>
        <p:nvSpPr>
          <p:cNvPr id="42" name="Text 40"/>
          <p:cNvSpPr/>
          <p:nvPr/>
        </p:nvSpPr>
        <p:spPr>
          <a:xfrm>
            <a:off x="6812280" y="2889504"/>
            <a:ext cx="173736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Δ gain (k-NN)</a:t>
            </a:r>
            <a:endParaRPr lang="en-US" sz="900" dirty="0"/>
          </a:p>
        </p:txBody>
      </p:sp>
      <p:sp>
        <p:nvSpPr>
          <p:cNvPr id="43" name="Shape 41"/>
          <p:cNvSpPr/>
          <p:nvPr/>
        </p:nvSpPr>
        <p:spPr>
          <a:xfrm>
            <a:off x="320040" y="3145536"/>
            <a:ext cx="2514600" cy="310896"/>
          </a:xfrm>
          <a:prstGeom prst="rect">
            <a:avLst/>
          </a:prstGeom>
          <a:solidFill>
            <a:srgbClr val="F1F5F9"/>
          </a:solidFill>
          <a:ln w="3810">
            <a:solidFill>
              <a:srgbClr val="E2E8F0"/>
            </a:solidFill>
            <a:prstDash val="solid"/>
          </a:ln>
        </p:spPr>
        <p:txBody>
          <a:bodyPr/>
          <a:lstStyle/>
          <a:p>
            <a:endParaRPr lang="en-IN"/>
          </a:p>
        </p:txBody>
      </p:sp>
      <p:sp>
        <p:nvSpPr>
          <p:cNvPr id="44" name="Text 42"/>
          <p:cNvSpPr/>
          <p:nvPr/>
        </p:nvSpPr>
        <p:spPr>
          <a:xfrm>
            <a:off x="365760" y="3145536"/>
            <a:ext cx="2423160" cy="31089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benign</a:t>
            </a:r>
            <a:endParaRPr lang="en-US" sz="1000" dirty="0"/>
          </a:p>
        </p:txBody>
      </p:sp>
      <p:sp>
        <p:nvSpPr>
          <p:cNvPr id="45" name="Shape 43"/>
          <p:cNvSpPr/>
          <p:nvPr/>
        </p:nvSpPr>
        <p:spPr>
          <a:xfrm>
            <a:off x="2926080" y="3145536"/>
            <a:ext cx="1828800" cy="310896"/>
          </a:xfrm>
          <a:prstGeom prst="rect">
            <a:avLst/>
          </a:prstGeom>
          <a:solidFill>
            <a:srgbClr val="FFFFFF"/>
          </a:solidFill>
          <a:ln w="3810">
            <a:solidFill>
              <a:srgbClr val="E2E8F0"/>
            </a:solidFill>
            <a:prstDash val="solid"/>
          </a:ln>
        </p:spPr>
        <p:txBody>
          <a:bodyPr/>
          <a:lstStyle/>
          <a:p>
            <a:endParaRPr lang="en-IN"/>
          </a:p>
        </p:txBody>
      </p:sp>
      <p:sp>
        <p:nvSpPr>
          <p:cNvPr id="46" name="Text 44"/>
          <p:cNvSpPr/>
          <p:nvPr/>
        </p:nvSpPr>
        <p:spPr>
          <a:xfrm>
            <a:off x="2971800" y="3145536"/>
            <a:ext cx="1737360" cy="310896"/>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0.830</a:t>
            </a:r>
            <a:endParaRPr lang="en-US" sz="1050" dirty="0"/>
          </a:p>
        </p:txBody>
      </p:sp>
      <p:sp>
        <p:nvSpPr>
          <p:cNvPr id="47" name="Shape 45"/>
          <p:cNvSpPr/>
          <p:nvPr/>
        </p:nvSpPr>
        <p:spPr>
          <a:xfrm>
            <a:off x="4892040" y="3145536"/>
            <a:ext cx="1828800" cy="310896"/>
          </a:xfrm>
          <a:prstGeom prst="rect">
            <a:avLst/>
          </a:prstGeom>
          <a:solidFill>
            <a:srgbClr val="FFFFFF"/>
          </a:solidFill>
          <a:ln w="3810">
            <a:solidFill>
              <a:srgbClr val="E2E8F0"/>
            </a:solidFill>
            <a:prstDash val="solid"/>
          </a:ln>
        </p:spPr>
        <p:txBody>
          <a:bodyPr/>
          <a:lstStyle/>
          <a:p>
            <a:endParaRPr lang="en-IN"/>
          </a:p>
        </p:txBody>
      </p:sp>
      <p:sp>
        <p:nvSpPr>
          <p:cNvPr id="48" name="Text 46"/>
          <p:cNvSpPr/>
          <p:nvPr/>
        </p:nvSpPr>
        <p:spPr>
          <a:xfrm>
            <a:off x="4937760" y="3145536"/>
            <a:ext cx="1737360" cy="310896"/>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0.958</a:t>
            </a:r>
            <a:endParaRPr lang="en-US" sz="1050" dirty="0"/>
          </a:p>
        </p:txBody>
      </p:sp>
      <p:sp>
        <p:nvSpPr>
          <p:cNvPr id="49" name="Shape 47"/>
          <p:cNvSpPr/>
          <p:nvPr/>
        </p:nvSpPr>
        <p:spPr>
          <a:xfrm>
            <a:off x="6766560" y="3145536"/>
            <a:ext cx="1828800" cy="310896"/>
          </a:xfrm>
          <a:prstGeom prst="rect">
            <a:avLst/>
          </a:prstGeom>
          <a:solidFill>
            <a:srgbClr val="FFFFFF"/>
          </a:solidFill>
          <a:ln w="3810">
            <a:solidFill>
              <a:srgbClr val="E2E8F0"/>
            </a:solidFill>
            <a:prstDash val="solid"/>
          </a:ln>
        </p:spPr>
        <p:txBody>
          <a:bodyPr/>
          <a:lstStyle/>
          <a:p>
            <a:endParaRPr lang="en-IN"/>
          </a:p>
        </p:txBody>
      </p:sp>
      <p:sp>
        <p:nvSpPr>
          <p:cNvPr id="50" name="Text 48"/>
          <p:cNvSpPr/>
          <p:nvPr/>
        </p:nvSpPr>
        <p:spPr>
          <a:xfrm>
            <a:off x="6812280" y="3145536"/>
            <a:ext cx="1737360" cy="310896"/>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+0.128</a:t>
            </a:r>
            <a:endParaRPr lang="en-US" sz="1050" dirty="0"/>
          </a:p>
        </p:txBody>
      </p:sp>
      <p:sp>
        <p:nvSpPr>
          <p:cNvPr id="51" name="Shape 49"/>
          <p:cNvSpPr/>
          <p:nvPr/>
        </p:nvSpPr>
        <p:spPr>
          <a:xfrm>
            <a:off x="320040" y="3493008"/>
            <a:ext cx="2514600" cy="310896"/>
          </a:xfrm>
          <a:prstGeom prst="rect">
            <a:avLst/>
          </a:prstGeom>
          <a:solidFill>
            <a:srgbClr val="F1F5F9"/>
          </a:solidFill>
          <a:ln w="3810">
            <a:solidFill>
              <a:srgbClr val="E2E8F0"/>
            </a:solidFill>
            <a:prstDash val="solid"/>
          </a:ln>
        </p:spPr>
        <p:txBody>
          <a:bodyPr/>
          <a:lstStyle/>
          <a:p>
            <a:endParaRPr lang="en-IN"/>
          </a:p>
        </p:txBody>
      </p:sp>
      <p:sp>
        <p:nvSpPr>
          <p:cNvPr id="52" name="Text 50"/>
          <p:cNvSpPr/>
          <p:nvPr/>
        </p:nvSpPr>
        <p:spPr>
          <a:xfrm>
            <a:off x="365760" y="3493008"/>
            <a:ext cx="2423160" cy="31089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defacement</a:t>
            </a:r>
            <a:endParaRPr lang="en-US" sz="1000" dirty="0"/>
          </a:p>
        </p:txBody>
      </p:sp>
      <p:sp>
        <p:nvSpPr>
          <p:cNvPr id="53" name="Shape 51"/>
          <p:cNvSpPr/>
          <p:nvPr/>
        </p:nvSpPr>
        <p:spPr>
          <a:xfrm>
            <a:off x="2926080" y="3493008"/>
            <a:ext cx="1828800" cy="310896"/>
          </a:xfrm>
          <a:prstGeom prst="rect">
            <a:avLst/>
          </a:prstGeom>
          <a:solidFill>
            <a:srgbClr val="E8F4F8"/>
          </a:solidFill>
          <a:ln w="3810">
            <a:solidFill>
              <a:srgbClr val="E2E8F0"/>
            </a:solidFill>
            <a:prstDash val="solid"/>
          </a:ln>
        </p:spPr>
        <p:txBody>
          <a:bodyPr/>
          <a:lstStyle/>
          <a:p>
            <a:endParaRPr lang="en-IN"/>
          </a:p>
        </p:txBody>
      </p:sp>
      <p:sp>
        <p:nvSpPr>
          <p:cNvPr id="54" name="Text 52"/>
          <p:cNvSpPr/>
          <p:nvPr/>
        </p:nvSpPr>
        <p:spPr>
          <a:xfrm>
            <a:off x="2971800" y="3493008"/>
            <a:ext cx="1737360" cy="310896"/>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0.864</a:t>
            </a:r>
            <a:endParaRPr lang="en-US" sz="1050" dirty="0"/>
          </a:p>
        </p:txBody>
      </p:sp>
      <p:sp>
        <p:nvSpPr>
          <p:cNvPr id="55" name="Shape 53"/>
          <p:cNvSpPr/>
          <p:nvPr/>
        </p:nvSpPr>
        <p:spPr>
          <a:xfrm>
            <a:off x="4892040" y="3493008"/>
            <a:ext cx="1828800" cy="310896"/>
          </a:xfrm>
          <a:prstGeom prst="rect">
            <a:avLst/>
          </a:prstGeom>
          <a:solidFill>
            <a:srgbClr val="E8F4F8"/>
          </a:solidFill>
          <a:ln w="3810">
            <a:solidFill>
              <a:srgbClr val="E2E8F0"/>
            </a:solidFill>
            <a:prstDash val="solid"/>
          </a:ln>
        </p:spPr>
        <p:txBody>
          <a:bodyPr/>
          <a:lstStyle/>
          <a:p>
            <a:endParaRPr lang="en-IN"/>
          </a:p>
        </p:txBody>
      </p:sp>
      <p:sp>
        <p:nvSpPr>
          <p:cNvPr id="56" name="Text 54"/>
          <p:cNvSpPr/>
          <p:nvPr/>
        </p:nvSpPr>
        <p:spPr>
          <a:xfrm>
            <a:off x="4937760" y="3493008"/>
            <a:ext cx="1737360" cy="310896"/>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0.944</a:t>
            </a:r>
            <a:endParaRPr lang="en-US" sz="1050" dirty="0"/>
          </a:p>
        </p:txBody>
      </p:sp>
      <p:sp>
        <p:nvSpPr>
          <p:cNvPr id="57" name="Shape 55"/>
          <p:cNvSpPr/>
          <p:nvPr/>
        </p:nvSpPr>
        <p:spPr>
          <a:xfrm>
            <a:off x="6766560" y="3493008"/>
            <a:ext cx="1828800" cy="310896"/>
          </a:xfrm>
          <a:prstGeom prst="rect">
            <a:avLst/>
          </a:prstGeom>
          <a:solidFill>
            <a:srgbClr val="E8F4F8"/>
          </a:solidFill>
          <a:ln w="3810">
            <a:solidFill>
              <a:srgbClr val="E2E8F0"/>
            </a:solidFill>
            <a:prstDash val="solid"/>
          </a:ln>
        </p:spPr>
        <p:txBody>
          <a:bodyPr/>
          <a:lstStyle/>
          <a:p>
            <a:endParaRPr lang="en-IN"/>
          </a:p>
        </p:txBody>
      </p:sp>
      <p:sp>
        <p:nvSpPr>
          <p:cNvPr id="58" name="Text 56"/>
          <p:cNvSpPr/>
          <p:nvPr/>
        </p:nvSpPr>
        <p:spPr>
          <a:xfrm>
            <a:off x="6812280" y="3493008"/>
            <a:ext cx="1737360" cy="310896"/>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+0.080</a:t>
            </a:r>
            <a:endParaRPr lang="en-US" sz="1050" dirty="0"/>
          </a:p>
        </p:txBody>
      </p:sp>
      <p:sp>
        <p:nvSpPr>
          <p:cNvPr id="59" name="Shape 57"/>
          <p:cNvSpPr/>
          <p:nvPr/>
        </p:nvSpPr>
        <p:spPr>
          <a:xfrm>
            <a:off x="320040" y="3840480"/>
            <a:ext cx="2514600" cy="310896"/>
          </a:xfrm>
          <a:prstGeom prst="rect">
            <a:avLst/>
          </a:prstGeom>
          <a:solidFill>
            <a:srgbClr val="F1F5F9"/>
          </a:solidFill>
          <a:ln w="3810">
            <a:solidFill>
              <a:srgbClr val="E2E8F0"/>
            </a:solidFill>
            <a:prstDash val="solid"/>
          </a:ln>
        </p:spPr>
        <p:txBody>
          <a:bodyPr/>
          <a:lstStyle/>
          <a:p>
            <a:endParaRPr lang="en-IN"/>
          </a:p>
        </p:txBody>
      </p:sp>
      <p:sp>
        <p:nvSpPr>
          <p:cNvPr id="60" name="Text 58"/>
          <p:cNvSpPr/>
          <p:nvPr/>
        </p:nvSpPr>
        <p:spPr>
          <a:xfrm>
            <a:off x="365760" y="3840480"/>
            <a:ext cx="2423160" cy="31089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malware</a:t>
            </a:r>
            <a:endParaRPr lang="en-US" sz="1000" dirty="0"/>
          </a:p>
        </p:txBody>
      </p:sp>
      <p:sp>
        <p:nvSpPr>
          <p:cNvPr id="61" name="Shape 59"/>
          <p:cNvSpPr/>
          <p:nvPr/>
        </p:nvSpPr>
        <p:spPr>
          <a:xfrm>
            <a:off x="2926080" y="3840480"/>
            <a:ext cx="1828800" cy="310896"/>
          </a:xfrm>
          <a:prstGeom prst="rect">
            <a:avLst/>
          </a:prstGeom>
          <a:solidFill>
            <a:srgbClr val="FFFFFF"/>
          </a:solidFill>
          <a:ln w="3810">
            <a:solidFill>
              <a:srgbClr val="E2E8F0"/>
            </a:solidFill>
            <a:prstDash val="solid"/>
          </a:ln>
        </p:spPr>
        <p:txBody>
          <a:bodyPr/>
          <a:lstStyle/>
          <a:p>
            <a:endParaRPr lang="en-IN"/>
          </a:p>
        </p:txBody>
      </p:sp>
      <p:sp>
        <p:nvSpPr>
          <p:cNvPr id="62" name="Text 60"/>
          <p:cNvSpPr/>
          <p:nvPr/>
        </p:nvSpPr>
        <p:spPr>
          <a:xfrm>
            <a:off x="2971800" y="3840480"/>
            <a:ext cx="1737360" cy="310896"/>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0.709</a:t>
            </a:r>
            <a:endParaRPr lang="en-US" sz="1050" dirty="0"/>
          </a:p>
        </p:txBody>
      </p:sp>
      <p:sp>
        <p:nvSpPr>
          <p:cNvPr id="63" name="Shape 61"/>
          <p:cNvSpPr/>
          <p:nvPr/>
        </p:nvSpPr>
        <p:spPr>
          <a:xfrm>
            <a:off x="4892040" y="3840480"/>
            <a:ext cx="1828800" cy="310896"/>
          </a:xfrm>
          <a:prstGeom prst="rect">
            <a:avLst/>
          </a:prstGeom>
          <a:solidFill>
            <a:srgbClr val="FFFFFF"/>
          </a:solidFill>
          <a:ln w="3810">
            <a:solidFill>
              <a:srgbClr val="E2E8F0"/>
            </a:solidFill>
            <a:prstDash val="solid"/>
          </a:ln>
        </p:spPr>
        <p:txBody>
          <a:bodyPr/>
          <a:lstStyle/>
          <a:p>
            <a:endParaRPr lang="en-IN"/>
          </a:p>
        </p:txBody>
      </p:sp>
      <p:sp>
        <p:nvSpPr>
          <p:cNvPr id="64" name="Text 62"/>
          <p:cNvSpPr/>
          <p:nvPr/>
        </p:nvSpPr>
        <p:spPr>
          <a:xfrm>
            <a:off x="4937760" y="3840480"/>
            <a:ext cx="1737360" cy="310896"/>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0.895</a:t>
            </a:r>
            <a:endParaRPr lang="en-US" sz="1050" dirty="0"/>
          </a:p>
        </p:txBody>
      </p:sp>
      <p:sp>
        <p:nvSpPr>
          <p:cNvPr id="65" name="Shape 63"/>
          <p:cNvSpPr/>
          <p:nvPr/>
        </p:nvSpPr>
        <p:spPr>
          <a:xfrm>
            <a:off x="6766560" y="3840480"/>
            <a:ext cx="1828800" cy="310896"/>
          </a:xfrm>
          <a:prstGeom prst="rect">
            <a:avLst/>
          </a:prstGeom>
          <a:solidFill>
            <a:srgbClr val="FFFFFF"/>
          </a:solidFill>
          <a:ln w="3810">
            <a:solidFill>
              <a:srgbClr val="E2E8F0"/>
            </a:solidFill>
            <a:prstDash val="solid"/>
          </a:ln>
        </p:spPr>
        <p:txBody>
          <a:bodyPr/>
          <a:lstStyle/>
          <a:p>
            <a:endParaRPr lang="en-IN"/>
          </a:p>
        </p:txBody>
      </p:sp>
      <p:sp>
        <p:nvSpPr>
          <p:cNvPr id="66" name="Text 64"/>
          <p:cNvSpPr/>
          <p:nvPr/>
        </p:nvSpPr>
        <p:spPr>
          <a:xfrm>
            <a:off x="6812280" y="3840480"/>
            <a:ext cx="1737360" cy="310896"/>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+0.186</a:t>
            </a:r>
            <a:endParaRPr lang="en-US" sz="1050" dirty="0"/>
          </a:p>
        </p:txBody>
      </p:sp>
      <p:sp>
        <p:nvSpPr>
          <p:cNvPr id="67" name="Shape 65"/>
          <p:cNvSpPr/>
          <p:nvPr/>
        </p:nvSpPr>
        <p:spPr>
          <a:xfrm>
            <a:off x="320040" y="4187952"/>
            <a:ext cx="2514600" cy="310896"/>
          </a:xfrm>
          <a:prstGeom prst="rect">
            <a:avLst/>
          </a:prstGeom>
          <a:solidFill>
            <a:srgbClr val="F1F5F9"/>
          </a:solidFill>
          <a:ln w="3810">
            <a:solidFill>
              <a:srgbClr val="E2E8F0"/>
            </a:solidFill>
            <a:prstDash val="solid"/>
          </a:ln>
        </p:spPr>
        <p:txBody>
          <a:bodyPr/>
          <a:lstStyle/>
          <a:p>
            <a:endParaRPr lang="en-IN"/>
          </a:p>
        </p:txBody>
      </p:sp>
      <p:sp>
        <p:nvSpPr>
          <p:cNvPr id="68" name="Text 66"/>
          <p:cNvSpPr/>
          <p:nvPr/>
        </p:nvSpPr>
        <p:spPr>
          <a:xfrm>
            <a:off x="365760" y="4187952"/>
            <a:ext cx="2423160" cy="310896"/>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phishing ⚠</a:t>
            </a:r>
            <a:endParaRPr lang="en-US" sz="1000" dirty="0"/>
          </a:p>
        </p:txBody>
      </p:sp>
      <p:sp>
        <p:nvSpPr>
          <p:cNvPr id="69" name="Shape 67"/>
          <p:cNvSpPr/>
          <p:nvPr/>
        </p:nvSpPr>
        <p:spPr>
          <a:xfrm>
            <a:off x="2926080" y="4187952"/>
            <a:ext cx="1828800" cy="310896"/>
          </a:xfrm>
          <a:prstGeom prst="rect">
            <a:avLst/>
          </a:prstGeom>
          <a:solidFill>
            <a:srgbClr val="E8F4F8"/>
          </a:solidFill>
          <a:ln w="3810">
            <a:solidFill>
              <a:srgbClr val="E2E8F0"/>
            </a:solidFill>
            <a:prstDash val="solid"/>
          </a:ln>
        </p:spPr>
        <p:txBody>
          <a:bodyPr/>
          <a:lstStyle/>
          <a:p>
            <a:endParaRPr lang="en-IN"/>
          </a:p>
        </p:txBody>
      </p:sp>
      <p:sp>
        <p:nvSpPr>
          <p:cNvPr id="70" name="Text 68"/>
          <p:cNvSpPr/>
          <p:nvPr/>
        </p:nvSpPr>
        <p:spPr>
          <a:xfrm>
            <a:off x="2971800" y="4187952"/>
            <a:ext cx="1737360" cy="310896"/>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0.497</a:t>
            </a:r>
            <a:endParaRPr lang="en-US" sz="1050" dirty="0"/>
          </a:p>
        </p:txBody>
      </p:sp>
      <p:sp>
        <p:nvSpPr>
          <p:cNvPr id="71" name="Shape 69"/>
          <p:cNvSpPr/>
          <p:nvPr/>
        </p:nvSpPr>
        <p:spPr>
          <a:xfrm>
            <a:off x="4892040" y="4187952"/>
            <a:ext cx="1828800" cy="310896"/>
          </a:xfrm>
          <a:prstGeom prst="rect">
            <a:avLst/>
          </a:prstGeom>
          <a:solidFill>
            <a:srgbClr val="E8F4F8"/>
          </a:solidFill>
          <a:ln w="3810">
            <a:solidFill>
              <a:srgbClr val="E2E8F0"/>
            </a:solidFill>
            <a:prstDash val="solid"/>
          </a:ln>
        </p:spPr>
        <p:txBody>
          <a:bodyPr/>
          <a:lstStyle/>
          <a:p>
            <a:endParaRPr lang="en-IN"/>
          </a:p>
        </p:txBody>
      </p:sp>
      <p:sp>
        <p:nvSpPr>
          <p:cNvPr id="72" name="Text 70"/>
          <p:cNvSpPr/>
          <p:nvPr/>
        </p:nvSpPr>
        <p:spPr>
          <a:xfrm>
            <a:off x="4937760" y="4187952"/>
            <a:ext cx="1737360" cy="310896"/>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0.767</a:t>
            </a:r>
            <a:endParaRPr lang="en-US" sz="1050" dirty="0"/>
          </a:p>
        </p:txBody>
      </p:sp>
      <p:sp>
        <p:nvSpPr>
          <p:cNvPr id="73" name="Shape 71"/>
          <p:cNvSpPr/>
          <p:nvPr/>
        </p:nvSpPr>
        <p:spPr>
          <a:xfrm>
            <a:off x="6766560" y="4187952"/>
            <a:ext cx="1828800" cy="310896"/>
          </a:xfrm>
          <a:prstGeom prst="rect">
            <a:avLst/>
          </a:prstGeom>
          <a:solidFill>
            <a:srgbClr val="E8F4F8"/>
          </a:solidFill>
          <a:ln w="3810">
            <a:solidFill>
              <a:srgbClr val="E2E8F0"/>
            </a:solidFill>
            <a:prstDash val="solid"/>
          </a:ln>
        </p:spPr>
        <p:txBody>
          <a:bodyPr/>
          <a:lstStyle/>
          <a:p>
            <a:endParaRPr lang="en-IN"/>
          </a:p>
        </p:txBody>
      </p:sp>
      <p:sp>
        <p:nvSpPr>
          <p:cNvPr id="74" name="Text 72"/>
          <p:cNvSpPr/>
          <p:nvPr/>
        </p:nvSpPr>
        <p:spPr>
          <a:xfrm>
            <a:off x="6812280" y="4187952"/>
            <a:ext cx="1737360" cy="310896"/>
          </a:xfrm>
          <a:prstGeom prst="rect">
            <a:avLst/>
          </a:prstGeom>
          <a:noFill/>
          <a:ln/>
        </p:spPr>
        <p:txBody>
          <a:bodyPr wrap="square" lIns="0" tIns="0" rIns="0" bIns="0"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+0.270</a:t>
            </a:r>
            <a:endParaRPr lang="en-US" sz="1050" dirty="0"/>
          </a:p>
        </p:txBody>
      </p:sp>
      <p:sp>
        <p:nvSpPr>
          <p:cNvPr id="75" name="Shape 73"/>
          <p:cNvSpPr/>
          <p:nvPr/>
        </p:nvSpPr>
        <p:spPr>
          <a:xfrm>
            <a:off x="8613648" y="4187952"/>
            <a:ext cx="274320" cy="310896"/>
          </a:xfrm>
          <a:prstGeom prst="rect">
            <a:avLst/>
          </a:prstGeom>
          <a:solidFill>
            <a:srgbClr val="E63946"/>
          </a:solidFill>
          <a:ln w="12700">
            <a:solidFill>
              <a:srgbClr val="E63946"/>
            </a:solidFill>
            <a:prstDash val="solid"/>
          </a:ln>
        </p:spPr>
        <p:txBody>
          <a:bodyPr/>
          <a:lstStyle/>
          <a:p>
            <a:endParaRPr lang="en-IN"/>
          </a:p>
        </p:txBody>
      </p:sp>
      <p:sp>
        <p:nvSpPr>
          <p:cNvPr id="76" name="Text 74"/>
          <p:cNvSpPr/>
          <p:nvPr/>
        </p:nvSpPr>
        <p:spPr>
          <a:xfrm>
            <a:off x="8613648" y="4187952"/>
            <a:ext cx="274320"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77" name="Shape 75"/>
          <p:cNvSpPr/>
          <p:nvPr/>
        </p:nvSpPr>
        <p:spPr>
          <a:xfrm>
            <a:off x="320040" y="4553712"/>
            <a:ext cx="8503920" cy="274320"/>
          </a:xfrm>
          <a:prstGeom prst="rect">
            <a:avLst/>
          </a:prstGeom>
          <a:solidFill>
            <a:srgbClr val="FEE2E2"/>
          </a:solidFill>
          <a:ln w="9525">
            <a:solidFill>
              <a:srgbClr val="E63946"/>
            </a:solidFill>
            <a:prstDash val="solid"/>
          </a:ln>
        </p:spPr>
        <p:txBody>
          <a:bodyPr/>
          <a:lstStyle/>
          <a:p>
            <a:endParaRPr lang="en-IN"/>
          </a:p>
        </p:txBody>
      </p:sp>
      <p:sp>
        <p:nvSpPr>
          <p:cNvPr id="78" name="Text 76"/>
          <p:cNvSpPr/>
          <p:nvPr/>
        </p:nvSpPr>
        <p:spPr>
          <a:xfrm>
            <a:off x="457200" y="4572000"/>
            <a:ext cx="8229600" cy="237744"/>
          </a:xfrm>
          <a:prstGeom prst="rect">
            <a:avLst/>
          </a:prstGeom>
          <a:noFill/>
          <a:ln/>
        </p:spPr>
        <p:txBody>
          <a:bodyPr wrap="square" rtlCol="0" anchor="ctr"/>
          <a:lstStyle/>
          <a:p>
            <a:pPr marL="0" indent="0">
              <a:buNone/>
            </a:pPr>
            <a:r>
              <a:rPr lang="en-US" sz="950" dirty="0">
                <a:solidFill>
                  <a:srgbClr val="E63946"/>
                </a:solidFill>
                <a:latin typeface="Calibri" pitchFamily="34" charset="0"/>
                <a:ea typeface="Calibri" pitchFamily="34" charset="-122"/>
                <a:cs typeface="Calibri" pitchFamily="34" charset="-120"/>
              </a:rPr>
              <a:t>Phishing is the hardest class: LR F1 = 0.50, k-NN F1 = 0.77. Its lexical patterns overlap with benign and defacement more than malware or defacement patterns do.</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4F7FA"/>
        </a:solidFill>
        <a:effectLst/>
      </p:bgPr>
    </p:bg>
    <p:spTree>
      <p:nvGrpSpPr>
        <p:cNvPr id="1" name=""/>
        <p:cNvGrpSpPr/>
        <p:nvPr/>
      </p:nvGrpSpPr>
      <p:grpSpPr>
        <a:xfrm>
          <a:off x="0" y="0"/>
          <a:ext cx="0" cy="0"/>
          <a:chOff x="0" y="0"/>
          <a:chExt cx="0" cy="0"/>
        </a:xfrm>
      </p:grpSpPr>
      <p:sp>
        <p:nvSpPr>
          <p:cNvPr id="2" name="Hdr"/>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HdrTxt"/>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rPr>
              <a:t>Reading the Multiclass Results: What Each Number Means</a:t>
            </a:r>
          </a:p>
        </p:txBody>
      </p:sp>
      <p:sp>
        <p:nvSpPr>
          <p:cNvPr id="4" name="Ftr"/>
          <p:cNvSpPr/>
          <p:nvPr/>
        </p:nvSpPr>
        <p:spPr>
          <a:xfrm>
            <a:off x="0" y="4892040"/>
            <a:ext cx="9144000" cy="251460"/>
          </a:xfrm>
          <a:prstGeom prst="rect">
            <a:avLst/>
          </a:prstGeom>
          <a:solidFill>
            <a:srgbClr val="1B2A41"/>
          </a:solidFill>
          <a:ln w="12700">
            <a:solidFill>
              <a:srgbClr val="1B2A41"/>
            </a:solidFill>
            <a:prstDash val="solid"/>
          </a:ln>
        </p:spPr>
        <p:txBody>
          <a:bodyPr/>
          <a:lstStyle/>
          <a:p>
            <a:endParaRPr lang="en-US"/>
          </a:p>
        </p:txBody>
      </p:sp>
      <p:sp>
        <p:nvSpPr>
          <p:cNvPr id="5" name="FtrTxt"/>
          <p:cNvSpPr/>
          <p:nvPr/>
        </p:nvSpPr>
        <p:spPr>
          <a:xfrm>
            <a:off x="274320" y="4892040"/>
            <a:ext cx="8595360" cy="251460"/>
          </a:xfrm>
          <a:prstGeom prst="rect">
            <a:avLst/>
          </a:prstGeom>
          <a:noFill/>
          <a:ln/>
        </p:spPr>
        <p:txBody>
          <a:bodyPr wrap="square" lIns="0" tIns="0" rIns="0" bIns="0" rtlCol="0" anchor="ctr"/>
          <a:lstStyle/>
          <a:p>
            <a:pPr marL="0" indent="0">
              <a:buNone/>
            </a:pPr>
            <a:r>
              <a:rPr lang="en-US" sz="800" dirty="0">
                <a:solidFill>
                  <a:srgbClr val="CADCFC"/>
                </a:solidFill>
                <a:latin typeface="Calibri" pitchFamily="34" charset="0"/>
              </a:rPr>
              <a:t>Malicious URL Detection  ·  Lexical Features Only  |  Multiclass Classification</a:t>
            </a:r>
          </a:p>
        </p:txBody>
      </p:sp>
      <p:sp>
        <p:nvSpPr>
          <p:cNvPr id="6" name="Intro"/>
          <p:cNvSpPr/>
          <p:nvPr/>
        </p:nvSpPr>
        <p:spPr>
          <a:xfrm>
            <a:off x="320040" y="730000"/>
            <a:ext cx="8503920" cy="2800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rPr>
              <a:t>The previous slide shows the per-class breakdown table. Here is how to read each column.</a:t>
            </a:r>
          </a:p>
        </p:txBody>
      </p:sp>
      <p:sp>
        <p:nvSpPr>
          <p:cNvPr id="7" name="CardA"/>
          <p:cNvSpPr/>
          <p:nvPr/>
        </p:nvSpPr>
        <p:spPr>
          <a:xfrm>
            <a:off x="320040" y="1080000"/>
            <a:ext cx="2600000" cy="980000"/>
          </a:xfrm>
          <a:prstGeom prst="rect">
            <a:avLst/>
          </a:prstGeom>
          <a:solidFill>
            <a:srgbClr val="E8F4F8"/>
          </a:solidFill>
          <a:ln w="9525">
            <a:solidFill>
              <a:srgbClr val="028090"/>
            </a:solidFill>
            <a:prstDash val="solid"/>
          </a:ln>
          <a:effectLst>
            <a:outerShdw blurRad="101600" dist="38100" dir="8100000" algn="bl" rotWithShape="0">
              <a:srgbClr val="000000">
                <a:alpha val="12000"/>
              </a:srgbClr>
            </a:outerShdw>
          </a:effectLst>
        </p:spPr>
        <p:txBody>
          <a:bodyPr wrap="square" lIns="91440" tIns="91440" rIns="91440" bIns="91440" rtlCol="0" anchor="t"/>
          <a:lstStyle/>
          <a:p>
            <a:pPr marL="0" indent="0">
              <a:buNone/>
            </a:pPr>
            <a:r>
              <a:rPr lang="en-US" sz="1100" b="1" dirty="0">
                <a:solidFill>
                  <a:srgbClr val="028090"/>
                </a:solidFill>
                <a:latin typeface="Calibri" pitchFamily="34" charset="0"/>
              </a:rPr>
              <a:t>LR F1</a:t>
            </a:r>
          </a:p>
          <a:p>
            <a:pPr marL="0" indent="0">
              <a:buNone/>
            </a:pPr>
            <a:r>
              <a:rPr lang="en-US" sz="950" dirty="0">
                <a:solidFill>
                  <a:srgbClr val="334155"/>
                </a:solidFill>
                <a:latin typeface="Calibri" pitchFamily="34" charset="0"/>
              </a:rPr>
              <a:t>F1 score for Logistic Regression on that class. Higher = better balance of precision and recall. Range 0-1.</a:t>
            </a:r>
          </a:p>
        </p:txBody>
      </p:sp>
      <p:sp>
        <p:nvSpPr>
          <p:cNvPr id="8" name="CardB"/>
          <p:cNvSpPr/>
          <p:nvPr/>
        </p:nvSpPr>
        <p:spPr>
          <a:xfrm>
            <a:off x="3272000" y="1080000"/>
            <a:ext cx="2600000" cy="980000"/>
          </a:xfrm>
          <a:prstGeom prst="rect">
            <a:avLst/>
          </a:prstGeom>
          <a:solidFill>
            <a:srgbClr val="E8F4F8"/>
          </a:solidFill>
          <a:ln w="9525">
            <a:solidFill>
              <a:srgbClr val="028090"/>
            </a:solidFill>
            <a:prstDash val="solid"/>
          </a:ln>
          <a:effectLst>
            <a:outerShdw blurRad="101600" dist="38100" dir="8100000" algn="bl" rotWithShape="0">
              <a:srgbClr val="000000">
                <a:alpha val="12000"/>
              </a:srgbClr>
            </a:outerShdw>
          </a:effectLst>
        </p:spPr>
        <p:txBody>
          <a:bodyPr wrap="square" lIns="91440" tIns="91440" rIns="91440" bIns="91440" rtlCol="0" anchor="t"/>
          <a:lstStyle/>
          <a:p>
            <a:pPr marL="0" indent="0">
              <a:buNone/>
            </a:pPr>
            <a:r>
              <a:rPr lang="en-US" sz="1100" b="1" dirty="0">
                <a:solidFill>
                  <a:srgbClr val="028090"/>
                </a:solidFill>
                <a:latin typeface="Calibri" pitchFamily="34" charset="0"/>
              </a:rPr>
              <a:t>k-NN F1</a:t>
            </a:r>
          </a:p>
          <a:p>
            <a:pPr marL="0" indent="0">
              <a:buNone/>
            </a:pPr>
            <a:r>
              <a:rPr lang="en-US" sz="950" dirty="0">
                <a:solidFill>
                  <a:srgbClr val="334155"/>
                </a:solidFill>
                <a:latin typeface="Calibri" pitchFamily="34" charset="0"/>
              </a:rPr>
              <a:t>F1 score for k-NN on that class. k-NN consistently outperforms LR across all four URL types.</a:t>
            </a:r>
          </a:p>
        </p:txBody>
      </p:sp>
      <p:sp>
        <p:nvSpPr>
          <p:cNvPr id="9" name="CardC"/>
          <p:cNvSpPr/>
          <p:nvPr/>
        </p:nvSpPr>
        <p:spPr>
          <a:xfrm>
            <a:off x="6224000" y="1080000"/>
            <a:ext cx="2600000" cy="980000"/>
          </a:xfrm>
          <a:prstGeom prst="rect">
            <a:avLst/>
          </a:prstGeom>
          <a:solidFill>
            <a:srgbClr val="E8F4F8"/>
          </a:solidFill>
          <a:ln w="9525">
            <a:solidFill>
              <a:srgbClr val="028090"/>
            </a:solidFill>
            <a:prstDash val="solid"/>
          </a:ln>
          <a:effectLst>
            <a:outerShdw blurRad="101600" dist="38100" dir="8100000" algn="bl" rotWithShape="0">
              <a:srgbClr val="000000">
                <a:alpha val="12000"/>
              </a:srgbClr>
            </a:outerShdw>
          </a:effectLst>
        </p:spPr>
        <p:txBody>
          <a:bodyPr wrap="square" lIns="91440" tIns="91440" rIns="91440" bIns="91440" rtlCol="0" anchor="t"/>
          <a:lstStyle/>
          <a:p>
            <a:pPr marL="0" indent="0">
              <a:buNone/>
            </a:pPr>
            <a:r>
              <a:rPr lang="en-US" sz="1100" b="1" dirty="0">
                <a:solidFill>
                  <a:srgbClr val="028090"/>
                </a:solidFill>
                <a:latin typeface="Calibri" pitchFamily="34" charset="0"/>
              </a:rPr>
              <a:t>Δ Gain (k-NN)</a:t>
            </a:r>
          </a:p>
          <a:p>
            <a:pPr marL="0" indent="0">
              <a:buNone/>
            </a:pPr>
            <a:r>
              <a:rPr lang="en-US" sz="950" dirty="0">
                <a:solidFill>
                  <a:srgbClr val="334155"/>
                </a:solidFill>
                <a:latin typeface="Calibri" pitchFamily="34" charset="0"/>
              </a:rPr>
              <a:t>k-NN F1 minus LR F1 for that class. Larger positive = k-NN wins by more. Shows where LR falls behind worst.</a:t>
            </a:r>
          </a:p>
        </p:txBody>
      </p:sp>
      <p:sp>
        <p:nvSpPr>
          <p:cNvPr id="10" name="PhishBox"/>
          <p:cNvSpPr/>
          <p:nvPr/>
        </p:nvSpPr>
        <p:spPr>
          <a:xfrm>
            <a:off x="320040" y="2200000"/>
            <a:ext cx="8503920" cy="600000"/>
          </a:xfrm>
          <a:prstGeom prst="rect">
            <a:avLst/>
          </a:prstGeom>
          <a:solidFill>
            <a:srgbClr val="FDECEA"/>
          </a:solidFill>
          <a:ln w="9525">
            <a:solidFill>
              <a:srgbClr val="C0392B"/>
            </a:solidFill>
            <a:prstDash val="solid"/>
          </a:ln>
        </p:spPr>
        <p:txBody>
          <a:bodyPr wrap="square" lIns="91440" tIns="91440" rIns="91440" bIns="91440" rtlCol="0" anchor="ctr"/>
          <a:lstStyle/>
          <a:p>
            <a:pPr marL="0" indent="0">
              <a:buNone/>
            </a:pPr>
            <a:r>
              <a:rPr lang="en-US" sz="1050" b="1" dirty="0">
                <a:solidFill>
                  <a:srgbClr val="C0392B"/>
                </a:solidFill>
                <a:latin typeface="Calibri" pitchFamily="34" charset="0"/>
              </a:rPr>
              <a:t>Key row: Phishing ⚠ </a:t>
            </a:r>
            <a:r>
              <a:rPr lang="en-US" sz="1050" dirty="0">
                <a:solidFill>
                  <a:srgbClr val="334155"/>
                </a:solidFill>
                <a:latin typeface="Calibri" pitchFamily="34" charset="0"/>
              </a:rPr>
              <a:t>LR F1 = 0.497 (barely better than random for a 4-class problem). k-NN F1 = 0.767. Gain = +0.270 — the largest gap in the table. Phishing URLs look too similar to benign URLs for LR to separate reliably.</a:t>
            </a:r>
          </a:p>
        </p:txBody>
      </p:sp>
      <p:sp>
        <p:nvSpPr>
          <p:cNvPr id="11" name="Summary"/>
          <p:cNvSpPr/>
          <p:nvPr/>
        </p:nvSpPr>
        <p:spPr>
          <a:xfrm>
            <a:off x="320040" y="2960000"/>
            <a:ext cx="8503920" cy="640000"/>
          </a:xfrm>
          <a:prstGeom prst="rect">
            <a:avLst/>
          </a:prstGeom>
          <a:solidFill>
            <a:srgbClr val="CADCFC"/>
          </a:solidFill>
          <a:ln w="9525">
            <a:solidFill>
              <a:srgbClr val="1B2A41"/>
            </a:solidFill>
            <a:prstDash val="solid"/>
          </a:ln>
        </p:spPr>
        <p:txBody>
          <a:bodyPr wrap="square" lIns="91440" tIns="91440" rIns="91440" bIns="91440" rtlCol="0" anchor="ctr"/>
          <a:lstStyle/>
          <a:p>
            <a:pPr marL="0" indent="0">
              <a:buNone/>
            </a:pPr>
            <a:r>
              <a:rPr lang="en-US" sz="1050" b="1" i="1" dirty="0">
                <a:solidFill>
                  <a:srgbClr val="0D1B2A"/>
                </a:solidFill>
                <a:latin typeface="Calibri" pitchFamily="34" charset="0"/>
              </a:rPr>
              <a:t>A high macro F1 (0.891 for k-NN) means strong performance across all 4 classes. A low one for LR (0.725) is pulled down by the weak phishing result — not visible in a single overall accuracy number.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Honest Assessment: What the Models Suggest vs. Don't Prove</a:t>
            </a:r>
            <a:endParaRPr lang="en-US" sz="2000" dirty="0"/>
          </a:p>
        </p:txBody>
      </p:sp>
      <p:sp>
        <p:nvSpPr>
          <p:cNvPr id="4" name="Shape 2"/>
          <p:cNvSpPr/>
          <p:nvPr/>
        </p:nvSpPr>
        <p:spPr>
          <a:xfrm>
            <a:off x="0" y="4892040"/>
            <a:ext cx="9144000" cy="251460"/>
          </a:xfrm>
          <a:prstGeom prst="rect">
            <a:avLst/>
          </a:prstGeom>
          <a:solidFill>
            <a:srgbClr val="1B2A41"/>
          </a:solidFill>
          <a:ln w="12700">
            <a:solidFill>
              <a:srgbClr val="1B2A41"/>
            </a:solidFill>
            <a:prstDash val="solid"/>
          </a:ln>
        </p:spPr>
        <p:txBody>
          <a:bodyPr/>
          <a:lstStyle/>
          <a:p>
            <a:endParaRPr lang="en-IN"/>
          </a:p>
        </p:txBody>
      </p:sp>
      <p:sp>
        <p:nvSpPr>
          <p:cNvPr id="5" name="Text 3"/>
          <p:cNvSpPr/>
          <p:nvPr/>
        </p:nvSpPr>
        <p:spPr>
          <a:xfrm>
            <a:off x="274320" y="4892040"/>
            <a:ext cx="8595360" cy="251460"/>
          </a:xfrm>
          <a:prstGeom prst="rect">
            <a:avLst/>
          </a:prstGeom>
          <a:noFill/>
          <a:ln/>
        </p:spPr>
        <p:txBody>
          <a:bodyPr wrap="square" lIns="0" tIns="0" rIns="0" bIns="0" rtlCol="0" anchor="ctr"/>
          <a:lstStyle/>
          <a:p>
            <a:pPr marL="0" indent="0">
              <a:buNone/>
            </a:pPr>
            <a:r>
              <a:rPr lang="en-US" sz="800" dirty="0">
                <a:solidFill>
                  <a:srgbClr val="CADCFC"/>
                </a:solidFill>
                <a:latin typeface="Calibri" pitchFamily="34" charset="0"/>
                <a:ea typeface="Calibri" pitchFamily="34" charset="-122"/>
                <a:cs typeface="Calibri" pitchFamily="34" charset="-120"/>
              </a:rPr>
              <a:t>Malicious URL Detection · Lexical Features Only  |  Interpretation &amp; Limitations</a:t>
            </a:r>
            <a:endParaRPr lang="en-US" sz="800" dirty="0"/>
          </a:p>
        </p:txBody>
      </p:sp>
      <p:sp>
        <p:nvSpPr>
          <p:cNvPr id="6" name="Text 4"/>
          <p:cNvSpPr/>
          <p:nvPr/>
        </p:nvSpPr>
        <p:spPr>
          <a:xfrm>
            <a:off x="320040" y="749808"/>
            <a:ext cx="8503920" cy="237744"/>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Reading results carefully matters more than celebrating high numbers.</a:t>
            </a:r>
            <a:endParaRPr lang="en-US" sz="1050" dirty="0"/>
          </a:p>
        </p:txBody>
      </p:sp>
      <p:sp>
        <p:nvSpPr>
          <p:cNvPr id="7" name="Shape 5"/>
          <p:cNvSpPr/>
          <p:nvPr/>
        </p:nvSpPr>
        <p:spPr>
          <a:xfrm>
            <a:off x="320040" y="1069848"/>
            <a:ext cx="4160520" cy="3246120"/>
          </a:xfrm>
          <a:prstGeom prst="rect">
            <a:avLst/>
          </a:prstGeom>
          <a:solidFill>
            <a:srgbClr val="FFFFFF"/>
          </a:solidFill>
          <a:ln w="15240">
            <a:solidFill>
              <a:srgbClr val="22C55E"/>
            </a:solidFill>
            <a:prstDash val="solid"/>
          </a:ln>
          <a:effectLst>
            <a:outerShdw blurRad="101600" dist="38100" dir="8100000" algn="bl" rotWithShape="0">
              <a:srgbClr val="000000">
                <a:alpha val="12000"/>
              </a:srgbClr>
            </a:outerShdw>
          </a:effectLst>
        </p:spPr>
        <p:txBody>
          <a:bodyPr/>
          <a:lstStyle/>
          <a:p>
            <a:endParaRPr lang="en-IN"/>
          </a:p>
        </p:txBody>
      </p:sp>
      <p:sp>
        <p:nvSpPr>
          <p:cNvPr id="8" name="Shape 6"/>
          <p:cNvSpPr/>
          <p:nvPr/>
        </p:nvSpPr>
        <p:spPr>
          <a:xfrm>
            <a:off x="320040" y="1069848"/>
            <a:ext cx="4160520" cy="347472"/>
          </a:xfrm>
          <a:prstGeom prst="rect">
            <a:avLst/>
          </a:prstGeom>
          <a:solidFill>
            <a:srgbClr val="22C55E"/>
          </a:solidFill>
          <a:ln w="12700">
            <a:solidFill>
              <a:srgbClr val="22C55E"/>
            </a:solidFill>
            <a:prstDash val="solid"/>
          </a:ln>
        </p:spPr>
        <p:txBody>
          <a:bodyPr/>
          <a:lstStyle/>
          <a:p>
            <a:endParaRPr lang="en-IN"/>
          </a:p>
        </p:txBody>
      </p:sp>
      <p:sp>
        <p:nvSpPr>
          <p:cNvPr id="9" name="Text 7"/>
          <p:cNvSpPr/>
          <p:nvPr/>
        </p:nvSpPr>
        <p:spPr>
          <a:xfrm>
            <a:off x="438912" y="1069848"/>
            <a:ext cx="397764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What the models SUGGEST</a:t>
            </a:r>
            <a:endParaRPr lang="en-US" sz="1150" dirty="0"/>
          </a:p>
        </p:txBody>
      </p:sp>
      <p:sp>
        <p:nvSpPr>
          <p:cNvPr id="10" name="Text 8"/>
          <p:cNvSpPr/>
          <p:nvPr/>
        </p:nvSpPr>
        <p:spPr>
          <a:xfrm>
            <a:off x="457200" y="1463040"/>
            <a:ext cx="3931920" cy="27432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334155"/>
                </a:solidFill>
                <a:latin typeface="Calibri" pitchFamily="34" charset="0"/>
                <a:ea typeface="Calibri" pitchFamily="34" charset="-122"/>
                <a:cs typeface="Calibri" pitchFamily="34" charset="-120"/>
              </a:rPr>
              <a:t>Lexical features carry real signal — k-NN binary balanced accuracy = 0.935 on unseen data</a:t>
            </a:r>
            <a:endParaRPr lang="en-US" sz="1000" dirty="0"/>
          </a:p>
          <a:p>
            <a:pPr marL="342900" indent="-342900">
              <a:spcAft>
                <a:spcPts val="400"/>
              </a:spcAft>
              <a:buSzPct val="100000"/>
              <a:buChar char="•"/>
            </a:pPr>
            <a:r>
              <a:rPr lang="en-US" sz="1000" dirty="0">
                <a:solidFill>
                  <a:srgbClr val="334155"/>
                </a:solidFill>
                <a:latin typeface="Calibri" pitchFamily="34" charset="0"/>
                <a:ea typeface="Calibri" pitchFamily="34" charset="-122"/>
                <a:cs typeface="Calibri" pitchFamily="34" charset="-120"/>
              </a:rPr>
              <a:t>The binary task is tractable: benign vs. malicious is easier to separate than individual subtypes</a:t>
            </a:r>
            <a:endParaRPr lang="en-US" sz="1000" dirty="0"/>
          </a:p>
          <a:p>
            <a:pPr marL="342900" indent="-342900">
              <a:spcAft>
                <a:spcPts val="400"/>
              </a:spcAft>
              <a:buSzPct val="100000"/>
              <a:buChar char="•"/>
            </a:pPr>
            <a:r>
              <a:rPr lang="en-US" sz="1000" dirty="0">
                <a:solidFill>
                  <a:srgbClr val="334155"/>
                </a:solidFill>
                <a:latin typeface="Calibri" pitchFamily="34" charset="0"/>
                <a:ea typeface="Calibri" pitchFamily="34" charset="-122"/>
                <a:cs typeface="Calibri" pitchFamily="34" charset="-120"/>
              </a:rPr>
              <a:t>Phishing is the hardest subtype to classify — its URL patterns overlap most with benign URLs</a:t>
            </a:r>
            <a:endParaRPr lang="en-US" sz="1000" dirty="0"/>
          </a:p>
          <a:p>
            <a:pPr marL="342900" indent="-342900">
              <a:spcAft>
                <a:spcPts val="400"/>
              </a:spcAft>
              <a:buSzPct val="100000"/>
              <a:buChar char="•"/>
            </a:pPr>
            <a:r>
              <a:rPr lang="en-US" sz="1000" dirty="0">
                <a:solidFill>
                  <a:srgbClr val="334155"/>
                </a:solidFill>
                <a:latin typeface="Calibri" pitchFamily="34" charset="0"/>
                <a:ea typeface="Calibri" pitchFamily="34" charset="-122"/>
                <a:cs typeface="Calibri" pitchFamily="34" charset="-120"/>
              </a:rPr>
              <a:t>URL structure (scheme, length, subdomains) matters more than suspicious keyword tokens</a:t>
            </a:r>
            <a:endParaRPr lang="en-US" sz="1000" dirty="0"/>
          </a:p>
          <a:p>
            <a:pPr marL="342900" indent="-342900">
              <a:spcAft>
                <a:spcPts val="400"/>
              </a:spcAft>
              <a:buSzPct val="100000"/>
              <a:buChar char="•"/>
            </a:pPr>
            <a:r>
              <a:rPr lang="en-US" sz="1000" dirty="0">
                <a:solidFill>
                  <a:srgbClr val="334155"/>
                </a:solidFill>
                <a:latin typeface="Calibri" pitchFamily="34" charset="0"/>
                <a:ea typeface="Calibri" pitchFamily="34" charset="-122"/>
                <a:cs typeface="Calibri" pitchFamily="34" charset="-120"/>
              </a:rPr>
              <a:t>Class imbalance handling (balanced weights) substantially improves minority-class recall</a:t>
            </a:r>
            <a:endParaRPr lang="en-US" sz="1000" dirty="0"/>
          </a:p>
        </p:txBody>
      </p:sp>
      <p:sp>
        <p:nvSpPr>
          <p:cNvPr id="11" name="Shape 9"/>
          <p:cNvSpPr/>
          <p:nvPr/>
        </p:nvSpPr>
        <p:spPr>
          <a:xfrm>
            <a:off x="4663440" y="1069848"/>
            <a:ext cx="4160520" cy="3246120"/>
          </a:xfrm>
          <a:prstGeom prst="rect">
            <a:avLst/>
          </a:prstGeom>
          <a:solidFill>
            <a:srgbClr val="FFFFFF"/>
          </a:solidFill>
          <a:ln w="15240">
            <a:solidFill>
              <a:srgbClr val="E63946"/>
            </a:solidFill>
            <a:prstDash val="solid"/>
          </a:ln>
          <a:effectLst>
            <a:outerShdw blurRad="101600" dist="38100" dir="8100000" algn="bl" rotWithShape="0">
              <a:srgbClr val="000000">
                <a:alpha val="12000"/>
              </a:srgbClr>
            </a:outerShdw>
          </a:effectLst>
        </p:spPr>
        <p:txBody>
          <a:bodyPr/>
          <a:lstStyle/>
          <a:p>
            <a:endParaRPr lang="en-IN"/>
          </a:p>
        </p:txBody>
      </p:sp>
      <p:sp>
        <p:nvSpPr>
          <p:cNvPr id="12" name="Shape 10"/>
          <p:cNvSpPr/>
          <p:nvPr/>
        </p:nvSpPr>
        <p:spPr>
          <a:xfrm>
            <a:off x="4663440" y="1069848"/>
            <a:ext cx="4160520" cy="347472"/>
          </a:xfrm>
          <a:prstGeom prst="rect">
            <a:avLst/>
          </a:prstGeom>
          <a:solidFill>
            <a:srgbClr val="E63946"/>
          </a:solidFill>
          <a:ln w="12700">
            <a:solidFill>
              <a:srgbClr val="E63946"/>
            </a:solidFill>
            <a:prstDash val="solid"/>
          </a:ln>
        </p:spPr>
        <p:txBody>
          <a:bodyPr/>
          <a:lstStyle/>
          <a:p>
            <a:endParaRPr lang="en-IN"/>
          </a:p>
        </p:txBody>
      </p:sp>
      <p:sp>
        <p:nvSpPr>
          <p:cNvPr id="13" name="Text 11"/>
          <p:cNvSpPr/>
          <p:nvPr/>
        </p:nvSpPr>
        <p:spPr>
          <a:xfrm>
            <a:off x="4782312" y="1069848"/>
            <a:ext cx="397764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What the models DON'T PROVE</a:t>
            </a:r>
            <a:endParaRPr lang="en-US" sz="1150" dirty="0"/>
          </a:p>
        </p:txBody>
      </p:sp>
      <p:sp>
        <p:nvSpPr>
          <p:cNvPr id="14" name="Text 12"/>
          <p:cNvSpPr/>
          <p:nvPr/>
        </p:nvSpPr>
        <p:spPr>
          <a:xfrm>
            <a:off x="4800600" y="1463040"/>
            <a:ext cx="3931920" cy="27432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334155"/>
                </a:solidFill>
                <a:latin typeface="Calibri" pitchFamily="34" charset="0"/>
                <a:ea typeface="Calibri" pitchFamily="34" charset="-122"/>
                <a:cs typeface="Calibri" pitchFamily="34" charset="-120"/>
              </a:rPr>
              <a:t>Causation: URL features don't cause maliciousness — they're observed associations in a labelled dataset</a:t>
            </a:r>
            <a:endParaRPr lang="en-US" sz="1000" dirty="0"/>
          </a:p>
          <a:p>
            <a:pPr marL="342900" indent="-342900">
              <a:spcAft>
                <a:spcPts val="400"/>
              </a:spcAft>
              <a:buSzPct val="100000"/>
              <a:buChar char="•"/>
            </a:pPr>
            <a:r>
              <a:rPr lang="en-US" sz="1000" dirty="0">
                <a:solidFill>
                  <a:srgbClr val="334155"/>
                </a:solidFill>
                <a:latin typeface="Calibri" pitchFamily="34" charset="0"/>
                <a:ea typeface="Calibri" pitchFamily="34" charset="-122"/>
                <a:cs typeface="Calibri" pitchFamily="34" charset="-120"/>
              </a:rPr>
              <a:t>Generalization beyond this dataset composition and its specific source bias</a:t>
            </a:r>
            <a:endParaRPr lang="en-US" sz="1000" dirty="0"/>
          </a:p>
          <a:p>
            <a:pPr marL="342900" indent="-342900">
              <a:spcAft>
                <a:spcPts val="400"/>
              </a:spcAft>
              <a:buSzPct val="100000"/>
              <a:buChar char="•"/>
            </a:pPr>
            <a:r>
              <a:rPr lang="en-US" sz="1000" dirty="0">
                <a:solidFill>
                  <a:srgbClr val="334155"/>
                </a:solidFill>
                <a:latin typeface="Calibri" pitchFamily="34" charset="0"/>
                <a:ea typeface="Calibri" pitchFamily="34" charset="-122"/>
                <a:cs typeface="Calibri" pitchFamily="34" charset="-120"/>
              </a:rPr>
              <a:t>Production readiness: no DNS, WHOIS, page content, or temporal drift checks are included</a:t>
            </a:r>
            <a:endParaRPr lang="en-US" sz="1000" dirty="0"/>
          </a:p>
          <a:p>
            <a:pPr marL="342900" indent="-342900">
              <a:spcAft>
                <a:spcPts val="400"/>
              </a:spcAft>
              <a:buSzPct val="100000"/>
              <a:buChar char="•"/>
            </a:pPr>
            <a:r>
              <a:rPr lang="en-US" sz="1000" dirty="0">
                <a:solidFill>
                  <a:srgbClr val="334155"/>
                </a:solidFill>
                <a:latin typeface="Calibri" pitchFamily="34" charset="0"/>
                <a:ea typeface="Calibri" pitchFamily="34" charset="-122"/>
                <a:cs typeface="Calibri" pitchFamily="34" charset="-120"/>
              </a:rPr>
              <a:t>Perfect detection: phishing in particular remains a hard problem even with k-NN</a:t>
            </a:r>
            <a:endParaRPr lang="en-US" sz="1000" dirty="0"/>
          </a:p>
          <a:p>
            <a:pPr marL="342900" indent="-342900">
              <a:spcAft>
                <a:spcPts val="400"/>
              </a:spcAft>
              <a:buSzPct val="100000"/>
              <a:buChar char="•"/>
            </a:pPr>
            <a:r>
              <a:rPr lang="en-US" sz="1000" dirty="0">
                <a:solidFill>
                  <a:srgbClr val="334155"/>
                </a:solidFill>
                <a:latin typeface="Calibri" pitchFamily="34" charset="0"/>
                <a:ea typeface="Calibri" pitchFamily="34" charset="-122"/>
                <a:cs typeface="Calibri" pitchFamily="34" charset="-120"/>
              </a:rPr>
              <a:t>The 'has_scheme' signal is universal — it reflects how this dataset's classes were collected, not a universal rule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txBody>
          <a:bodyPr/>
          <a:lstStyle/>
          <a:p>
            <a:endParaRPr lang="en-IN"/>
          </a:p>
        </p:txBody>
      </p:sp>
      <p:sp>
        <p:nvSpPr>
          <p:cNvPr id="3" name="Shape 1"/>
          <p:cNvSpPr/>
          <p:nvPr/>
        </p:nvSpPr>
        <p:spPr>
          <a:xfrm>
            <a:off x="0" y="4892040"/>
            <a:ext cx="9144000" cy="251460"/>
          </a:xfrm>
          <a:prstGeom prst="rect">
            <a:avLst/>
          </a:prstGeom>
          <a:solidFill>
            <a:srgbClr val="028090"/>
          </a:solidFill>
          <a:ln w="12700">
            <a:solidFill>
              <a:srgbClr val="028090"/>
            </a:solidFill>
            <a:prstDash val="solid"/>
          </a:ln>
        </p:spPr>
        <p:txBody>
          <a:bodyPr/>
          <a:lstStyle/>
          <a:p>
            <a:endParaRPr lang="en-IN"/>
          </a:p>
        </p:txBody>
      </p:sp>
      <p:sp>
        <p:nvSpPr>
          <p:cNvPr id="4" name="Text 2"/>
          <p:cNvSpPr/>
          <p:nvPr/>
        </p:nvSpPr>
        <p:spPr>
          <a:xfrm>
            <a:off x="384048" y="256032"/>
            <a:ext cx="8412480" cy="457200"/>
          </a:xfrm>
          <a:prstGeom prst="rect">
            <a:avLst/>
          </a:prstGeom>
          <a:noFill/>
          <a:ln/>
        </p:spPr>
        <p:txBody>
          <a:bodyPr wrap="square" rtlCol="0" anchor="ctr"/>
          <a:lstStyle/>
          <a:p>
            <a:pPr marL="0" indent="0">
              <a:buNone/>
            </a:pPr>
            <a:r>
              <a:rPr lang="en-US" sz="2600" b="1" kern="0" spc="100" dirty="0">
                <a:solidFill>
                  <a:srgbClr val="FFFFFF"/>
                </a:solidFill>
                <a:latin typeface="Calibri" pitchFamily="34" charset="0"/>
                <a:ea typeface="Calibri" pitchFamily="34" charset="-122"/>
                <a:cs typeface="Calibri" pitchFamily="34" charset="-120"/>
              </a:rPr>
              <a:t>Key Takeaways</a:t>
            </a:r>
            <a:endParaRPr lang="en-US" sz="2600" dirty="0"/>
          </a:p>
        </p:txBody>
      </p:sp>
      <p:sp>
        <p:nvSpPr>
          <p:cNvPr id="5" name="Shape 3"/>
          <p:cNvSpPr/>
          <p:nvPr/>
        </p:nvSpPr>
        <p:spPr>
          <a:xfrm>
            <a:off x="384048" y="758952"/>
            <a:ext cx="8229600" cy="36576"/>
          </a:xfrm>
          <a:prstGeom prst="rect">
            <a:avLst/>
          </a:prstGeom>
          <a:solidFill>
            <a:srgbClr val="028090"/>
          </a:solidFill>
          <a:ln w="12700">
            <a:solidFill>
              <a:srgbClr val="028090"/>
            </a:solidFill>
            <a:prstDash val="solid"/>
          </a:ln>
        </p:spPr>
        <p:txBody>
          <a:bodyPr/>
          <a:lstStyle/>
          <a:p>
            <a:endParaRPr lang="en-IN"/>
          </a:p>
        </p:txBody>
      </p:sp>
      <p:sp>
        <p:nvSpPr>
          <p:cNvPr id="6" name="Shape 4"/>
          <p:cNvSpPr/>
          <p:nvPr/>
        </p:nvSpPr>
        <p:spPr>
          <a:xfrm>
            <a:off x="384048" y="896112"/>
            <a:ext cx="4206240" cy="1572768"/>
          </a:xfrm>
          <a:prstGeom prst="rect">
            <a:avLst/>
          </a:prstGeom>
          <a:solidFill>
            <a:srgbClr val="1B2A41"/>
          </a:solidFill>
          <a:ln w="12700">
            <a:solidFill>
              <a:srgbClr val="028090"/>
            </a:solidFill>
            <a:prstDash val="solid"/>
          </a:ln>
        </p:spPr>
        <p:txBody>
          <a:bodyPr/>
          <a:lstStyle/>
          <a:p>
            <a:endParaRPr lang="en-IN"/>
          </a:p>
        </p:txBody>
      </p:sp>
      <p:sp>
        <p:nvSpPr>
          <p:cNvPr id="7" name="Shape 5"/>
          <p:cNvSpPr/>
          <p:nvPr/>
        </p:nvSpPr>
        <p:spPr>
          <a:xfrm>
            <a:off x="384048" y="896112"/>
            <a:ext cx="54864" cy="1572768"/>
          </a:xfrm>
          <a:prstGeom prst="rect">
            <a:avLst/>
          </a:prstGeom>
          <a:solidFill>
            <a:srgbClr val="028090"/>
          </a:solidFill>
          <a:ln w="12700">
            <a:solidFill>
              <a:srgbClr val="028090"/>
            </a:solidFill>
            <a:prstDash val="solid"/>
          </a:ln>
        </p:spPr>
        <p:txBody>
          <a:bodyPr/>
          <a:lstStyle/>
          <a:p>
            <a:endParaRPr lang="en-IN"/>
          </a:p>
        </p:txBody>
      </p:sp>
      <p:sp>
        <p:nvSpPr>
          <p:cNvPr id="8" name="Text 6"/>
          <p:cNvSpPr/>
          <p:nvPr/>
        </p:nvSpPr>
        <p:spPr>
          <a:xfrm>
            <a:off x="548640" y="987552"/>
            <a:ext cx="457200" cy="329184"/>
          </a:xfrm>
          <a:prstGeom prst="rect">
            <a:avLst/>
          </a:prstGeom>
          <a:noFill/>
          <a:ln/>
        </p:spPr>
        <p:txBody>
          <a:bodyPr wrap="square" lIns="0" tIns="0" rIns="0" bIns="0" rtlCol="0" anchor="ctr"/>
          <a:lstStyle/>
          <a:p>
            <a:pPr marL="0" indent="0">
              <a:buNone/>
            </a:pPr>
            <a:r>
              <a:rPr lang="en-US" sz="2000" b="1" dirty="0">
                <a:solidFill>
                  <a:srgbClr val="028090"/>
                </a:solidFill>
                <a:latin typeface="Calibri" pitchFamily="34" charset="0"/>
                <a:ea typeface="Calibri" pitchFamily="34" charset="-122"/>
                <a:cs typeface="Calibri" pitchFamily="34" charset="-120"/>
              </a:rPr>
              <a:t>01</a:t>
            </a:r>
            <a:endParaRPr lang="en-US" sz="2000" dirty="0"/>
          </a:p>
        </p:txBody>
      </p:sp>
      <p:sp>
        <p:nvSpPr>
          <p:cNvPr id="9" name="Text 7"/>
          <p:cNvSpPr/>
          <p:nvPr/>
        </p:nvSpPr>
        <p:spPr>
          <a:xfrm>
            <a:off x="548640" y="1335024"/>
            <a:ext cx="3950208"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Lexical features work — especially for binary detection</a:t>
            </a:r>
            <a:endParaRPr lang="en-US" sz="1050" dirty="0"/>
          </a:p>
        </p:txBody>
      </p:sp>
      <p:sp>
        <p:nvSpPr>
          <p:cNvPr id="10" name="Text 8"/>
          <p:cNvSpPr/>
          <p:nvPr/>
        </p:nvSpPr>
        <p:spPr>
          <a:xfrm>
            <a:off x="548640" y="1719072"/>
            <a:ext cx="3950208" cy="658368"/>
          </a:xfrm>
          <a:prstGeom prst="rect">
            <a:avLst/>
          </a:prstGeom>
          <a:noFill/>
          <a:ln/>
        </p:spPr>
        <p:txBody>
          <a:bodyPr wrap="square" lIns="0" tIns="0" rIns="0" bIns="0" rtlCol="0" anchor="ctr"/>
          <a:lstStyle/>
          <a:p>
            <a:pPr marL="0" indent="0">
              <a:buNone/>
            </a:pPr>
            <a:r>
              <a:rPr lang="en-US" sz="950" dirty="0">
                <a:solidFill>
                  <a:srgbClr val="CADCFC"/>
                </a:solidFill>
                <a:latin typeface="Calibri" pitchFamily="34" charset="0"/>
                <a:ea typeface="Calibri" pitchFamily="34" charset="-122"/>
                <a:cs typeface="Calibri" pitchFamily="34" charset="-120"/>
              </a:rPr>
              <a:t>k-NN achieves 93.5% balanced accuracy just from URL text. That's a strong result for such simple features.</a:t>
            </a:r>
            <a:endParaRPr lang="en-US" sz="950" dirty="0"/>
          </a:p>
        </p:txBody>
      </p:sp>
      <p:sp>
        <p:nvSpPr>
          <p:cNvPr id="11" name="Shape 9"/>
          <p:cNvSpPr/>
          <p:nvPr/>
        </p:nvSpPr>
        <p:spPr>
          <a:xfrm>
            <a:off x="4754880" y="896112"/>
            <a:ext cx="4206240" cy="1572768"/>
          </a:xfrm>
          <a:prstGeom prst="rect">
            <a:avLst/>
          </a:prstGeom>
          <a:solidFill>
            <a:srgbClr val="1B2A41"/>
          </a:solidFill>
          <a:ln w="12700">
            <a:solidFill>
              <a:srgbClr val="22C55E"/>
            </a:solidFill>
            <a:prstDash val="solid"/>
          </a:ln>
        </p:spPr>
        <p:txBody>
          <a:bodyPr/>
          <a:lstStyle/>
          <a:p>
            <a:endParaRPr lang="en-IN"/>
          </a:p>
        </p:txBody>
      </p:sp>
      <p:sp>
        <p:nvSpPr>
          <p:cNvPr id="12" name="Shape 10"/>
          <p:cNvSpPr/>
          <p:nvPr/>
        </p:nvSpPr>
        <p:spPr>
          <a:xfrm>
            <a:off x="4754880" y="896112"/>
            <a:ext cx="54864" cy="1572768"/>
          </a:xfrm>
          <a:prstGeom prst="rect">
            <a:avLst/>
          </a:prstGeom>
          <a:solidFill>
            <a:srgbClr val="22C55E"/>
          </a:solidFill>
          <a:ln w="12700">
            <a:solidFill>
              <a:srgbClr val="22C55E"/>
            </a:solidFill>
            <a:prstDash val="solid"/>
          </a:ln>
        </p:spPr>
        <p:txBody>
          <a:bodyPr/>
          <a:lstStyle/>
          <a:p>
            <a:endParaRPr lang="en-IN"/>
          </a:p>
        </p:txBody>
      </p:sp>
      <p:sp>
        <p:nvSpPr>
          <p:cNvPr id="13" name="Text 11"/>
          <p:cNvSpPr/>
          <p:nvPr/>
        </p:nvSpPr>
        <p:spPr>
          <a:xfrm>
            <a:off x="4919472" y="987552"/>
            <a:ext cx="457200" cy="329184"/>
          </a:xfrm>
          <a:prstGeom prst="rect">
            <a:avLst/>
          </a:prstGeom>
          <a:noFill/>
          <a:ln/>
        </p:spPr>
        <p:txBody>
          <a:bodyPr wrap="square" lIns="0" tIns="0" rIns="0" bIns="0" rtlCol="0" anchor="ctr"/>
          <a:lstStyle/>
          <a:p>
            <a:pPr marL="0" indent="0">
              <a:buNone/>
            </a:pPr>
            <a:r>
              <a:rPr lang="en-US" sz="2000" b="1" dirty="0">
                <a:solidFill>
                  <a:srgbClr val="22C55E"/>
                </a:solidFill>
                <a:latin typeface="Calibri" pitchFamily="34" charset="0"/>
                <a:ea typeface="Calibri" pitchFamily="34" charset="-122"/>
                <a:cs typeface="Calibri" pitchFamily="34" charset="-120"/>
              </a:rPr>
              <a:t>02</a:t>
            </a:r>
            <a:endParaRPr lang="en-US" sz="2000" dirty="0"/>
          </a:p>
        </p:txBody>
      </p:sp>
      <p:sp>
        <p:nvSpPr>
          <p:cNvPr id="14" name="Text 12"/>
          <p:cNvSpPr/>
          <p:nvPr/>
        </p:nvSpPr>
        <p:spPr>
          <a:xfrm>
            <a:off x="4919472" y="1335024"/>
            <a:ext cx="3950208"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k-NN predicts best; logistic regression explains best</a:t>
            </a:r>
            <a:endParaRPr lang="en-US" sz="1050" dirty="0"/>
          </a:p>
        </p:txBody>
      </p:sp>
      <p:sp>
        <p:nvSpPr>
          <p:cNvPr id="15" name="Text 13"/>
          <p:cNvSpPr/>
          <p:nvPr/>
        </p:nvSpPr>
        <p:spPr>
          <a:xfrm>
            <a:off x="4919472" y="1719072"/>
            <a:ext cx="3950208" cy="658368"/>
          </a:xfrm>
          <a:prstGeom prst="rect">
            <a:avLst/>
          </a:prstGeom>
          <a:noFill/>
          <a:ln/>
        </p:spPr>
        <p:txBody>
          <a:bodyPr wrap="square" lIns="0" tIns="0" rIns="0" bIns="0" rtlCol="0" anchor="ctr"/>
          <a:lstStyle/>
          <a:p>
            <a:pPr marL="0" indent="0">
              <a:buNone/>
            </a:pPr>
            <a:r>
              <a:rPr lang="en-US" sz="950" dirty="0">
                <a:solidFill>
                  <a:srgbClr val="CADCFC"/>
                </a:solidFill>
                <a:latin typeface="Calibri" pitchFamily="34" charset="0"/>
                <a:ea typeface="Calibri" pitchFamily="34" charset="-122"/>
                <a:cs typeface="Calibri" pitchFamily="34" charset="-120"/>
              </a:rPr>
              <a:t>Use k-NN when you need accuracy. Use logistic regression when you need to understand which features matter.</a:t>
            </a:r>
            <a:endParaRPr lang="en-US" sz="950" dirty="0"/>
          </a:p>
        </p:txBody>
      </p:sp>
      <p:sp>
        <p:nvSpPr>
          <p:cNvPr id="16" name="Shape 14"/>
          <p:cNvSpPr/>
          <p:nvPr/>
        </p:nvSpPr>
        <p:spPr>
          <a:xfrm>
            <a:off x="384048" y="2633472"/>
            <a:ext cx="4206240" cy="1572768"/>
          </a:xfrm>
          <a:prstGeom prst="rect">
            <a:avLst/>
          </a:prstGeom>
          <a:solidFill>
            <a:srgbClr val="1B2A41"/>
          </a:solidFill>
          <a:ln w="12700">
            <a:solidFill>
              <a:srgbClr val="F59E0B"/>
            </a:solidFill>
            <a:prstDash val="solid"/>
          </a:ln>
        </p:spPr>
        <p:txBody>
          <a:bodyPr/>
          <a:lstStyle/>
          <a:p>
            <a:endParaRPr lang="en-IN"/>
          </a:p>
        </p:txBody>
      </p:sp>
      <p:sp>
        <p:nvSpPr>
          <p:cNvPr id="17" name="Shape 15"/>
          <p:cNvSpPr/>
          <p:nvPr/>
        </p:nvSpPr>
        <p:spPr>
          <a:xfrm>
            <a:off x="384048" y="2633472"/>
            <a:ext cx="54864" cy="1572768"/>
          </a:xfrm>
          <a:prstGeom prst="rect">
            <a:avLst/>
          </a:prstGeom>
          <a:solidFill>
            <a:srgbClr val="F59E0B"/>
          </a:solidFill>
          <a:ln w="12700">
            <a:solidFill>
              <a:srgbClr val="F59E0B"/>
            </a:solidFill>
            <a:prstDash val="solid"/>
          </a:ln>
        </p:spPr>
        <p:txBody>
          <a:bodyPr/>
          <a:lstStyle/>
          <a:p>
            <a:endParaRPr lang="en-IN"/>
          </a:p>
        </p:txBody>
      </p:sp>
      <p:sp>
        <p:nvSpPr>
          <p:cNvPr id="18" name="Text 16"/>
          <p:cNvSpPr/>
          <p:nvPr/>
        </p:nvSpPr>
        <p:spPr>
          <a:xfrm>
            <a:off x="548640" y="2724912"/>
            <a:ext cx="457200" cy="329184"/>
          </a:xfrm>
          <a:prstGeom prst="rect">
            <a:avLst/>
          </a:prstGeom>
          <a:noFill/>
          <a:ln/>
        </p:spPr>
        <p:txBody>
          <a:bodyPr wrap="square" lIns="0" tIns="0" rIns="0" bIns="0" rtlCol="0" anchor="ctr"/>
          <a:lstStyle/>
          <a:p>
            <a:pPr marL="0" indent="0">
              <a:buNone/>
            </a:pPr>
            <a:r>
              <a:rPr lang="en-US" sz="2000" b="1" dirty="0">
                <a:solidFill>
                  <a:srgbClr val="F59E0B"/>
                </a:solidFill>
                <a:latin typeface="Calibri" pitchFamily="34" charset="0"/>
                <a:ea typeface="Calibri" pitchFamily="34" charset="-122"/>
                <a:cs typeface="Calibri" pitchFamily="34" charset="-120"/>
              </a:rPr>
              <a:t>03</a:t>
            </a:r>
            <a:endParaRPr lang="en-US" sz="2000" dirty="0"/>
          </a:p>
        </p:txBody>
      </p:sp>
      <p:sp>
        <p:nvSpPr>
          <p:cNvPr id="19" name="Text 17"/>
          <p:cNvSpPr/>
          <p:nvPr/>
        </p:nvSpPr>
        <p:spPr>
          <a:xfrm>
            <a:off x="548640" y="3072384"/>
            <a:ext cx="3950208"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Phishing is the hard case — even for lexical models</a:t>
            </a:r>
            <a:endParaRPr lang="en-US" sz="1050" dirty="0"/>
          </a:p>
        </p:txBody>
      </p:sp>
      <p:sp>
        <p:nvSpPr>
          <p:cNvPr id="20" name="Text 18"/>
          <p:cNvSpPr/>
          <p:nvPr/>
        </p:nvSpPr>
        <p:spPr>
          <a:xfrm>
            <a:off x="548640" y="3456432"/>
            <a:ext cx="3950208" cy="658368"/>
          </a:xfrm>
          <a:prstGeom prst="rect">
            <a:avLst/>
          </a:prstGeom>
          <a:noFill/>
          <a:ln/>
        </p:spPr>
        <p:txBody>
          <a:bodyPr wrap="square" lIns="0" tIns="0" rIns="0" bIns="0" rtlCol="0" anchor="ctr"/>
          <a:lstStyle/>
          <a:p>
            <a:pPr marL="0" indent="0">
              <a:buNone/>
            </a:pPr>
            <a:r>
              <a:rPr lang="en-US" sz="950" dirty="0">
                <a:solidFill>
                  <a:srgbClr val="CADCFC"/>
                </a:solidFill>
                <a:latin typeface="Calibri" pitchFamily="34" charset="0"/>
                <a:ea typeface="Calibri" pitchFamily="34" charset="-122"/>
                <a:cs typeface="Calibri" pitchFamily="34" charset="-120"/>
              </a:rPr>
              <a:t>LR macro F1 on phishing = 0.50. Phishing URLs look too similar to benign URLs for simple lexical rules to separate reliably.</a:t>
            </a:r>
            <a:endParaRPr lang="en-US" sz="950" dirty="0"/>
          </a:p>
        </p:txBody>
      </p:sp>
      <p:sp>
        <p:nvSpPr>
          <p:cNvPr id="21" name="Shape 19"/>
          <p:cNvSpPr/>
          <p:nvPr/>
        </p:nvSpPr>
        <p:spPr>
          <a:xfrm>
            <a:off x="4754880" y="2633472"/>
            <a:ext cx="4206240" cy="1572768"/>
          </a:xfrm>
          <a:prstGeom prst="rect">
            <a:avLst/>
          </a:prstGeom>
          <a:solidFill>
            <a:srgbClr val="1B2A41"/>
          </a:solidFill>
          <a:ln w="12700">
            <a:solidFill>
              <a:srgbClr val="E63946"/>
            </a:solidFill>
            <a:prstDash val="solid"/>
          </a:ln>
        </p:spPr>
        <p:txBody>
          <a:bodyPr/>
          <a:lstStyle/>
          <a:p>
            <a:endParaRPr lang="en-IN"/>
          </a:p>
        </p:txBody>
      </p:sp>
      <p:sp>
        <p:nvSpPr>
          <p:cNvPr id="22" name="Shape 20"/>
          <p:cNvSpPr/>
          <p:nvPr/>
        </p:nvSpPr>
        <p:spPr>
          <a:xfrm>
            <a:off x="4754880" y="2633472"/>
            <a:ext cx="54864" cy="1572768"/>
          </a:xfrm>
          <a:prstGeom prst="rect">
            <a:avLst/>
          </a:prstGeom>
          <a:solidFill>
            <a:srgbClr val="E63946"/>
          </a:solidFill>
          <a:ln w="12700">
            <a:solidFill>
              <a:srgbClr val="E63946"/>
            </a:solidFill>
            <a:prstDash val="solid"/>
          </a:ln>
        </p:spPr>
        <p:txBody>
          <a:bodyPr/>
          <a:lstStyle/>
          <a:p>
            <a:endParaRPr lang="en-IN"/>
          </a:p>
        </p:txBody>
      </p:sp>
      <p:sp>
        <p:nvSpPr>
          <p:cNvPr id="23" name="Text 21"/>
          <p:cNvSpPr/>
          <p:nvPr/>
        </p:nvSpPr>
        <p:spPr>
          <a:xfrm>
            <a:off x="4919472" y="2724912"/>
            <a:ext cx="457200" cy="329184"/>
          </a:xfrm>
          <a:prstGeom prst="rect">
            <a:avLst/>
          </a:prstGeom>
          <a:noFill/>
          <a:ln/>
        </p:spPr>
        <p:txBody>
          <a:bodyPr wrap="square" lIns="0" tIns="0" rIns="0" bIns="0" rtlCol="0" anchor="ctr"/>
          <a:lstStyle/>
          <a:p>
            <a:pPr marL="0" indent="0">
              <a:buNone/>
            </a:pPr>
            <a:r>
              <a:rPr lang="en-US" sz="2000" b="1" dirty="0">
                <a:solidFill>
                  <a:srgbClr val="E63946"/>
                </a:solidFill>
                <a:latin typeface="Calibri" pitchFamily="34" charset="0"/>
                <a:ea typeface="Calibri" pitchFamily="34" charset="-122"/>
                <a:cs typeface="Calibri" pitchFamily="34" charset="-120"/>
              </a:rPr>
              <a:t>04</a:t>
            </a:r>
            <a:endParaRPr lang="en-US" sz="2000" dirty="0"/>
          </a:p>
        </p:txBody>
      </p:sp>
      <p:sp>
        <p:nvSpPr>
          <p:cNvPr id="24" name="Text 22"/>
          <p:cNvSpPr/>
          <p:nvPr/>
        </p:nvSpPr>
        <p:spPr>
          <a:xfrm>
            <a:off x="4919472" y="3072384"/>
            <a:ext cx="3950208"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Lexical-only is a starting point, not a complete solution</a:t>
            </a:r>
            <a:endParaRPr lang="en-US" sz="1050" dirty="0"/>
          </a:p>
        </p:txBody>
      </p:sp>
      <p:sp>
        <p:nvSpPr>
          <p:cNvPr id="25" name="Text 23"/>
          <p:cNvSpPr/>
          <p:nvPr/>
        </p:nvSpPr>
        <p:spPr>
          <a:xfrm>
            <a:off x="4919472" y="3456432"/>
            <a:ext cx="3950208" cy="658368"/>
          </a:xfrm>
          <a:prstGeom prst="rect">
            <a:avLst/>
          </a:prstGeom>
          <a:noFill/>
          <a:ln/>
        </p:spPr>
        <p:txBody>
          <a:bodyPr wrap="square" lIns="0" tIns="0" rIns="0" bIns="0" rtlCol="0" anchor="ctr"/>
          <a:lstStyle/>
          <a:p>
            <a:pPr marL="0" indent="0">
              <a:buNone/>
            </a:pPr>
            <a:r>
              <a:rPr lang="en-US" sz="950" dirty="0">
                <a:solidFill>
                  <a:srgbClr val="CADCFC"/>
                </a:solidFill>
                <a:latin typeface="Calibri" pitchFamily="34" charset="0"/>
                <a:ea typeface="Calibri" pitchFamily="34" charset="-122"/>
                <a:cs typeface="Calibri" pitchFamily="34" charset="-120"/>
              </a:rPr>
              <a:t>Real-world detection would need DNS, WHOIS, content analysis, and temporal validation on top of this.</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84048" y="0"/>
            <a:ext cx="841248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Backup: Best Hyperparameters &amp; Extended Metrics</a:t>
            </a:r>
            <a:endParaRPr lang="en-US" sz="2000" dirty="0"/>
          </a:p>
        </p:txBody>
      </p:sp>
      <p:sp>
        <p:nvSpPr>
          <p:cNvPr id="4" name="Shape 2"/>
          <p:cNvSpPr/>
          <p:nvPr/>
        </p:nvSpPr>
        <p:spPr>
          <a:xfrm>
            <a:off x="0" y="4892040"/>
            <a:ext cx="9144000" cy="251460"/>
          </a:xfrm>
          <a:prstGeom prst="rect">
            <a:avLst/>
          </a:prstGeom>
          <a:solidFill>
            <a:srgbClr val="1B2A41"/>
          </a:solidFill>
          <a:ln w="12700">
            <a:solidFill>
              <a:srgbClr val="1B2A41"/>
            </a:solidFill>
            <a:prstDash val="solid"/>
          </a:ln>
        </p:spPr>
        <p:txBody>
          <a:bodyPr/>
          <a:lstStyle/>
          <a:p>
            <a:endParaRPr lang="en-IN"/>
          </a:p>
        </p:txBody>
      </p:sp>
      <p:sp>
        <p:nvSpPr>
          <p:cNvPr id="5" name="Text 3"/>
          <p:cNvSpPr/>
          <p:nvPr/>
        </p:nvSpPr>
        <p:spPr>
          <a:xfrm>
            <a:off x="274320" y="4892040"/>
            <a:ext cx="8595360" cy="251460"/>
          </a:xfrm>
          <a:prstGeom prst="rect">
            <a:avLst/>
          </a:prstGeom>
          <a:noFill/>
          <a:ln/>
        </p:spPr>
        <p:txBody>
          <a:bodyPr wrap="square" lIns="0" tIns="0" rIns="0" bIns="0" rtlCol="0" anchor="ctr"/>
          <a:lstStyle/>
          <a:p>
            <a:pPr marL="0" indent="0">
              <a:buNone/>
            </a:pPr>
            <a:r>
              <a:rPr lang="en-US" sz="800" dirty="0">
                <a:solidFill>
                  <a:srgbClr val="CADCFC"/>
                </a:solidFill>
                <a:latin typeface="Calibri" pitchFamily="34" charset="0"/>
                <a:ea typeface="Calibri" pitchFamily="34" charset="-122"/>
                <a:cs typeface="Calibri" pitchFamily="34" charset="-120"/>
              </a:rPr>
              <a:t>Malicious URL Detection · Lexical Features Only  |  Backup — Technical Details</a:t>
            </a:r>
            <a:endParaRPr lang="en-US" sz="800" dirty="0"/>
          </a:p>
        </p:txBody>
      </p:sp>
      <p:sp>
        <p:nvSpPr>
          <p:cNvPr id="6" name="Text 4"/>
          <p:cNvSpPr/>
          <p:nvPr/>
        </p:nvSpPr>
        <p:spPr>
          <a:xfrm>
            <a:off x="320040" y="749808"/>
            <a:ext cx="8503920" cy="256032"/>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BACKUP SLIDE — For questions only. All results from 3-fold CV on training split + final held-out evaluation.</a:t>
            </a:r>
            <a:endParaRPr lang="en-US" sz="950" dirty="0"/>
          </a:p>
        </p:txBody>
      </p:sp>
      <p:sp>
        <p:nvSpPr>
          <p:cNvPr id="7" name="Text 5"/>
          <p:cNvSpPr/>
          <p:nvPr/>
        </p:nvSpPr>
        <p:spPr>
          <a:xfrm>
            <a:off x="320040" y="1078992"/>
            <a:ext cx="4206240" cy="256032"/>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Best Hyperparameters (CV-selected)</a:t>
            </a:r>
            <a:endParaRPr lang="en-US" sz="1100" dirty="0"/>
          </a:p>
        </p:txBody>
      </p:sp>
      <p:sp>
        <p:nvSpPr>
          <p:cNvPr id="8" name="Shape 6"/>
          <p:cNvSpPr/>
          <p:nvPr/>
        </p:nvSpPr>
        <p:spPr>
          <a:xfrm>
            <a:off x="320040" y="1389888"/>
            <a:ext cx="914400" cy="310896"/>
          </a:xfrm>
          <a:prstGeom prst="rect">
            <a:avLst/>
          </a:prstGeom>
          <a:solidFill>
            <a:srgbClr val="0D1B2A"/>
          </a:solidFill>
          <a:ln w="3810">
            <a:solidFill>
              <a:srgbClr val="D1D5DB"/>
            </a:solidFill>
            <a:prstDash val="solid"/>
          </a:ln>
        </p:spPr>
        <p:txBody>
          <a:bodyPr/>
          <a:lstStyle/>
          <a:p>
            <a:endParaRPr lang="en-IN"/>
          </a:p>
        </p:txBody>
      </p:sp>
      <p:sp>
        <p:nvSpPr>
          <p:cNvPr id="9" name="Text 7"/>
          <p:cNvSpPr/>
          <p:nvPr/>
        </p:nvSpPr>
        <p:spPr>
          <a:xfrm>
            <a:off x="356616" y="1389888"/>
            <a:ext cx="841248" cy="31089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Task</a:t>
            </a:r>
            <a:endParaRPr lang="en-US" sz="900" dirty="0"/>
          </a:p>
        </p:txBody>
      </p:sp>
      <p:sp>
        <p:nvSpPr>
          <p:cNvPr id="10" name="Shape 8"/>
          <p:cNvSpPr/>
          <p:nvPr/>
        </p:nvSpPr>
        <p:spPr>
          <a:xfrm>
            <a:off x="1252728" y="1389888"/>
            <a:ext cx="1737360" cy="310896"/>
          </a:xfrm>
          <a:prstGeom prst="rect">
            <a:avLst/>
          </a:prstGeom>
          <a:solidFill>
            <a:srgbClr val="0D1B2A"/>
          </a:solidFill>
          <a:ln w="3810">
            <a:solidFill>
              <a:srgbClr val="D1D5DB"/>
            </a:solidFill>
            <a:prstDash val="solid"/>
          </a:ln>
        </p:spPr>
        <p:txBody>
          <a:bodyPr/>
          <a:lstStyle/>
          <a:p>
            <a:endParaRPr lang="en-IN"/>
          </a:p>
        </p:txBody>
      </p:sp>
      <p:sp>
        <p:nvSpPr>
          <p:cNvPr id="11" name="Text 9"/>
          <p:cNvSpPr/>
          <p:nvPr/>
        </p:nvSpPr>
        <p:spPr>
          <a:xfrm>
            <a:off x="1289304" y="1389888"/>
            <a:ext cx="1664208" cy="31089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Model</a:t>
            </a:r>
            <a:endParaRPr lang="en-US" sz="900" dirty="0"/>
          </a:p>
        </p:txBody>
      </p:sp>
      <p:sp>
        <p:nvSpPr>
          <p:cNvPr id="12" name="Shape 10"/>
          <p:cNvSpPr/>
          <p:nvPr/>
        </p:nvSpPr>
        <p:spPr>
          <a:xfrm>
            <a:off x="3008376" y="1389888"/>
            <a:ext cx="1645920" cy="310896"/>
          </a:xfrm>
          <a:prstGeom prst="rect">
            <a:avLst/>
          </a:prstGeom>
          <a:solidFill>
            <a:srgbClr val="0D1B2A"/>
          </a:solidFill>
          <a:ln w="3810">
            <a:solidFill>
              <a:srgbClr val="D1D5DB"/>
            </a:solidFill>
            <a:prstDash val="solid"/>
          </a:ln>
        </p:spPr>
        <p:txBody>
          <a:bodyPr/>
          <a:lstStyle/>
          <a:p>
            <a:endParaRPr lang="en-IN"/>
          </a:p>
        </p:txBody>
      </p:sp>
      <p:sp>
        <p:nvSpPr>
          <p:cNvPr id="13" name="Text 11"/>
          <p:cNvSpPr/>
          <p:nvPr/>
        </p:nvSpPr>
        <p:spPr>
          <a:xfrm>
            <a:off x="3044952" y="1389888"/>
            <a:ext cx="1572768" cy="31089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Best Params</a:t>
            </a:r>
            <a:endParaRPr lang="en-US" sz="900" dirty="0"/>
          </a:p>
        </p:txBody>
      </p:sp>
      <p:sp>
        <p:nvSpPr>
          <p:cNvPr id="14" name="Shape 12"/>
          <p:cNvSpPr/>
          <p:nvPr/>
        </p:nvSpPr>
        <p:spPr>
          <a:xfrm>
            <a:off x="320040" y="1737360"/>
            <a:ext cx="914400" cy="310896"/>
          </a:xfrm>
          <a:prstGeom prst="rect">
            <a:avLst/>
          </a:prstGeom>
          <a:solidFill>
            <a:srgbClr val="FFFFFF"/>
          </a:solidFill>
          <a:ln w="3810">
            <a:solidFill>
              <a:srgbClr val="D1D5DB"/>
            </a:solidFill>
            <a:prstDash val="solid"/>
          </a:ln>
        </p:spPr>
        <p:txBody>
          <a:bodyPr/>
          <a:lstStyle/>
          <a:p>
            <a:endParaRPr lang="en-IN"/>
          </a:p>
        </p:txBody>
      </p:sp>
      <p:sp>
        <p:nvSpPr>
          <p:cNvPr id="15" name="Text 13"/>
          <p:cNvSpPr/>
          <p:nvPr/>
        </p:nvSpPr>
        <p:spPr>
          <a:xfrm>
            <a:off x="356616" y="1737360"/>
            <a:ext cx="841248" cy="31089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Binary</a:t>
            </a:r>
            <a:endParaRPr lang="en-US" sz="900" dirty="0"/>
          </a:p>
        </p:txBody>
      </p:sp>
      <p:sp>
        <p:nvSpPr>
          <p:cNvPr id="16" name="Shape 14"/>
          <p:cNvSpPr/>
          <p:nvPr/>
        </p:nvSpPr>
        <p:spPr>
          <a:xfrm>
            <a:off x="1252728" y="1787652"/>
            <a:ext cx="1737360" cy="310896"/>
          </a:xfrm>
          <a:prstGeom prst="rect">
            <a:avLst/>
          </a:prstGeom>
          <a:solidFill>
            <a:srgbClr val="FFFFFF"/>
          </a:solidFill>
          <a:ln w="3810">
            <a:solidFill>
              <a:srgbClr val="D1D5DB"/>
            </a:solidFill>
            <a:prstDash val="solid"/>
          </a:ln>
        </p:spPr>
        <p:txBody>
          <a:bodyPr/>
          <a:lstStyle/>
          <a:p>
            <a:endParaRPr lang="en-IN"/>
          </a:p>
        </p:txBody>
      </p:sp>
      <p:sp>
        <p:nvSpPr>
          <p:cNvPr id="17" name="Text 15"/>
          <p:cNvSpPr/>
          <p:nvPr/>
        </p:nvSpPr>
        <p:spPr>
          <a:xfrm>
            <a:off x="1289304" y="1737360"/>
            <a:ext cx="1664208" cy="31089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Logistic Regression</a:t>
            </a:r>
            <a:endParaRPr lang="en-US" sz="900" dirty="0"/>
          </a:p>
        </p:txBody>
      </p:sp>
      <p:sp>
        <p:nvSpPr>
          <p:cNvPr id="18" name="Shape 16"/>
          <p:cNvSpPr/>
          <p:nvPr/>
        </p:nvSpPr>
        <p:spPr>
          <a:xfrm>
            <a:off x="3008376" y="1737360"/>
            <a:ext cx="1645920" cy="310896"/>
          </a:xfrm>
          <a:prstGeom prst="rect">
            <a:avLst/>
          </a:prstGeom>
          <a:solidFill>
            <a:srgbClr val="FFFFFF"/>
          </a:solidFill>
          <a:ln w="3810">
            <a:solidFill>
              <a:srgbClr val="D1D5DB"/>
            </a:solidFill>
            <a:prstDash val="solid"/>
          </a:ln>
        </p:spPr>
        <p:txBody>
          <a:bodyPr/>
          <a:lstStyle/>
          <a:p>
            <a:endParaRPr lang="en-IN"/>
          </a:p>
        </p:txBody>
      </p:sp>
      <p:sp>
        <p:nvSpPr>
          <p:cNvPr id="19" name="Text 17"/>
          <p:cNvSpPr/>
          <p:nvPr/>
        </p:nvSpPr>
        <p:spPr>
          <a:xfrm>
            <a:off x="3044952" y="1737360"/>
            <a:ext cx="1572768" cy="31089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C=10, class_weight=balanced</a:t>
            </a:r>
            <a:endParaRPr lang="en-US" sz="900" dirty="0"/>
          </a:p>
        </p:txBody>
      </p:sp>
      <p:sp>
        <p:nvSpPr>
          <p:cNvPr id="20" name="Shape 18"/>
          <p:cNvSpPr/>
          <p:nvPr/>
        </p:nvSpPr>
        <p:spPr>
          <a:xfrm>
            <a:off x="320040" y="2084832"/>
            <a:ext cx="914400" cy="310896"/>
          </a:xfrm>
          <a:prstGeom prst="rect">
            <a:avLst/>
          </a:prstGeom>
          <a:solidFill>
            <a:srgbClr val="E8F4F8"/>
          </a:solidFill>
          <a:ln w="3810">
            <a:solidFill>
              <a:srgbClr val="D1D5DB"/>
            </a:solidFill>
            <a:prstDash val="solid"/>
          </a:ln>
        </p:spPr>
        <p:txBody>
          <a:bodyPr/>
          <a:lstStyle/>
          <a:p>
            <a:endParaRPr lang="en-IN"/>
          </a:p>
        </p:txBody>
      </p:sp>
      <p:sp>
        <p:nvSpPr>
          <p:cNvPr id="21" name="Text 19"/>
          <p:cNvSpPr/>
          <p:nvPr/>
        </p:nvSpPr>
        <p:spPr>
          <a:xfrm>
            <a:off x="356616" y="2084832"/>
            <a:ext cx="841248" cy="31089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Binary</a:t>
            </a:r>
            <a:endParaRPr lang="en-US" sz="900" dirty="0"/>
          </a:p>
        </p:txBody>
      </p:sp>
      <p:sp>
        <p:nvSpPr>
          <p:cNvPr id="22" name="Shape 20"/>
          <p:cNvSpPr/>
          <p:nvPr/>
        </p:nvSpPr>
        <p:spPr>
          <a:xfrm>
            <a:off x="1252728" y="2084832"/>
            <a:ext cx="1737360" cy="310896"/>
          </a:xfrm>
          <a:prstGeom prst="rect">
            <a:avLst/>
          </a:prstGeom>
          <a:solidFill>
            <a:srgbClr val="E8F4F8"/>
          </a:solidFill>
          <a:ln w="3810">
            <a:solidFill>
              <a:srgbClr val="D1D5DB"/>
            </a:solidFill>
            <a:prstDash val="solid"/>
          </a:ln>
        </p:spPr>
        <p:txBody>
          <a:bodyPr/>
          <a:lstStyle/>
          <a:p>
            <a:endParaRPr lang="en-IN"/>
          </a:p>
        </p:txBody>
      </p:sp>
      <p:sp>
        <p:nvSpPr>
          <p:cNvPr id="23" name="Text 21"/>
          <p:cNvSpPr/>
          <p:nvPr/>
        </p:nvSpPr>
        <p:spPr>
          <a:xfrm>
            <a:off x="1289304" y="2084832"/>
            <a:ext cx="1664208" cy="31089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k-NN</a:t>
            </a:r>
            <a:endParaRPr lang="en-US" sz="900" dirty="0"/>
          </a:p>
        </p:txBody>
      </p:sp>
      <p:sp>
        <p:nvSpPr>
          <p:cNvPr id="24" name="Shape 22"/>
          <p:cNvSpPr/>
          <p:nvPr/>
        </p:nvSpPr>
        <p:spPr>
          <a:xfrm>
            <a:off x="3008376" y="2084832"/>
            <a:ext cx="1645920" cy="310896"/>
          </a:xfrm>
          <a:prstGeom prst="rect">
            <a:avLst/>
          </a:prstGeom>
          <a:solidFill>
            <a:srgbClr val="E8F4F8"/>
          </a:solidFill>
          <a:ln w="3810">
            <a:solidFill>
              <a:srgbClr val="D1D5DB"/>
            </a:solidFill>
            <a:prstDash val="solid"/>
          </a:ln>
        </p:spPr>
        <p:txBody>
          <a:bodyPr/>
          <a:lstStyle/>
          <a:p>
            <a:endParaRPr lang="en-IN"/>
          </a:p>
        </p:txBody>
      </p:sp>
      <p:sp>
        <p:nvSpPr>
          <p:cNvPr id="25" name="Text 23"/>
          <p:cNvSpPr/>
          <p:nvPr/>
        </p:nvSpPr>
        <p:spPr>
          <a:xfrm>
            <a:off x="3044952" y="2084832"/>
            <a:ext cx="1572768" cy="31089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k=5, Manhattan, uniform weights</a:t>
            </a:r>
            <a:endParaRPr lang="en-US" sz="900" dirty="0"/>
          </a:p>
        </p:txBody>
      </p:sp>
      <p:sp>
        <p:nvSpPr>
          <p:cNvPr id="26" name="Shape 24"/>
          <p:cNvSpPr/>
          <p:nvPr/>
        </p:nvSpPr>
        <p:spPr>
          <a:xfrm>
            <a:off x="320040" y="2432304"/>
            <a:ext cx="914400" cy="310896"/>
          </a:xfrm>
          <a:prstGeom prst="rect">
            <a:avLst/>
          </a:prstGeom>
          <a:solidFill>
            <a:srgbClr val="FFFFFF"/>
          </a:solidFill>
          <a:ln w="3810">
            <a:solidFill>
              <a:srgbClr val="D1D5DB"/>
            </a:solidFill>
            <a:prstDash val="solid"/>
          </a:ln>
        </p:spPr>
        <p:txBody>
          <a:bodyPr/>
          <a:lstStyle/>
          <a:p>
            <a:endParaRPr lang="en-IN"/>
          </a:p>
        </p:txBody>
      </p:sp>
      <p:sp>
        <p:nvSpPr>
          <p:cNvPr id="27" name="Text 25"/>
          <p:cNvSpPr/>
          <p:nvPr/>
        </p:nvSpPr>
        <p:spPr>
          <a:xfrm>
            <a:off x="356616" y="2432304"/>
            <a:ext cx="841248" cy="31089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Multiclass</a:t>
            </a:r>
            <a:endParaRPr lang="en-US" sz="900" dirty="0"/>
          </a:p>
        </p:txBody>
      </p:sp>
      <p:sp>
        <p:nvSpPr>
          <p:cNvPr id="28" name="Shape 26"/>
          <p:cNvSpPr/>
          <p:nvPr/>
        </p:nvSpPr>
        <p:spPr>
          <a:xfrm>
            <a:off x="1252728" y="2432304"/>
            <a:ext cx="1737360" cy="310896"/>
          </a:xfrm>
          <a:prstGeom prst="rect">
            <a:avLst/>
          </a:prstGeom>
          <a:solidFill>
            <a:srgbClr val="FFFFFF"/>
          </a:solidFill>
          <a:ln w="3810">
            <a:solidFill>
              <a:srgbClr val="D1D5DB"/>
            </a:solidFill>
            <a:prstDash val="solid"/>
          </a:ln>
        </p:spPr>
        <p:txBody>
          <a:bodyPr/>
          <a:lstStyle/>
          <a:p>
            <a:endParaRPr lang="en-IN"/>
          </a:p>
        </p:txBody>
      </p:sp>
      <p:sp>
        <p:nvSpPr>
          <p:cNvPr id="29" name="Text 27"/>
          <p:cNvSpPr/>
          <p:nvPr/>
        </p:nvSpPr>
        <p:spPr>
          <a:xfrm>
            <a:off x="1289304" y="2432304"/>
            <a:ext cx="1664208" cy="31089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Logistic Regression</a:t>
            </a:r>
            <a:endParaRPr lang="en-US" sz="900" dirty="0"/>
          </a:p>
        </p:txBody>
      </p:sp>
      <p:sp>
        <p:nvSpPr>
          <p:cNvPr id="30" name="Shape 28"/>
          <p:cNvSpPr/>
          <p:nvPr/>
        </p:nvSpPr>
        <p:spPr>
          <a:xfrm>
            <a:off x="3008376" y="2432304"/>
            <a:ext cx="1645920" cy="310896"/>
          </a:xfrm>
          <a:prstGeom prst="rect">
            <a:avLst/>
          </a:prstGeom>
          <a:solidFill>
            <a:srgbClr val="FFFFFF"/>
          </a:solidFill>
          <a:ln w="3810">
            <a:solidFill>
              <a:srgbClr val="D1D5DB"/>
            </a:solidFill>
            <a:prstDash val="solid"/>
          </a:ln>
        </p:spPr>
        <p:txBody>
          <a:bodyPr/>
          <a:lstStyle/>
          <a:p>
            <a:endParaRPr lang="en-IN"/>
          </a:p>
        </p:txBody>
      </p:sp>
      <p:sp>
        <p:nvSpPr>
          <p:cNvPr id="31" name="Text 29"/>
          <p:cNvSpPr/>
          <p:nvPr/>
        </p:nvSpPr>
        <p:spPr>
          <a:xfrm>
            <a:off x="3044952" y="2432304"/>
            <a:ext cx="1572768" cy="31089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C=10, class_weight=balanced</a:t>
            </a:r>
            <a:endParaRPr lang="en-US" sz="900" dirty="0"/>
          </a:p>
        </p:txBody>
      </p:sp>
      <p:sp>
        <p:nvSpPr>
          <p:cNvPr id="32" name="Shape 30"/>
          <p:cNvSpPr/>
          <p:nvPr/>
        </p:nvSpPr>
        <p:spPr>
          <a:xfrm>
            <a:off x="320040" y="2779776"/>
            <a:ext cx="914400" cy="310896"/>
          </a:xfrm>
          <a:prstGeom prst="rect">
            <a:avLst/>
          </a:prstGeom>
          <a:solidFill>
            <a:srgbClr val="E8F4F8"/>
          </a:solidFill>
          <a:ln w="3810">
            <a:solidFill>
              <a:srgbClr val="D1D5DB"/>
            </a:solidFill>
            <a:prstDash val="solid"/>
          </a:ln>
        </p:spPr>
        <p:txBody>
          <a:bodyPr/>
          <a:lstStyle/>
          <a:p>
            <a:endParaRPr lang="en-IN"/>
          </a:p>
        </p:txBody>
      </p:sp>
      <p:sp>
        <p:nvSpPr>
          <p:cNvPr id="33" name="Text 31"/>
          <p:cNvSpPr/>
          <p:nvPr/>
        </p:nvSpPr>
        <p:spPr>
          <a:xfrm>
            <a:off x="356616" y="2779776"/>
            <a:ext cx="841248" cy="31089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Multiclass</a:t>
            </a:r>
            <a:endParaRPr lang="en-US" sz="900" dirty="0"/>
          </a:p>
        </p:txBody>
      </p:sp>
      <p:sp>
        <p:nvSpPr>
          <p:cNvPr id="34" name="Shape 32"/>
          <p:cNvSpPr/>
          <p:nvPr/>
        </p:nvSpPr>
        <p:spPr>
          <a:xfrm>
            <a:off x="1252728" y="2779776"/>
            <a:ext cx="1737360" cy="310896"/>
          </a:xfrm>
          <a:prstGeom prst="rect">
            <a:avLst/>
          </a:prstGeom>
          <a:solidFill>
            <a:srgbClr val="E8F4F8"/>
          </a:solidFill>
          <a:ln w="3810">
            <a:solidFill>
              <a:srgbClr val="D1D5DB"/>
            </a:solidFill>
            <a:prstDash val="solid"/>
          </a:ln>
        </p:spPr>
        <p:txBody>
          <a:bodyPr/>
          <a:lstStyle/>
          <a:p>
            <a:endParaRPr lang="en-IN"/>
          </a:p>
        </p:txBody>
      </p:sp>
      <p:sp>
        <p:nvSpPr>
          <p:cNvPr id="35" name="Text 33"/>
          <p:cNvSpPr/>
          <p:nvPr/>
        </p:nvSpPr>
        <p:spPr>
          <a:xfrm>
            <a:off x="1289304" y="2779776"/>
            <a:ext cx="1664208" cy="31089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k-NN</a:t>
            </a:r>
            <a:endParaRPr lang="en-US" sz="900" dirty="0"/>
          </a:p>
        </p:txBody>
      </p:sp>
      <p:sp>
        <p:nvSpPr>
          <p:cNvPr id="36" name="Shape 34"/>
          <p:cNvSpPr/>
          <p:nvPr/>
        </p:nvSpPr>
        <p:spPr>
          <a:xfrm>
            <a:off x="3008376" y="2779776"/>
            <a:ext cx="1645920" cy="310896"/>
          </a:xfrm>
          <a:prstGeom prst="rect">
            <a:avLst/>
          </a:prstGeom>
          <a:solidFill>
            <a:srgbClr val="E8F4F8"/>
          </a:solidFill>
          <a:ln w="3810">
            <a:solidFill>
              <a:srgbClr val="D1D5DB"/>
            </a:solidFill>
            <a:prstDash val="solid"/>
          </a:ln>
        </p:spPr>
        <p:txBody>
          <a:bodyPr/>
          <a:lstStyle/>
          <a:p>
            <a:endParaRPr lang="en-IN"/>
          </a:p>
        </p:txBody>
      </p:sp>
      <p:sp>
        <p:nvSpPr>
          <p:cNvPr id="37" name="Text 35"/>
          <p:cNvSpPr/>
          <p:nvPr/>
        </p:nvSpPr>
        <p:spPr>
          <a:xfrm>
            <a:off x="3044952" y="2779776"/>
            <a:ext cx="1572768" cy="31089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k=5, Manhattan, distance weights</a:t>
            </a:r>
            <a:endParaRPr lang="en-US" sz="900" dirty="0"/>
          </a:p>
        </p:txBody>
      </p:sp>
      <p:sp>
        <p:nvSpPr>
          <p:cNvPr id="38" name="Text 36"/>
          <p:cNvSpPr/>
          <p:nvPr/>
        </p:nvSpPr>
        <p:spPr>
          <a:xfrm>
            <a:off x="320040" y="3255264"/>
            <a:ext cx="4206240" cy="256032"/>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Feature Set CV Comparison (Binary, LR only)</a:t>
            </a:r>
            <a:endParaRPr lang="en-US" sz="1100" dirty="0"/>
          </a:p>
        </p:txBody>
      </p:sp>
      <p:sp>
        <p:nvSpPr>
          <p:cNvPr id="39" name="Shape 37"/>
          <p:cNvSpPr/>
          <p:nvPr/>
        </p:nvSpPr>
        <p:spPr>
          <a:xfrm>
            <a:off x="320040" y="3566160"/>
            <a:ext cx="1188720" cy="310896"/>
          </a:xfrm>
          <a:prstGeom prst="rect">
            <a:avLst/>
          </a:prstGeom>
          <a:solidFill>
            <a:srgbClr val="0D1B2A"/>
          </a:solidFill>
          <a:ln w="3810">
            <a:solidFill>
              <a:srgbClr val="D1D5DB"/>
            </a:solidFill>
            <a:prstDash val="solid"/>
          </a:ln>
        </p:spPr>
        <p:txBody>
          <a:bodyPr/>
          <a:lstStyle/>
          <a:p>
            <a:endParaRPr lang="en-IN"/>
          </a:p>
        </p:txBody>
      </p:sp>
      <p:sp>
        <p:nvSpPr>
          <p:cNvPr id="40" name="Text 38"/>
          <p:cNvSpPr/>
          <p:nvPr/>
        </p:nvSpPr>
        <p:spPr>
          <a:xfrm>
            <a:off x="356616" y="3566160"/>
            <a:ext cx="1115568" cy="31089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Feature Set</a:t>
            </a:r>
            <a:endParaRPr lang="en-US" sz="900" dirty="0"/>
          </a:p>
        </p:txBody>
      </p:sp>
      <p:sp>
        <p:nvSpPr>
          <p:cNvPr id="41" name="Shape 39"/>
          <p:cNvSpPr/>
          <p:nvPr/>
        </p:nvSpPr>
        <p:spPr>
          <a:xfrm>
            <a:off x="1527048" y="3566160"/>
            <a:ext cx="1005840" cy="310896"/>
          </a:xfrm>
          <a:prstGeom prst="rect">
            <a:avLst/>
          </a:prstGeom>
          <a:solidFill>
            <a:srgbClr val="0D1B2A"/>
          </a:solidFill>
          <a:ln w="3810">
            <a:solidFill>
              <a:srgbClr val="D1D5DB"/>
            </a:solidFill>
            <a:prstDash val="solid"/>
          </a:ln>
        </p:spPr>
        <p:txBody>
          <a:bodyPr/>
          <a:lstStyle/>
          <a:p>
            <a:endParaRPr lang="en-IN"/>
          </a:p>
        </p:txBody>
      </p:sp>
      <p:sp>
        <p:nvSpPr>
          <p:cNvPr id="42" name="Text 40"/>
          <p:cNvSpPr/>
          <p:nvPr/>
        </p:nvSpPr>
        <p:spPr>
          <a:xfrm>
            <a:off x="1563624" y="3566160"/>
            <a:ext cx="932688" cy="31089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CV Bal Acc</a:t>
            </a:r>
            <a:endParaRPr lang="en-US" sz="900" dirty="0"/>
          </a:p>
        </p:txBody>
      </p:sp>
      <p:sp>
        <p:nvSpPr>
          <p:cNvPr id="43" name="Shape 41"/>
          <p:cNvSpPr/>
          <p:nvPr/>
        </p:nvSpPr>
        <p:spPr>
          <a:xfrm>
            <a:off x="2551176" y="3566160"/>
            <a:ext cx="914400" cy="310896"/>
          </a:xfrm>
          <a:prstGeom prst="rect">
            <a:avLst/>
          </a:prstGeom>
          <a:solidFill>
            <a:srgbClr val="0D1B2A"/>
          </a:solidFill>
          <a:ln w="3810">
            <a:solidFill>
              <a:srgbClr val="D1D5DB"/>
            </a:solidFill>
            <a:prstDash val="solid"/>
          </a:ln>
        </p:spPr>
        <p:txBody>
          <a:bodyPr/>
          <a:lstStyle/>
          <a:p>
            <a:endParaRPr lang="en-IN"/>
          </a:p>
        </p:txBody>
      </p:sp>
      <p:sp>
        <p:nvSpPr>
          <p:cNvPr id="44" name="Text 42"/>
          <p:cNvSpPr/>
          <p:nvPr/>
        </p:nvSpPr>
        <p:spPr>
          <a:xfrm>
            <a:off x="2587752" y="3566160"/>
            <a:ext cx="841248" cy="31089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CV F1</a:t>
            </a:r>
            <a:endParaRPr lang="en-US" sz="900" dirty="0"/>
          </a:p>
        </p:txBody>
      </p:sp>
      <p:sp>
        <p:nvSpPr>
          <p:cNvPr id="45" name="Shape 43"/>
          <p:cNvSpPr/>
          <p:nvPr/>
        </p:nvSpPr>
        <p:spPr>
          <a:xfrm>
            <a:off x="3483864" y="3566160"/>
            <a:ext cx="914400" cy="310896"/>
          </a:xfrm>
          <a:prstGeom prst="rect">
            <a:avLst/>
          </a:prstGeom>
          <a:solidFill>
            <a:srgbClr val="0D1B2A"/>
          </a:solidFill>
          <a:ln w="3810">
            <a:solidFill>
              <a:srgbClr val="D1D5DB"/>
            </a:solidFill>
            <a:prstDash val="solid"/>
          </a:ln>
        </p:spPr>
        <p:txBody>
          <a:bodyPr/>
          <a:lstStyle/>
          <a:p>
            <a:endParaRPr lang="en-IN"/>
          </a:p>
        </p:txBody>
      </p:sp>
      <p:sp>
        <p:nvSpPr>
          <p:cNvPr id="46" name="Text 44"/>
          <p:cNvSpPr/>
          <p:nvPr/>
        </p:nvSpPr>
        <p:spPr>
          <a:xfrm>
            <a:off x="3520440" y="3566160"/>
            <a:ext cx="841248" cy="310896"/>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Selected?</a:t>
            </a:r>
            <a:endParaRPr lang="en-US" sz="900" dirty="0"/>
          </a:p>
        </p:txBody>
      </p:sp>
      <p:sp>
        <p:nvSpPr>
          <p:cNvPr id="47" name="Shape 45"/>
          <p:cNvSpPr/>
          <p:nvPr/>
        </p:nvSpPr>
        <p:spPr>
          <a:xfrm>
            <a:off x="320040" y="3913632"/>
            <a:ext cx="1188720" cy="310896"/>
          </a:xfrm>
          <a:prstGeom prst="rect">
            <a:avLst/>
          </a:prstGeom>
          <a:solidFill>
            <a:srgbClr val="FFFFFF"/>
          </a:solidFill>
          <a:ln w="3810">
            <a:solidFill>
              <a:srgbClr val="D1D5DB"/>
            </a:solidFill>
            <a:prstDash val="solid"/>
          </a:ln>
        </p:spPr>
        <p:txBody>
          <a:bodyPr/>
          <a:lstStyle/>
          <a:p>
            <a:endParaRPr lang="en-IN"/>
          </a:p>
        </p:txBody>
      </p:sp>
      <p:sp>
        <p:nvSpPr>
          <p:cNvPr id="48" name="Text 46"/>
          <p:cNvSpPr/>
          <p:nvPr/>
        </p:nvSpPr>
        <p:spPr>
          <a:xfrm>
            <a:off x="356616" y="3913632"/>
            <a:ext cx="1115568" cy="31089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extended</a:t>
            </a:r>
            <a:endParaRPr lang="en-US" sz="900" dirty="0"/>
          </a:p>
        </p:txBody>
      </p:sp>
      <p:sp>
        <p:nvSpPr>
          <p:cNvPr id="49" name="Shape 47"/>
          <p:cNvSpPr/>
          <p:nvPr/>
        </p:nvSpPr>
        <p:spPr>
          <a:xfrm>
            <a:off x="1527048" y="3913632"/>
            <a:ext cx="1005840" cy="310896"/>
          </a:xfrm>
          <a:prstGeom prst="rect">
            <a:avLst/>
          </a:prstGeom>
          <a:solidFill>
            <a:srgbClr val="FFFFFF"/>
          </a:solidFill>
          <a:ln w="3810">
            <a:solidFill>
              <a:srgbClr val="D1D5DB"/>
            </a:solidFill>
            <a:prstDash val="solid"/>
          </a:ln>
        </p:spPr>
        <p:txBody>
          <a:bodyPr/>
          <a:lstStyle/>
          <a:p>
            <a:endParaRPr lang="en-IN"/>
          </a:p>
        </p:txBody>
      </p:sp>
      <p:sp>
        <p:nvSpPr>
          <p:cNvPr id="50" name="Text 48"/>
          <p:cNvSpPr/>
          <p:nvPr/>
        </p:nvSpPr>
        <p:spPr>
          <a:xfrm>
            <a:off x="1563624" y="3913632"/>
            <a:ext cx="932688" cy="31089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0.8353</a:t>
            </a:r>
            <a:endParaRPr lang="en-US" sz="900" dirty="0"/>
          </a:p>
        </p:txBody>
      </p:sp>
      <p:sp>
        <p:nvSpPr>
          <p:cNvPr id="51" name="Shape 49"/>
          <p:cNvSpPr/>
          <p:nvPr/>
        </p:nvSpPr>
        <p:spPr>
          <a:xfrm>
            <a:off x="2551176" y="3913632"/>
            <a:ext cx="914400" cy="310896"/>
          </a:xfrm>
          <a:prstGeom prst="rect">
            <a:avLst/>
          </a:prstGeom>
          <a:solidFill>
            <a:srgbClr val="FFFFFF"/>
          </a:solidFill>
          <a:ln w="3810">
            <a:solidFill>
              <a:srgbClr val="D1D5DB"/>
            </a:solidFill>
            <a:prstDash val="solid"/>
          </a:ln>
        </p:spPr>
        <p:txBody>
          <a:bodyPr/>
          <a:lstStyle/>
          <a:p>
            <a:endParaRPr lang="en-IN"/>
          </a:p>
        </p:txBody>
      </p:sp>
      <p:sp>
        <p:nvSpPr>
          <p:cNvPr id="52" name="Text 50"/>
          <p:cNvSpPr/>
          <p:nvPr/>
        </p:nvSpPr>
        <p:spPr>
          <a:xfrm>
            <a:off x="2587752" y="3913632"/>
            <a:ext cx="841248" cy="31089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0.7812</a:t>
            </a:r>
            <a:endParaRPr lang="en-US" sz="900" dirty="0"/>
          </a:p>
        </p:txBody>
      </p:sp>
      <p:sp>
        <p:nvSpPr>
          <p:cNvPr id="53" name="Shape 51"/>
          <p:cNvSpPr/>
          <p:nvPr/>
        </p:nvSpPr>
        <p:spPr>
          <a:xfrm>
            <a:off x="3483864" y="3913632"/>
            <a:ext cx="914400" cy="310896"/>
          </a:xfrm>
          <a:prstGeom prst="rect">
            <a:avLst/>
          </a:prstGeom>
          <a:solidFill>
            <a:srgbClr val="FFFFFF"/>
          </a:solidFill>
          <a:ln w="3810">
            <a:solidFill>
              <a:srgbClr val="D1D5DB"/>
            </a:solidFill>
            <a:prstDash val="solid"/>
          </a:ln>
        </p:spPr>
        <p:txBody>
          <a:bodyPr/>
          <a:lstStyle/>
          <a:p>
            <a:endParaRPr lang="en-IN"/>
          </a:p>
        </p:txBody>
      </p:sp>
      <p:sp>
        <p:nvSpPr>
          <p:cNvPr id="54" name="Text 52"/>
          <p:cNvSpPr/>
          <p:nvPr/>
        </p:nvSpPr>
        <p:spPr>
          <a:xfrm>
            <a:off x="3520440" y="3913632"/>
            <a:ext cx="841248" cy="31089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Yes ✓</a:t>
            </a:r>
            <a:endParaRPr lang="en-US" sz="900" dirty="0"/>
          </a:p>
        </p:txBody>
      </p:sp>
      <p:sp>
        <p:nvSpPr>
          <p:cNvPr id="55" name="Shape 53"/>
          <p:cNvSpPr/>
          <p:nvPr/>
        </p:nvSpPr>
        <p:spPr>
          <a:xfrm>
            <a:off x="320040" y="4261104"/>
            <a:ext cx="1188720" cy="310896"/>
          </a:xfrm>
          <a:prstGeom prst="rect">
            <a:avLst/>
          </a:prstGeom>
          <a:solidFill>
            <a:srgbClr val="E8F4F8"/>
          </a:solidFill>
          <a:ln w="3810">
            <a:solidFill>
              <a:srgbClr val="D1D5DB"/>
            </a:solidFill>
            <a:prstDash val="solid"/>
          </a:ln>
        </p:spPr>
        <p:txBody>
          <a:bodyPr/>
          <a:lstStyle/>
          <a:p>
            <a:endParaRPr lang="en-IN"/>
          </a:p>
        </p:txBody>
      </p:sp>
      <p:sp>
        <p:nvSpPr>
          <p:cNvPr id="56" name="Text 54"/>
          <p:cNvSpPr/>
          <p:nvPr/>
        </p:nvSpPr>
        <p:spPr>
          <a:xfrm>
            <a:off x="356616" y="4261104"/>
            <a:ext cx="1115568" cy="31089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core</a:t>
            </a:r>
            <a:endParaRPr lang="en-US" sz="900" dirty="0"/>
          </a:p>
        </p:txBody>
      </p:sp>
      <p:sp>
        <p:nvSpPr>
          <p:cNvPr id="57" name="Shape 55"/>
          <p:cNvSpPr/>
          <p:nvPr/>
        </p:nvSpPr>
        <p:spPr>
          <a:xfrm>
            <a:off x="1527048" y="4261104"/>
            <a:ext cx="1005840" cy="310896"/>
          </a:xfrm>
          <a:prstGeom prst="rect">
            <a:avLst/>
          </a:prstGeom>
          <a:solidFill>
            <a:srgbClr val="E8F4F8"/>
          </a:solidFill>
          <a:ln w="3810">
            <a:solidFill>
              <a:srgbClr val="D1D5DB"/>
            </a:solidFill>
            <a:prstDash val="solid"/>
          </a:ln>
        </p:spPr>
        <p:txBody>
          <a:bodyPr/>
          <a:lstStyle/>
          <a:p>
            <a:endParaRPr lang="en-IN"/>
          </a:p>
        </p:txBody>
      </p:sp>
      <p:sp>
        <p:nvSpPr>
          <p:cNvPr id="58" name="Text 56"/>
          <p:cNvSpPr/>
          <p:nvPr/>
        </p:nvSpPr>
        <p:spPr>
          <a:xfrm>
            <a:off x="1563624" y="4261104"/>
            <a:ext cx="932688" cy="31089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0.8347</a:t>
            </a:r>
            <a:endParaRPr lang="en-US" sz="900" dirty="0"/>
          </a:p>
        </p:txBody>
      </p:sp>
      <p:sp>
        <p:nvSpPr>
          <p:cNvPr id="59" name="Shape 57"/>
          <p:cNvSpPr/>
          <p:nvPr/>
        </p:nvSpPr>
        <p:spPr>
          <a:xfrm>
            <a:off x="2551176" y="4261104"/>
            <a:ext cx="914400" cy="310896"/>
          </a:xfrm>
          <a:prstGeom prst="rect">
            <a:avLst/>
          </a:prstGeom>
          <a:solidFill>
            <a:srgbClr val="E8F4F8"/>
          </a:solidFill>
          <a:ln w="3810">
            <a:solidFill>
              <a:srgbClr val="D1D5DB"/>
            </a:solidFill>
            <a:prstDash val="solid"/>
          </a:ln>
        </p:spPr>
        <p:txBody>
          <a:bodyPr/>
          <a:lstStyle/>
          <a:p>
            <a:endParaRPr lang="en-IN"/>
          </a:p>
        </p:txBody>
      </p:sp>
      <p:sp>
        <p:nvSpPr>
          <p:cNvPr id="60" name="Text 58"/>
          <p:cNvSpPr/>
          <p:nvPr/>
        </p:nvSpPr>
        <p:spPr>
          <a:xfrm>
            <a:off x="2587752" y="4261104"/>
            <a:ext cx="841248" cy="31089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0.7805</a:t>
            </a:r>
            <a:endParaRPr lang="en-US" sz="900" dirty="0"/>
          </a:p>
        </p:txBody>
      </p:sp>
      <p:sp>
        <p:nvSpPr>
          <p:cNvPr id="61" name="Shape 59"/>
          <p:cNvSpPr/>
          <p:nvPr/>
        </p:nvSpPr>
        <p:spPr>
          <a:xfrm>
            <a:off x="3483864" y="4261104"/>
            <a:ext cx="914400" cy="310896"/>
          </a:xfrm>
          <a:prstGeom prst="rect">
            <a:avLst/>
          </a:prstGeom>
          <a:solidFill>
            <a:srgbClr val="E8F4F8"/>
          </a:solidFill>
          <a:ln w="3810">
            <a:solidFill>
              <a:srgbClr val="D1D5DB"/>
            </a:solidFill>
            <a:prstDash val="solid"/>
          </a:ln>
        </p:spPr>
        <p:txBody>
          <a:bodyPr/>
          <a:lstStyle/>
          <a:p>
            <a:endParaRPr lang="en-IN"/>
          </a:p>
        </p:txBody>
      </p:sp>
      <p:sp>
        <p:nvSpPr>
          <p:cNvPr id="62" name="Text 60"/>
          <p:cNvSpPr/>
          <p:nvPr/>
        </p:nvSpPr>
        <p:spPr>
          <a:xfrm>
            <a:off x="3520440" y="4261104"/>
            <a:ext cx="841248" cy="31089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No</a:t>
            </a:r>
            <a:endParaRPr lang="en-US" sz="900" dirty="0"/>
          </a:p>
        </p:txBody>
      </p:sp>
      <p:sp>
        <p:nvSpPr>
          <p:cNvPr id="63" name="Text 61"/>
          <p:cNvSpPr/>
          <p:nvPr/>
        </p:nvSpPr>
        <p:spPr>
          <a:xfrm>
            <a:off x="4800600" y="1078992"/>
            <a:ext cx="4069080" cy="256032"/>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Full Test Metrics Summary</a:t>
            </a:r>
            <a:endParaRPr lang="en-US" sz="1100" dirty="0"/>
          </a:p>
        </p:txBody>
      </p:sp>
      <p:sp>
        <p:nvSpPr>
          <p:cNvPr id="64" name="Shape 62"/>
          <p:cNvSpPr/>
          <p:nvPr/>
        </p:nvSpPr>
        <p:spPr>
          <a:xfrm>
            <a:off x="4800600" y="1389888"/>
            <a:ext cx="1051560" cy="329184"/>
          </a:xfrm>
          <a:prstGeom prst="rect">
            <a:avLst/>
          </a:prstGeom>
          <a:solidFill>
            <a:srgbClr val="0D1B2A"/>
          </a:solidFill>
          <a:ln w="3810">
            <a:solidFill>
              <a:srgbClr val="D1D5DB"/>
            </a:solidFill>
            <a:prstDash val="solid"/>
          </a:ln>
        </p:spPr>
        <p:txBody>
          <a:bodyPr/>
          <a:lstStyle/>
          <a:p>
            <a:endParaRPr lang="en-IN"/>
          </a:p>
        </p:txBody>
      </p:sp>
      <p:sp>
        <p:nvSpPr>
          <p:cNvPr id="65" name="Text 63"/>
          <p:cNvSpPr/>
          <p:nvPr/>
        </p:nvSpPr>
        <p:spPr>
          <a:xfrm>
            <a:off x="4837176" y="1389888"/>
            <a:ext cx="978408" cy="32918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Task</a:t>
            </a:r>
            <a:endParaRPr lang="en-US" sz="900" dirty="0"/>
          </a:p>
        </p:txBody>
      </p:sp>
      <p:sp>
        <p:nvSpPr>
          <p:cNvPr id="66" name="Shape 64"/>
          <p:cNvSpPr/>
          <p:nvPr/>
        </p:nvSpPr>
        <p:spPr>
          <a:xfrm>
            <a:off x="5870448" y="1389888"/>
            <a:ext cx="1188720" cy="329184"/>
          </a:xfrm>
          <a:prstGeom prst="rect">
            <a:avLst/>
          </a:prstGeom>
          <a:solidFill>
            <a:srgbClr val="0D1B2A"/>
          </a:solidFill>
          <a:ln w="3810">
            <a:solidFill>
              <a:srgbClr val="D1D5DB"/>
            </a:solidFill>
            <a:prstDash val="solid"/>
          </a:ln>
        </p:spPr>
        <p:txBody>
          <a:bodyPr/>
          <a:lstStyle/>
          <a:p>
            <a:endParaRPr lang="en-IN"/>
          </a:p>
        </p:txBody>
      </p:sp>
      <p:sp>
        <p:nvSpPr>
          <p:cNvPr id="67" name="Text 65"/>
          <p:cNvSpPr/>
          <p:nvPr/>
        </p:nvSpPr>
        <p:spPr>
          <a:xfrm>
            <a:off x="5907024" y="1389888"/>
            <a:ext cx="1115568" cy="32918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Model</a:t>
            </a:r>
            <a:endParaRPr lang="en-US" sz="900" dirty="0"/>
          </a:p>
        </p:txBody>
      </p:sp>
      <p:sp>
        <p:nvSpPr>
          <p:cNvPr id="68" name="Shape 66"/>
          <p:cNvSpPr/>
          <p:nvPr/>
        </p:nvSpPr>
        <p:spPr>
          <a:xfrm>
            <a:off x="7077456" y="1389888"/>
            <a:ext cx="822960" cy="329184"/>
          </a:xfrm>
          <a:prstGeom prst="rect">
            <a:avLst/>
          </a:prstGeom>
          <a:solidFill>
            <a:srgbClr val="0D1B2A"/>
          </a:solidFill>
          <a:ln w="3810">
            <a:solidFill>
              <a:srgbClr val="D1D5DB"/>
            </a:solidFill>
            <a:prstDash val="solid"/>
          </a:ln>
        </p:spPr>
        <p:txBody>
          <a:bodyPr/>
          <a:lstStyle/>
          <a:p>
            <a:endParaRPr lang="en-IN"/>
          </a:p>
        </p:txBody>
      </p:sp>
      <p:sp>
        <p:nvSpPr>
          <p:cNvPr id="69" name="Text 67"/>
          <p:cNvSpPr/>
          <p:nvPr/>
        </p:nvSpPr>
        <p:spPr>
          <a:xfrm>
            <a:off x="7114032" y="1389888"/>
            <a:ext cx="749808" cy="32918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Bal Acc</a:t>
            </a:r>
            <a:endParaRPr lang="en-US" sz="900" dirty="0"/>
          </a:p>
        </p:txBody>
      </p:sp>
      <p:sp>
        <p:nvSpPr>
          <p:cNvPr id="70" name="Shape 68"/>
          <p:cNvSpPr/>
          <p:nvPr/>
        </p:nvSpPr>
        <p:spPr>
          <a:xfrm>
            <a:off x="7918704" y="1389888"/>
            <a:ext cx="822960" cy="329184"/>
          </a:xfrm>
          <a:prstGeom prst="rect">
            <a:avLst/>
          </a:prstGeom>
          <a:solidFill>
            <a:srgbClr val="0D1B2A"/>
          </a:solidFill>
          <a:ln w="3810">
            <a:solidFill>
              <a:srgbClr val="D1D5DB"/>
            </a:solidFill>
            <a:prstDash val="solid"/>
          </a:ln>
        </p:spPr>
        <p:txBody>
          <a:bodyPr/>
          <a:lstStyle/>
          <a:p>
            <a:endParaRPr lang="en-IN"/>
          </a:p>
        </p:txBody>
      </p:sp>
      <p:sp>
        <p:nvSpPr>
          <p:cNvPr id="71" name="Text 69"/>
          <p:cNvSpPr/>
          <p:nvPr/>
        </p:nvSpPr>
        <p:spPr>
          <a:xfrm>
            <a:off x="7955280" y="1389888"/>
            <a:ext cx="749808" cy="32918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Macro F1</a:t>
            </a:r>
            <a:endParaRPr lang="en-US" sz="900" dirty="0"/>
          </a:p>
        </p:txBody>
      </p:sp>
      <p:sp>
        <p:nvSpPr>
          <p:cNvPr id="72" name="Shape 70"/>
          <p:cNvSpPr/>
          <p:nvPr/>
        </p:nvSpPr>
        <p:spPr>
          <a:xfrm>
            <a:off x="4800600" y="1755648"/>
            <a:ext cx="1051560" cy="329184"/>
          </a:xfrm>
          <a:prstGeom prst="rect">
            <a:avLst/>
          </a:prstGeom>
          <a:solidFill>
            <a:srgbClr val="FFFFFF"/>
          </a:solidFill>
          <a:ln w="3810">
            <a:solidFill>
              <a:srgbClr val="D1D5DB"/>
            </a:solidFill>
            <a:prstDash val="solid"/>
          </a:ln>
        </p:spPr>
        <p:txBody>
          <a:bodyPr/>
          <a:lstStyle/>
          <a:p>
            <a:endParaRPr lang="en-IN"/>
          </a:p>
        </p:txBody>
      </p:sp>
      <p:sp>
        <p:nvSpPr>
          <p:cNvPr id="73" name="Text 71"/>
          <p:cNvSpPr/>
          <p:nvPr/>
        </p:nvSpPr>
        <p:spPr>
          <a:xfrm>
            <a:off x="4837176" y="1755648"/>
            <a:ext cx="97840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Binary</a:t>
            </a:r>
            <a:endParaRPr lang="en-US" sz="900" dirty="0"/>
          </a:p>
        </p:txBody>
      </p:sp>
      <p:sp>
        <p:nvSpPr>
          <p:cNvPr id="74" name="Shape 72"/>
          <p:cNvSpPr/>
          <p:nvPr/>
        </p:nvSpPr>
        <p:spPr>
          <a:xfrm>
            <a:off x="5870448" y="1755648"/>
            <a:ext cx="1188720" cy="329184"/>
          </a:xfrm>
          <a:prstGeom prst="rect">
            <a:avLst/>
          </a:prstGeom>
          <a:solidFill>
            <a:srgbClr val="FFFFFF"/>
          </a:solidFill>
          <a:ln w="3810">
            <a:solidFill>
              <a:srgbClr val="D1D5DB"/>
            </a:solidFill>
            <a:prstDash val="solid"/>
          </a:ln>
        </p:spPr>
        <p:txBody>
          <a:bodyPr/>
          <a:lstStyle/>
          <a:p>
            <a:endParaRPr lang="en-IN"/>
          </a:p>
        </p:txBody>
      </p:sp>
      <p:sp>
        <p:nvSpPr>
          <p:cNvPr id="75" name="Text 73"/>
          <p:cNvSpPr/>
          <p:nvPr/>
        </p:nvSpPr>
        <p:spPr>
          <a:xfrm>
            <a:off x="5907024" y="1755648"/>
            <a:ext cx="111556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k-NN</a:t>
            </a:r>
            <a:endParaRPr lang="en-US" sz="900" dirty="0"/>
          </a:p>
        </p:txBody>
      </p:sp>
      <p:sp>
        <p:nvSpPr>
          <p:cNvPr id="76" name="Shape 74"/>
          <p:cNvSpPr/>
          <p:nvPr/>
        </p:nvSpPr>
        <p:spPr>
          <a:xfrm>
            <a:off x="7077456" y="1755648"/>
            <a:ext cx="822960" cy="329184"/>
          </a:xfrm>
          <a:prstGeom prst="rect">
            <a:avLst/>
          </a:prstGeom>
          <a:solidFill>
            <a:srgbClr val="FFFFFF"/>
          </a:solidFill>
          <a:ln w="3810">
            <a:solidFill>
              <a:srgbClr val="D1D5DB"/>
            </a:solidFill>
            <a:prstDash val="solid"/>
          </a:ln>
        </p:spPr>
        <p:txBody>
          <a:bodyPr/>
          <a:lstStyle/>
          <a:p>
            <a:endParaRPr lang="en-IN"/>
          </a:p>
        </p:txBody>
      </p:sp>
      <p:sp>
        <p:nvSpPr>
          <p:cNvPr id="77" name="Text 75"/>
          <p:cNvSpPr/>
          <p:nvPr/>
        </p:nvSpPr>
        <p:spPr>
          <a:xfrm>
            <a:off x="7114032" y="1755648"/>
            <a:ext cx="74980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0.9351</a:t>
            </a:r>
            <a:endParaRPr lang="en-US" sz="900" dirty="0"/>
          </a:p>
        </p:txBody>
      </p:sp>
      <p:sp>
        <p:nvSpPr>
          <p:cNvPr id="78" name="Shape 76"/>
          <p:cNvSpPr/>
          <p:nvPr/>
        </p:nvSpPr>
        <p:spPr>
          <a:xfrm>
            <a:off x="7918704" y="1755648"/>
            <a:ext cx="822960" cy="329184"/>
          </a:xfrm>
          <a:prstGeom prst="rect">
            <a:avLst/>
          </a:prstGeom>
          <a:solidFill>
            <a:srgbClr val="FFFFFF"/>
          </a:solidFill>
          <a:ln w="3810">
            <a:solidFill>
              <a:srgbClr val="D1D5DB"/>
            </a:solidFill>
            <a:prstDash val="solid"/>
          </a:ln>
        </p:spPr>
        <p:txBody>
          <a:bodyPr/>
          <a:lstStyle/>
          <a:p>
            <a:endParaRPr lang="en-IN"/>
          </a:p>
        </p:txBody>
      </p:sp>
      <p:sp>
        <p:nvSpPr>
          <p:cNvPr id="79" name="Text 77"/>
          <p:cNvSpPr/>
          <p:nvPr/>
        </p:nvSpPr>
        <p:spPr>
          <a:xfrm>
            <a:off x="7955280" y="1755648"/>
            <a:ext cx="74980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0.9371</a:t>
            </a:r>
            <a:endParaRPr lang="en-US" sz="900" dirty="0"/>
          </a:p>
        </p:txBody>
      </p:sp>
      <p:sp>
        <p:nvSpPr>
          <p:cNvPr id="80" name="Shape 78"/>
          <p:cNvSpPr/>
          <p:nvPr/>
        </p:nvSpPr>
        <p:spPr>
          <a:xfrm>
            <a:off x="4800600" y="2121408"/>
            <a:ext cx="1051560" cy="329184"/>
          </a:xfrm>
          <a:prstGeom prst="rect">
            <a:avLst/>
          </a:prstGeom>
          <a:solidFill>
            <a:srgbClr val="E8F4F8"/>
          </a:solidFill>
          <a:ln w="3810">
            <a:solidFill>
              <a:srgbClr val="D1D5DB"/>
            </a:solidFill>
            <a:prstDash val="solid"/>
          </a:ln>
        </p:spPr>
        <p:txBody>
          <a:bodyPr/>
          <a:lstStyle/>
          <a:p>
            <a:endParaRPr lang="en-IN"/>
          </a:p>
        </p:txBody>
      </p:sp>
      <p:sp>
        <p:nvSpPr>
          <p:cNvPr id="81" name="Text 79"/>
          <p:cNvSpPr/>
          <p:nvPr/>
        </p:nvSpPr>
        <p:spPr>
          <a:xfrm>
            <a:off x="4837176" y="2121408"/>
            <a:ext cx="97840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Binary</a:t>
            </a:r>
            <a:endParaRPr lang="en-US" sz="900" dirty="0"/>
          </a:p>
        </p:txBody>
      </p:sp>
      <p:sp>
        <p:nvSpPr>
          <p:cNvPr id="82" name="Shape 80"/>
          <p:cNvSpPr/>
          <p:nvPr/>
        </p:nvSpPr>
        <p:spPr>
          <a:xfrm>
            <a:off x="5870448" y="2121408"/>
            <a:ext cx="1188720" cy="329184"/>
          </a:xfrm>
          <a:prstGeom prst="rect">
            <a:avLst/>
          </a:prstGeom>
          <a:solidFill>
            <a:srgbClr val="E8F4F8"/>
          </a:solidFill>
          <a:ln w="3810">
            <a:solidFill>
              <a:srgbClr val="D1D5DB"/>
            </a:solidFill>
            <a:prstDash val="solid"/>
          </a:ln>
        </p:spPr>
        <p:txBody>
          <a:bodyPr/>
          <a:lstStyle/>
          <a:p>
            <a:endParaRPr lang="en-IN"/>
          </a:p>
        </p:txBody>
      </p:sp>
      <p:sp>
        <p:nvSpPr>
          <p:cNvPr id="83" name="Text 81"/>
          <p:cNvSpPr/>
          <p:nvPr/>
        </p:nvSpPr>
        <p:spPr>
          <a:xfrm>
            <a:off x="5907024" y="2121408"/>
            <a:ext cx="111556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Log Reg</a:t>
            </a:r>
            <a:endParaRPr lang="en-US" sz="900" dirty="0"/>
          </a:p>
        </p:txBody>
      </p:sp>
      <p:sp>
        <p:nvSpPr>
          <p:cNvPr id="84" name="Shape 82"/>
          <p:cNvSpPr/>
          <p:nvPr/>
        </p:nvSpPr>
        <p:spPr>
          <a:xfrm>
            <a:off x="7077456" y="2121408"/>
            <a:ext cx="822960" cy="329184"/>
          </a:xfrm>
          <a:prstGeom prst="rect">
            <a:avLst/>
          </a:prstGeom>
          <a:solidFill>
            <a:srgbClr val="E8F4F8"/>
          </a:solidFill>
          <a:ln w="3810">
            <a:solidFill>
              <a:srgbClr val="D1D5DB"/>
            </a:solidFill>
            <a:prstDash val="solid"/>
          </a:ln>
        </p:spPr>
        <p:txBody>
          <a:bodyPr/>
          <a:lstStyle/>
          <a:p>
            <a:endParaRPr lang="en-IN"/>
          </a:p>
        </p:txBody>
      </p:sp>
      <p:sp>
        <p:nvSpPr>
          <p:cNvPr id="85" name="Text 83"/>
          <p:cNvSpPr/>
          <p:nvPr/>
        </p:nvSpPr>
        <p:spPr>
          <a:xfrm>
            <a:off x="7114032" y="2121408"/>
            <a:ext cx="74980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0.8425</a:t>
            </a:r>
            <a:endParaRPr lang="en-US" sz="900" dirty="0"/>
          </a:p>
        </p:txBody>
      </p:sp>
      <p:sp>
        <p:nvSpPr>
          <p:cNvPr id="86" name="Shape 84"/>
          <p:cNvSpPr/>
          <p:nvPr/>
        </p:nvSpPr>
        <p:spPr>
          <a:xfrm>
            <a:off x="7918704" y="2121408"/>
            <a:ext cx="822960" cy="329184"/>
          </a:xfrm>
          <a:prstGeom prst="rect">
            <a:avLst/>
          </a:prstGeom>
          <a:solidFill>
            <a:srgbClr val="E8F4F8"/>
          </a:solidFill>
          <a:ln w="3810">
            <a:solidFill>
              <a:srgbClr val="D1D5DB"/>
            </a:solidFill>
            <a:prstDash val="solid"/>
          </a:ln>
        </p:spPr>
        <p:txBody>
          <a:bodyPr/>
          <a:lstStyle/>
          <a:p>
            <a:endParaRPr lang="en-IN"/>
          </a:p>
        </p:txBody>
      </p:sp>
      <p:sp>
        <p:nvSpPr>
          <p:cNvPr id="87" name="Text 85"/>
          <p:cNvSpPr/>
          <p:nvPr/>
        </p:nvSpPr>
        <p:spPr>
          <a:xfrm>
            <a:off x="7955280" y="2121408"/>
            <a:ext cx="74980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0.8436</a:t>
            </a:r>
            <a:endParaRPr lang="en-US" sz="900" dirty="0"/>
          </a:p>
        </p:txBody>
      </p:sp>
      <p:sp>
        <p:nvSpPr>
          <p:cNvPr id="88" name="Shape 86"/>
          <p:cNvSpPr/>
          <p:nvPr/>
        </p:nvSpPr>
        <p:spPr>
          <a:xfrm>
            <a:off x="4800600" y="2487168"/>
            <a:ext cx="1051560" cy="329184"/>
          </a:xfrm>
          <a:prstGeom prst="rect">
            <a:avLst/>
          </a:prstGeom>
          <a:solidFill>
            <a:srgbClr val="FFFFFF"/>
          </a:solidFill>
          <a:ln w="3810">
            <a:solidFill>
              <a:srgbClr val="D1D5DB"/>
            </a:solidFill>
            <a:prstDash val="solid"/>
          </a:ln>
        </p:spPr>
        <p:txBody>
          <a:bodyPr/>
          <a:lstStyle/>
          <a:p>
            <a:endParaRPr lang="en-IN"/>
          </a:p>
        </p:txBody>
      </p:sp>
      <p:sp>
        <p:nvSpPr>
          <p:cNvPr id="89" name="Text 87"/>
          <p:cNvSpPr/>
          <p:nvPr/>
        </p:nvSpPr>
        <p:spPr>
          <a:xfrm>
            <a:off x="4837176" y="2487168"/>
            <a:ext cx="97840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Binary</a:t>
            </a:r>
            <a:endParaRPr lang="en-US" sz="900" dirty="0"/>
          </a:p>
        </p:txBody>
      </p:sp>
      <p:sp>
        <p:nvSpPr>
          <p:cNvPr id="90" name="Shape 88"/>
          <p:cNvSpPr/>
          <p:nvPr/>
        </p:nvSpPr>
        <p:spPr>
          <a:xfrm>
            <a:off x="5870448" y="2487168"/>
            <a:ext cx="1188720" cy="329184"/>
          </a:xfrm>
          <a:prstGeom prst="rect">
            <a:avLst/>
          </a:prstGeom>
          <a:solidFill>
            <a:srgbClr val="FFFFFF"/>
          </a:solidFill>
          <a:ln w="3810">
            <a:solidFill>
              <a:srgbClr val="D1D5DB"/>
            </a:solidFill>
            <a:prstDash val="solid"/>
          </a:ln>
        </p:spPr>
        <p:txBody>
          <a:bodyPr/>
          <a:lstStyle/>
          <a:p>
            <a:endParaRPr lang="en-IN"/>
          </a:p>
        </p:txBody>
      </p:sp>
      <p:sp>
        <p:nvSpPr>
          <p:cNvPr id="91" name="Text 89"/>
          <p:cNvSpPr/>
          <p:nvPr/>
        </p:nvSpPr>
        <p:spPr>
          <a:xfrm>
            <a:off x="5907024" y="2487168"/>
            <a:ext cx="111556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Baseline</a:t>
            </a:r>
            <a:endParaRPr lang="en-US" sz="900" dirty="0"/>
          </a:p>
        </p:txBody>
      </p:sp>
      <p:sp>
        <p:nvSpPr>
          <p:cNvPr id="92" name="Shape 90"/>
          <p:cNvSpPr/>
          <p:nvPr/>
        </p:nvSpPr>
        <p:spPr>
          <a:xfrm>
            <a:off x="7077456" y="2487168"/>
            <a:ext cx="822960" cy="329184"/>
          </a:xfrm>
          <a:prstGeom prst="rect">
            <a:avLst/>
          </a:prstGeom>
          <a:solidFill>
            <a:srgbClr val="FFFFFF"/>
          </a:solidFill>
          <a:ln w="3810">
            <a:solidFill>
              <a:srgbClr val="D1D5DB"/>
            </a:solidFill>
            <a:prstDash val="solid"/>
          </a:ln>
        </p:spPr>
        <p:txBody>
          <a:bodyPr/>
          <a:lstStyle/>
          <a:p>
            <a:endParaRPr lang="en-IN"/>
          </a:p>
        </p:txBody>
      </p:sp>
      <p:sp>
        <p:nvSpPr>
          <p:cNvPr id="93" name="Text 91"/>
          <p:cNvSpPr/>
          <p:nvPr/>
        </p:nvSpPr>
        <p:spPr>
          <a:xfrm>
            <a:off x="7114032" y="2487168"/>
            <a:ext cx="74980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0.5000</a:t>
            </a:r>
            <a:endParaRPr lang="en-US" sz="900" dirty="0"/>
          </a:p>
        </p:txBody>
      </p:sp>
      <p:sp>
        <p:nvSpPr>
          <p:cNvPr id="94" name="Shape 92"/>
          <p:cNvSpPr/>
          <p:nvPr/>
        </p:nvSpPr>
        <p:spPr>
          <a:xfrm>
            <a:off x="7918704" y="2487168"/>
            <a:ext cx="822960" cy="329184"/>
          </a:xfrm>
          <a:prstGeom prst="rect">
            <a:avLst/>
          </a:prstGeom>
          <a:solidFill>
            <a:srgbClr val="FFFFFF"/>
          </a:solidFill>
          <a:ln w="3810">
            <a:solidFill>
              <a:srgbClr val="D1D5DB"/>
            </a:solidFill>
            <a:prstDash val="solid"/>
          </a:ln>
        </p:spPr>
        <p:txBody>
          <a:bodyPr/>
          <a:lstStyle/>
          <a:p>
            <a:endParaRPr lang="en-IN"/>
          </a:p>
        </p:txBody>
      </p:sp>
      <p:sp>
        <p:nvSpPr>
          <p:cNvPr id="95" name="Text 93"/>
          <p:cNvSpPr/>
          <p:nvPr/>
        </p:nvSpPr>
        <p:spPr>
          <a:xfrm>
            <a:off x="7955280" y="2487168"/>
            <a:ext cx="74980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0.4004</a:t>
            </a:r>
            <a:endParaRPr lang="en-US" sz="900" dirty="0"/>
          </a:p>
        </p:txBody>
      </p:sp>
      <p:sp>
        <p:nvSpPr>
          <p:cNvPr id="96" name="Shape 94"/>
          <p:cNvSpPr/>
          <p:nvPr/>
        </p:nvSpPr>
        <p:spPr>
          <a:xfrm>
            <a:off x="4800600" y="2852928"/>
            <a:ext cx="1051560" cy="329184"/>
          </a:xfrm>
          <a:prstGeom prst="rect">
            <a:avLst/>
          </a:prstGeom>
          <a:solidFill>
            <a:srgbClr val="E8F4F8"/>
          </a:solidFill>
          <a:ln w="3810">
            <a:solidFill>
              <a:srgbClr val="D1D5DB"/>
            </a:solidFill>
            <a:prstDash val="solid"/>
          </a:ln>
        </p:spPr>
        <p:txBody>
          <a:bodyPr/>
          <a:lstStyle/>
          <a:p>
            <a:endParaRPr lang="en-IN"/>
          </a:p>
        </p:txBody>
      </p:sp>
      <p:sp>
        <p:nvSpPr>
          <p:cNvPr id="97" name="Text 95"/>
          <p:cNvSpPr/>
          <p:nvPr/>
        </p:nvSpPr>
        <p:spPr>
          <a:xfrm>
            <a:off x="4837176" y="2852928"/>
            <a:ext cx="97840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Multiclass</a:t>
            </a:r>
            <a:endParaRPr lang="en-US" sz="900" dirty="0"/>
          </a:p>
        </p:txBody>
      </p:sp>
      <p:sp>
        <p:nvSpPr>
          <p:cNvPr id="98" name="Shape 96"/>
          <p:cNvSpPr/>
          <p:nvPr/>
        </p:nvSpPr>
        <p:spPr>
          <a:xfrm>
            <a:off x="5870448" y="2852928"/>
            <a:ext cx="1188720" cy="329184"/>
          </a:xfrm>
          <a:prstGeom prst="rect">
            <a:avLst/>
          </a:prstGeom>
          <a:solidFill>
            <a:srgbClr val="E8F4F8"/>
          </a:solidFill>
          <a:ln w="3810">
            <a:solidFill>
              <a:srgbClr val="D1D5DB"/>
            </a:solidFill>
            <a:prstDash val="solid"/>
          </a:ln>
        </p:spPr>
        <p:txBody>
          <a:bodyPr/>
          <a:lstStyle/>
          <a:p>
            <a:endParaRPr lang="en-IN"/>
          </a:p>
        </p:txBody>
      </p:sp>
      <p:sp>
        <p:nvSpPr>
          <p:cNvPr id="99" name="Text 97"/>
          <p:cNvSpPr/>
          <p:nvPr/>
        </p:nvSpPr>
        <p:spPr>
          <a:xfrm>
            <a:off x="5907024" y="2852928"/>
            <a:ext cx="111556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k-NN</a:t>
            </a:r>
            <a:endParaRPr lang="en-US" sz="900" dirty="0"/>
          </a:p>
        </p:txBody>
      </p:sp>
      <p:sp>
        <p:nvSpPr>
          <p:cNvPr id="100" name="Shape 98"/>
          <p:cNvSpPr/>
          <p:nvPr/>
        </p:nvSpPr>
        <p:spPr>
          <a:xfrm>
            <a:off x="7077456" y="2852928"/>
            <a:ext cx="822960" cy="329184"/>
          </a:xfrm>
          <a:prstGeom prst="rect">
            <a:avLst/>
          </a:prstGeom>
          <a:solidFill>
            <a:srgbClr val="E8F4F8"/>
          </a:solidFill>
          <a:ln w="3810">
            <a:solidFill>
              <a:srgbClr val="D1D5DB"/>
            </a:solidFill>
            <a:prstDash val="solid"/>
          </a:ln>
        </p:spPr>
        <p:txBody>
          <a:bodyPr/>
          <a:lstStyle/>
          <a:p>
            <a:endParaRPr lang="en-IN"/>
          </a:p>
        </p:txBody>
      </p:sp>
      <p:sp>
        <p:nvSpPr>
          <p:cNvPr id="101" name="Text 99"/>
          <p:cNvSpPr/>
          <p:nvPr/>
        </p:nvSpPr>
        <p:spPr>
          <a:xfrm>
            <a:off x="7114032" y="2852928"/>
            <a:ext cx="74980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0.8762*</a:t>
            </a:r>
            <a:endParaRPr lang="en-US" sz="900" dirty="0"/>
          </a:p>
        </p:txBody>
      </p:sp>
      <p:sp>
        <p:nvSpPr>
          <p:cNvPr id="102" name="Shape 100"/>
          <p:cNvSpPr/>
          <p:nvPr/>
        </p:nvSpPr>
        <p:spPr>
          <a:xfrm>
            <a:off x="7918704" y="2852928"/>
            <a:ext cx="822960" cy="329184"/>
          </a:xfrm>
          <a:prstGeom prst="rect">
            <a:avLst/>
          </a:prstGeom>
          <a:solidFill>
            <a:srgbClr val="E8F4F8"/>
          </a:solidFill>
          <a:ln w="3810">
            <a:solidFill>
              <a:srgbClr val="D1D5DB"/>
            </a:solidFill>
            <a:prstDash val="solid"/>
          </a:ln>
        </p:spPr>
        <p:txBody>
          <a:bodyPr/>
          <a:lstStyle/>
          <a:p>
            <a:endParaRPr lang="en-IN"/>
          </a:p>
        </p:txBody>
      </p:sp>
      <p:sp>
        <p:nvSpPr>
          <p:cNvPr id="103" name="Text 101"/>
          <p:cNvSpPr/>
          <p:nvPr/>
        </p:nvSpPr>
        <p:spPr>
          <a:xfrm>
            <a:off x="7955280" y="2852928"/>
            <a:ext cx="74980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0.8911</a:t>
            </a:r>
            <a:endParaRPr lang="en-US" sz="900" dirty="0"/>
          </a:p>
        </p:txBody>
      </p:sp>
      <p:sp>
        <p:nvSpPr>
          <p:cNvPr id="104" name="Shape 102"/>
          <p:cNvSpPr/>
          <p:nvPr/>
        </p:nvSpPr>
        <p:spPr>
          <a:xfrm>
            <a:off x="4800600" y="3218688"/>
            <a:ext cx="1051560" cy="329184"/>
          </a:xfrm>
          <a:prstGeom prst="rect">
            <a:avLst/>
          </a:prstGeom>
          <a:solidFill>
            <a:srgbClr val="FFFFFF"/>
          </a:solidFill>
          <a:ln w="3810">
            <a:solidFill>
              <a:srgbClr val="D1D5DB"/>
            </a:solidFill>
            <a:prstDash val="solid"/>
          </a:ln>
        </p:spPr>
        <p:txBody>
          <a:bodyPr/>
          <a:lstStyle/>
          <a:p>
            <a:endParaRPr lang="en-IN"/>
          </a:p>
        </p:txBody>
      </p:sp>
      <p:sp>
        <p:nvSpPr>
          <p:cNvPr id="105" name="Text 103"/>
          <p:cNvSpPr/>
          <p:nvPr/>
        </p:nvSpPr>
        <p:spPr>
          <a:xfrm>
            <a:off x="4837176" y="3218688"/>
            <a:ext cx="97840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Multiclass</a:t>
            </a:r>
            <a:endParaRPr lang="en-US" sz="900" dirty="0"/>
          </a:p>
        </p:txBody>
      </p:sp>
      <p:sp>
        <p:nvSpPr>
          <p:cNvPr id="106" name="Shape 104"/>
          <p:cNvSpPr/>
          <p:nvPr/>
        </p:nvSpPr>
        <p:spPr>
          <a:xfrm>
            <a:off x="5870448" y="3218688"/>
            <a:ext cx="1188720" cy="329184"/>
          </a:xfrm>
          <a:prstGeom prst="rect">
            <a:avLst/>
          </a:prstGeom>
          <a:solidFill>
            <a:srgbClr val="FFFFFF"/>
          </a:solidFill>
          <a:ln w="3810">
            <a:solidFill>
              <a:srgbClr val="D1D5DB"/>
            </a:solidFill>
            <a:prstDash val="solid"/>
          </a:ln>
        </p:spPr>
        <p:txBody>
          <a:bodyPr/>
          <a:lstStyle/>
          <a:p>
            <a:endParaRPr lang="en-IN"/>
          </a:p>
        </p:txBody>
      </p:sp>
      <p:sp>
        <p:nvSpPr>
          <p:cNvPr id="107" name="Text 105"/>
          <p:cNvSpPr/>
          <p:nvPr/>
        </p:nvSpPr>
        <p:spPr>
          <a:xfrm>
            <a:off x="5907024" y="3218688"/>
            <a:ext cx="111556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Log Reg</a:t>
            </a:r>
            <a:endParaRPr lang="en-US" sz="900" dirty="0"/>
          </a:p>
        </p:txBody>
      </p:sp>
      <p:sp>
        <p:nvSpPr>
          <p:cNvPr id="108" name="Shape 106"/>
          <p:cNvSpPr/>
          <p:nvPr/>
        </p:nvSpPr>
        <p:spPr>
          <a:xfrm>
            <a:off x="7077456" y="3218688"/>
            <a:ext cx="822960" cy="329184"/>
          </a:xfrm>
          <a:prstGeom prst="rect">
            <a:avLst/>
          </a:prstGeom>
          <a:solidFill>
            <a:srgbClr val="FFFFFF"/>
          </a:solidFill>
          <a:ln w="3810">
            <a:solidFill>
              <a:srgbClr val="D1D5DB"/>
            </a:solidFill>
            <a:prstDash val="solid"/>
          </a:ln>
        </p:spPr>
        <p:txBody>
          <a:bodyPr/>
          <a:lstStyle/>
          <a:p>
            <a:endParaRPr lang="en-IN"/>
          </a:p>
        </p:txBody>
      </p:sp>
      <p:sp>
        <p:nvSpPr>
          <p:cNvPr id="109" name="Text 107"/>
          <p:cNvSpPr/>
          <p:nvPr/>
        </p:nvSpPr>
        <p:spPr>
          <a:xfrm>
            <a:off x="7114032" y="3218688"/>
            <a:ext cx="74980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0.8015*</a:t>
            </a:r>
            <a:endParaRPr lang="en-US" sz="900" dirty="0"/>
          </a:p>
        </p:txBody>
      </p:sp>
      <p:sp>
        <p:nvSpPr>
          <p:cNvPr id="110" name="Shape 108"/>
          <p:cNvSpPr/>
          <p:nvPr/>
        </p:nvSpPr>
        <p:spPr>
          <a:xfrm>
            <a:off x="7918704" y="3218688"/>
            <a:ext cx="822960" cy="329184"/>
          </a:xfrm>
          <a:prstGeom prst="rect">
            <a:avLst/>
          </a:prstGeom>
          <a:solidFill>
            <a:srgbClr val="FFFFFF"/>
          </a:solidFill>
          <a:ln w="3810">
            <a:solidFill>
              <a:srgbClr val="D1D5DB"/>
            </a:solidFill>
            <a:prstDash val="solid"/>
          </a:ln>
        </p:spPr>
        <p:txBody>
          <a:bodyPr/>
          <a:lstStyle/>
          <a:p>
            <a:endParaRPr lang="en-IN"/>
          </a:p>
        </p:txBody>
      </p:sp>
      <p:sp>
        <p:nvSpPr>
          <p:cNvPr id="111" name="Text 109"/>
          <p:cNvSpPr/>
          <p:nvPr/>
        </p:nvSpPr>
        <p:spPr>
          <a:xfrm>
            <a:off x="7955280" y="3218688"/>
            <a:ext cx="74980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0.7251*</a:t>
            </a:r>
            <a:endParaRPr lang="en-US" sz="900" dirty="0"/>
          </a:p>
        </p:txBody>
      </p:sp>
      <p:sp>
        <p:nvSpPr>
          <p:cNvPr id="112" name="Shape 110"/>
          <p:cNvSpPr/>
          <p:nvPr/>
        </p:nvSpPr>
        <p:spPr>
          <a:xfrm>
            <a:off x="4800600" y="3584448"/>
            <a:ext cx="1051560" cy="329184"/>
          </a:xfrm>
          <a:prstGeom prst="rect">
            <a:avLst/>
          </a:prstGeom>
          <a:solidFill>
            <a:srgbClr val="E8F4F8"/>
          </a:solidFill>
          <a:ln w="3810">
            <a:solidFill>
              <a:srgbClr val="D1D5DB"/>
            </a:solidFill>
            <a:prstDash val="solid"/>
          </a:ln>
        </p:spPr>
        <p:txBody>
          <a:bodyPr/>
          <a:lstStyle/>
          <a:p>
            <a:endParaRPr lang="en-IN"/>
          </a:p>
        </p:txBody>
      </p:sp>
      <p:sp>
        <p:nvSpPr>
          <p:cNvPr id="113" name="Text 111"/>
          <p:cNvSpPr/>
          <p:nvPr/>
        </p:nvSpPr>
        <p:spPr>
          <a:xfrm>
            <a:off x="4837176" y="3584448"/>
            <a:ext cx="97840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Multiclass</a:t>
            </a:r>
            <a:endParaRPr lang="en-US" sz="900" dirty="0"/>
          </a:p>
        </p:txBody>
      </p:sp>
      <p:sp>
        <p:nvSpPr>
          <p:cNvPr id="114" name="Shape 112"/>
          <p:cNvSpPr/>
          <p:nvPr/>
        </p:nvSpPr>
        <p:spPr>
          <a:xfrm>
            <a:off x="5870448" y="3584448"/>
            <a:ext cx="1188720" cy="329184"/>
          </a:xfrm>
          <a:prstGeom prst="rect">
            <a:avLst/>
          </a:prstGeom>
          <a:solidFill>
            <a:srgbClr val="E8F4F8"/>
          </a:solidFill>
          <a:ln w="3810">
            <a:solidFill>
              <a:srgbClr val="D1D5DB"/>
            </a:solidFill>
            <a:prstDash val="solid"/>
          </a:ln>
        </p:spPr>
        <p:txBody>
          <a:bodyPr/>
          <a:lstStyle/>
          <a:p>
            <a:endParaRPr lang="en-IN"/>
          </a:p>
        </p:txBody>
      </p:sp>
      <p:sp>
        <p:nvSpPr>
          <p:cNvPr id="115" name="Text 113"/>
          <p:cNvSpPr/>
          <p:nvPr/>
        </p:nvSpPr>
        <p:spPr>
          <a:xfrm>
            <a:off x="5907024" y="3584448"/>
            <a:ext cx="111556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Baseline</a:t>
            </a:r>
            <a:endParaRPr lang="en-US" sz="900" dirty="0"/>
          </a:p>
        </p:txBody>
      </p:sp>
      <p:sp>
        <p:nvSpPr>
          <p:cNvPr id="116" name="Shape 114"/>
          <p:cNvSpPr/>
          <p:nvPr/>
        </p:nvSpPr>
        <p:spPr>
          <a:xfrm>
            <a:off x="7077456" y="3584448"/>
            <a:ext cx="822960" cy="329184"/>
          </a:xfrm>
          <a:prstGeom prst="rect">
            <a:avLst/>
          </a:prstGeom>
          <a:solidFill>
            <a:srgbClr val="E8F4F8"/>
          </a:solidFill>
          <a:ln w="3810">
            <a:solidFill>
              <a:srgbClr val="D1D5DB"/>
            </a:solidFill>
            <a:prstDash val="solid"/>
          </a:ln>
        </p:spPr>
        <p:txBody>
          <a:bodyPr/>
          <a:lstStyle/>
          <a:p>
            <a:endParaRPr lang="en-IN"/>
          </a:p>
        </p:txBody>
      </p:sp>
      <p:sp>
        <p:nvSpPr>
          <p:cNvPr id="117" name="Text 115"/>
          <p:cNvSpPr/>
          <p:nvPr/>
        </p:nvSpPr>
        <p:spPr>
          <a:xfrm>
            <a:off x="7114032" y="3584448"/>
            <a:ext cx="74980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0.2500</a:t>
            </a:r>
            <a:endParaRPr lang="en-US" sz="900" dirty="0"/>
          </a:p>
        </p:txBody>
      </p:sp>
      <p:sp>
        <p:nvSpPr>
          <p:cNvPr id="118" name="Shape 116"/>
          <p:cNvSpPr/>
          <p:nvPr/>
        </p:nvSpPr>
        <p:spPr>
          <a:xfrm>
            <a:off x="7918704" y="3584448"/>
            <a:ext cx="822960" cy="329184"/>
          </a:xfrm>
          <a:prstGeom prst="rect">
            <a:avLst/>
          </a:prstGeom>
          <a:solidFill>
            <a:srgbClr val="E8F4F8"/>
          </a:solidFill>
          <a:ln w="3810">
            <a:solidFill>
              <a:srgbClr val="D1D5DB"/>
            </a:solidFill>
            <a:prstDash val="solid"/>
          </a:ln>
        </p:spPr>
        <p:txBody>
          <a:bodyPr/>
          <a:lstStyle/>
          <a:p>
            <a:endParaRPr lang="en-IN"/>
          </a:p>
        </p:txBody>
      </p:sp>
      <p:sp>
        <p:nvSpPr>
          <p:cNvPr id="119" name="Text 117"/>
          <p:cNvSpPr/>
          <p:nvPr/>
        </p:nvSpPr>
        <p:spPr>
          <a:xfrm>
            <a:off x="7955280" y="3584448"/>
            <a:ext cx="749808" cy="32918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0.2000</a:t>
            </a:r>
            <a:endParaRPr lang="en-US" sz="900" dirty="0"/>
          </a:p>
        </p:txBody>
      </p:sp>
      <p:sp>
        <p:nvSpPr>
          <p:cNvPr id="120" name="Text 118"/>
          <p:cNvSpPr/>
          <p:nvPr/>
        </p:nvSpPr>
        <p:spPr>
          <a:xfrm>
            <a:off x="4800600" y="4005072"/>
            <a:ext cx="4069080" cy="457200"/>
          </a:xfrm>
          <a:prstGeom prst="rect">
            <a:avLst/>
          </a:prstGeom>
          <a:noFill/>
          <a:ln/>
        </p:spPr>
        <p:txBody>
          <a:bodyPr wrap="square" lIns="0" tIns="0" rIns="0" bIns="0"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 Multiclass LR balanced accuracy is CV estimate; test table shows 0.802 for best CV config. k-NN multiclass macro F1=0.8911 is test-set result.</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TotalTime>
  <Words>3638</Words>
  <Application>Microsoft Office PowerPoint</Application>
  <PresentationFormat>On-screen Show (16:9)</PresentationFormat>
  <Paragraphs>464</Paragraphs>
  <Slides>18</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a URL's Text Reveal Its Intent?</dc:title>
  <dc:subject>PptxGenJS Presentation</dc:subject>
  <dc:creator>Malicious URL Detection Project</dc:creator>
  <cp:lastModifiedBy>Nimish Sood</cp:lastModifiedBy>
  <cp:revision>7</cp:revision>
  <dcterms:created xsi:type="dcterms:W3CDTF">2026-03-22T18:54:11Z</dcterms:created>
  <dcterms:modified xsi:type="dcterms:W3CDTF">2026-03-23T04:27:46Z</dcterms:modified>
</cp:coreProperties>
</file>