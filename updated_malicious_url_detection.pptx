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deck: malicious_url_detection.pptx, slide 1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stage. Emphasize that lexical features only is the key constraint. Establish the 4 classes and two tasks before moving to the data.
[Sources]
- User-provided deck: malicious_url_detection.pptx, slide 2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imbalance early. The 18:1 ratio is the single most important data characteristic for understanding why balanced accuracy and macro F1 matter. Mention the Kaggle source if someone asks.
[Sources]
- User-provided deck: malicious_url_detection.pptx, slide 3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majority baseline as the intuition pump. Accuracy alone can look decent because benign dominates. Balanced accuracy averages recall across classes, and macro F1 averages class-wise F1 scores, so the minority malicious classes cannot disappear inside one big headline number.
[Sources]
- User-provided notebook: file1.ipynb (cleaned class distribution and 18.10:1 imbalance ratio)
- User-provided notebook: 02_statistical_modeling.ipynb (binary majority baseline accuracy 0.6678, balanced accuracy emphasis, macro F1 emphasis)
- User-provided deck: malicious_url_detection.pptx, slide 3 (visual template and metric motivation)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brief. The key message is that the cleaning pipeline is transparent and auditable, and nearly all rows survive. Emphasize the URL length and scheme findings because they foreshadow later model behavior.
[Sources]
- User-provided deck: malicious_url_detection.pptx, slide 4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feature sets: core means structural and count features, while extended adds suspicious token flags such as verify and login. The gain from tokens is marginal, so most signal already lives in the core structure.
[Sources]
- User-provided deck: malicious_url_detection.pptx, slide 5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cross-validation happens only on the training data. Each fold takes a turn as validation, and the scores are averaged before any final test-set evaluation happens. The point is fairer tuning and a more stable comparison, not extra complexity for its own sake.
[Sources]
- User-provided notebook: 02_statistical_modeling.ipynb (80/20 split, 3 CV folds, tuning C, k, and class_weight on training only)
- User-provided deck: malicious_url_detection.pptx, slide 5 (workflow wording and visual template)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intuitive. A new URL is converted into the same standardized lexical features, the 5 closest training URLs are found using Manhattan distance, and each neighbor gets one vote. If most nearby examples are malicious, the prediction is malicious.
[Sources]
- User-provided notebook: 02_statistical_modeling.ipynb (binary k-NN best setting: k=5, p=1 Manhattan distance, uniform weights)
- User-provided deck: malicious_url_detection.pptx, slides 5 and 6 (workflow and binary result context, plus visual style)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k-NN wins on every predictive metric. Keep logistic regression in the story because its coefficients are interpretable, which is why the next slide matters. The baseline proves we cannot simply predict benign all the time.
[Sources]
- User-provided deck: malicious_url_detection.pptx, slide 6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here to decode the binary results for a non-expert audience. Stress that support is not a score, and that higher values are better for balanced accuracy, macro F1, precision, recall, and F1.
[Sources]
- User-provided notebook: 02_statistical_modeling.ipynb (binary test metrics, precision, recall, F1, and support table)
- User-provided deck: malicious_url_detection.pptx, slide 6 (binary results layout and terminology)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logistic regression as the explanatory model. C=10 means lighter regularization than smaller C values, and balanced class weights stop the benign majority from dominating the fit.
[Sources]
- User-provided notebook: 02_statistical_modeling.ipynb (best logistic regression setting: C=10, class_weight=balanced; coefficient interpretation)
- User-provided deck: malicious_url_detection.pptx, slides 6, 7, and 11 (terminology and visual style)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interpretation slides. The large has_scheme coefficient reflects dataset composition, not a universal causal rule. Do not let the audience over-generalize it.
[Sources]
- User-provided deck: malicious_url_detection.pptx, slide 7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phishing row is the main message. Logistic regression struggles most there because phishing URLs overlap more with benign and defacement URLs in lexical structure. k-NN helps, but the limitation remains honest and important.
[Sources]
- User-provided deck: malicious_url_detection.pptx, slide 8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the audience understands that gain is a difference, not a standalone score. Positive gain means k-NN improved over logistic regression for that class, and phishing shows the biggest class-specific improvement.
[Sources]
- User-provided notebook: 02_statistical_modeling.ipynb (multiclass macro F1, balanced accuracy, per-class F1 values, and phishing hardest-class finding)
- User-provided deck: malicious_url_detection.pptx, slide 8 (multiclass result layout and shorthand labels)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honesty slide. The class should leave understanding that strong balanced accuracy does not mean the problem is solved. Source bias, label quality, and lexical-only scope still matter.
[Sources]
- User-provided deck: malicious_url_detection.pptx, slide 9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The project did what it set out to do: build a reproducible, interpretable, honest pipeline for lexical URL classification.
[Sources]
- User-provided deck: malicious_url_detection.pptx, slide 10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asked. Use it for exact hyperparameters, the tiny feature-set gain, or any question about how cross-validation picked the final settings.
[Sources]
- User-provided deck: malicious_url_detection.pptx, slide 11 (used as the preserved visual template for this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url_deck_update/original/slide-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url_deck_update/original/slide-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url_deck_update/original/slide-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84048"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Why Accuracy Alone Is Misleading Here</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sp>
      <p:sp>
        <p:nvSpPr>
          <p:cNvPr id="5" name="Text 3"/>
          <p:cNvSpPr/>
          <p:nvPr/>
        </p:nvSpPr>
        <p:spPr>
          <a:xfrm>
            <a:off x="274320" y="4892040"/>
            <a:ext cx="8595360" cy="25146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Malicious URL Detection · Lexical Features Only  |  Evaluation Metrics</a:t>
            </a:r>
            <a:endParaRPr lang="en-US" sz="800" dirty="0"/>
          </a:p>
        </p:txBody>
      </p:sp>
      <p:sp>
        <p:nvSpPr>
          <p:cNvPr id="6" name="Text 4"/>
          <p:cNvSpPr/>
          <p:nvPr/>
        </p:nvSpPr>
        <p:spPr>
          <a:xfrm>
            <a:off x="320040" y="749808"/>
            <a:ext cx="8503920" cy="256032"/>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Because benign URLs dominate and malware is rare, one overall accuracy number can hide the mistakes that matter.</a:t>
            </a:r>
            <a:endParaRPr lang="en-US" sz="1000" dirty="0"/>
          </a:p>
        </p:txBody>
      </p:sp>
      <p:sp>
        <p:nvSpPr>
          <p:cNvPr id="7" name="Shape 5"/>
          <p:cNvSpPr/>
          <p:nvPr/>
        </p:nvSpPr>
        <p:spPr>
          <a:xfrm>
            <a:off x="228600" y="1097280"/>
            <a:ext cx="2788920" cy="1481328"/>
          </a:xfrm>
          <a:prstGeom prst="rect">
            <a:avLst/>
          </a:prstGeom>
          <a:solidFill>
            <a:srgbClr val="FFFFFF"/>
          </a:solidFill>
          <a:ln w="12700">
            <a:solidFill>
              <a:srgbClr val="D1D5DB"/>
            </a:solidFill>
            <a:prstDash val="solid"/>
          </a:ln>
        </p:spPr>
      </p:sp>
      <p:sp>
        <p:nvSpPr>
          <p:cNvPr id="8" name="Shape 6"/>
          <p:cNvSpPr/>
          <p:nvPr/>
        </p:nvSpPr>
        <p:spPr>
          <a:xfrm>
            <a:off x="228600" y="1097280"/>
            <a:ext cx="2788920" cy="274320"/>
          </a:xfrm>
          <a:prstGeom prst="rect">
            <a:avLst/>
          </a:prstGeom>
          <a:solidFill>
            <a:srgbClr val="E63946"/>
          </a:solidFill>
          <a:ln w="12700">
            <a:solidFill>
              <a:srgbClr val="E63946"/>
            </a:solidFill>
            <a:prstDash val="solid"/>
          </a:ln>
        </p:spPr>
      </p:sp>
      <p:sp>
        <p:nvSpPr>
          <p:cNvPr id="9" name="Text 7"/>
          <p:cNvSpPr/>
          <p:nvPr/>
        </p:nvSpPr>
        <p:spPr>
          <a:xfrm>
            <a:off x="338328" y="1115568"/>
            <a:ext cx="25694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Plain Accuracy</a:t>
            </a:r>
            <a:endParaRPr lang="en-US" sz="1060" dirty="0"/>
          </a:p>
        </p:txBody>
      </p:sp>
      <p:sp>
        <p:nvSpPr>
          <p:cNvPr id="10" name="Text 8"/>
          <p:cNvSpPr/>
          <p:nvPr/>
        </p:nvSpPr>
        <p:spPr>
          <a:xfrm>
            <a:off x="356616" y="1481328"/>
            <a:ext cx="2532888" cy="1024128"/>
          </a:xfrm>
          <a:prstGeom prst="rect">
            <a:avLst/>
          </a:prstGeom>
          <a:noFill/>
          <a:ln/>
        </p:spPr>
        <p:txBody>
          <a:bodyPr wrap="square" lIns="0" tIns="0" rIns="0" bIns="0" rtlCol="0" anchor="t"/>
          <a:lstStyle/>
          <a:p>
            <a:pPr indent="0" marL="0">
              <a:buNone/>
            </a:pPr>
            <a:r>
              <a:rPr lang="en-US" sz="920" dirty="0">
                <a:solidFill>
                  <a:srgbClr val="334155"/>
                </a:solidFill>
                <a:latin typeface="Calibri" pitchFamily="34" charset="0"/>
                <a:ea typeface="Calibri" pitchFamily="34" charset="-122"/>
                <a:cs typeface="Calibri" pitchFamily="34" charset="-120"/>
              </a:rPr>
              <a:t>Share of all predictions that are correct.</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Here, that number can still look strong</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if a model predicts benign too often.</a:t>
            </a:r>
            <a:endParaRPr lang="en-US" sz="920" dirty="0"/>
          </a:p>
        </p:txBody>
      </p:sp>
      <p:sp>
        <p:nvSpPr>
          <p:cNvPr id="11" name="Shape 9"/>
          <p:cNvSpPr/>
          <p:nvPr/>
        </p:nvSpPr>
        <p:spPr>
          <a:xfrm>
            <a:off x="3172968" y="1097280"/>
            <a:ext cx="2788920" cy="1481328"/>
          </a:xfrm>
          <a:prstGeom prst="rect">
            <a:avLst/>
          </a:prstGeom>
          <a:solidFill>
            <a:srgbClr val="FFFFFF"/>
          </a:solidFill>
          <a:ln w="12700">
            <a:solidFill>
              <a:srgbClr val="D1D5DB"/>
            </a:solidFill>
            <a:prstDash val="solid"/>
          </a:ln>
        </p:spPr>
      </p:sp>
      <p:sp>
        <p:nvSpPr>
          <p:cNvPr id="12" name="Shape 10"/>
          <p:cNvSpPr/>
          <p:nvPr/>
        </p:nvSpPr>
        <p:spPr>
          <a:xfrm>
            <a:off x="3172968" y="1097280"/>
            <a:ext cx="2788920" cy="274320"/>
          </a:xfrm>
          <a:prstGeom prst="rect">
            <a:avLst/>
          </a:prstGeom>
          <a:solidFill>
            <a:srgbClr val="028090"/>
          </a:solidFill>
          <a:ln w="12700">
            <a:solidFill>
              <a:srgbClr val="028090"/>
            </a:solidFill>
            <a:prstDash val="solid"/>
          </a:ln>
        </p:spPr>
      </p:sp>
      <p:sp>
        <p:nvSpPr>
          <p:cNvPr id="13" name="Text 11"/>
          <p:cNvSpPr/>
          <p:nvPr/>
        </p:nvSpPr>
        <p:spPr>
          <a:xfrm>
            <a:off x="3282696" y="1115568"/>
            <a:ext cx="25694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Balanced Accuracy</a:t>
            </a:r>
            <a:endParaRPr lang="en-US" sz="1060" dirty="0"/>
          </a:p>
        </p:txBody>
      </p:sp>
      <p:sp>
        <p:nvSpPr>
          <p:cNvPr id="14" name="Text 12"/>
          <p:cNvSpPr/>
          <p:nvPr/>
        </p:nvSpPr>
        <p:spPr>
          <a:xfrm>
            <a:off x="3300984" y="1481328"/>
            <a:ext cx="2532888" cy="1024128"/>
          </a:xfrm>
          <a:prstGeom prst="rect">
            <a:avLst/>
          </a:prstGeom>
          <a:noFill/>
          <a:ln/>
        </p:spPr>
        <p:txBody>
          <a:bodyPr wrap="square" lIns="0" tIns="0" rIns="0" bIns="0" rtlCol="0" anchor="t"/>
          <a:lstStyle/>
          <a:p>
            <a:pPr indent="0" marL="0">
              <a:buNone/>
            </a:pPr>
            <a:r>
              <a:rPr lang="en-US" sz="920" dirty="0">
                <a:solidFill>
                  <a:srgbClr val="334155"/>
                </a:solidFill>
                <a:latin typeface="Calibri" pitchFamily="34" charset="0"/>
                <a:ea typeface="Calibri" pitchFamily="34" charset="-122"/>
                <a:cs typeface="Calibri" pitchFamily="34" charset="-120"/>
              </a:rPr>
              <a:t>Average recall across classes.</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Benign and malicious count equally,</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so one class cannot hide the other.</a:t>
            </a:r>
            <a:endParaRPr lang="en-US" sz="920" dirty="0"/>
          </a:p>
        </p:txBody>
      </p:sp>
      <p:sp>
        <p:nvSpPr>
          <p:cNvPr id="15" name="Shape 13"/>
          <p:cNvSpPr/>
          <p:nvPr/>
        </p:nvSpPr>
        <p:spPr>
          <a:xfrm>
            <a:off x="6117336" y="1097280"/>
            <a:ext cx="2788920" cy="1481328"/>
          </a:xfrm>
          <a:prstGeom prst="rect">
            <a:avLst/>
          </a:prstGeom>
          <a:solidFill>
            <a:srgbClr val="FFFFFF"/>
          </a:solidFill>
          <a:ln w="12700">
            <a:solidFill>
              <a:srgbClr val="D1D5DB"/>
            </a:solidFill>
            <a:prstDash val="solid"/>
          </a:ln>
        </p:spPr>
      </p:sp>
      <p:sp>
        <p:nvSpPr>
          <p:cNvPr id="16" name="Shape 14"/>
          <p:cNvSpPr/>
          <p:nvPr/>
        </p:nvSpPr>
        <p:spPr>
          <a:xfrm>
            <a:off x="6117336" y="1097280"/>
            <a:ext cx="2788920" cy="274320"/>
          </a:xfrm>
          <a:prstGeom prst="rect">
            <a:avLst/>
          </a:prstGeom>
          <a:solidFill>
            <a:srgbClr val="0D1B2A"/>
          </a:solidFill>
          <a:ln w="12700">
            <a:solidFill>
              <a:srgbClr val="0D1B2A"/>
            </a:solidFill>
            <a:prstDash val="solid"/>
          </a:ln>
        </p:spPr>
      </p:sp>
      <p:sp>
        <p:nvSpPr>
          <p:cNvPr id="17" name="Text 15"/>
          <p:cNvSpPr/>
          <p:nvPr/>
        </p:nvSpPr>
        <p:spPr>
          <a:xfrm>
            <a:off x="6227064" y="1115568"/>
            <a:ext cx="25694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Macro F1</a:t>
            </a:r>
            <a:endParaRPr lang="en-US" sz="1060" dirty="0"/>
          </a:p>
        </p:txBody>
      </p:sp>
      <p:sp>
        <p:nvSpPr>
          <p:cNvPr id="18" name="Text 16"/>
          <p:cNvSpPr/>
          <p:nvPr/>
        </p:nvSpPr>
        <p:spPr>
          <a:xfrm>
            <a:off x="6245352" y="1481328"/>
            <a:ext cx="2532888" cy="1024128"/>
          </a:xfrm>
          <a:prstGeom prst="rect">
            <a:avLst/>
          </a:prstGeom>
          <a:noFill/>
          <a:ln/>
        </p:spPr>
        <p:txBody>
          <a:bodyPr wrap="square" lIns="0" tIns="0" rIns="0" bIns="0" rtlCol="0" anchor="t"/>
          <a:lstStyle/>
          <a:p>
            <a:pPr indent="0" marL="0">
              <a:buNone/>
            </a:pPr>
            <a:r>
              <a:rPr lang="en-US" sz="920" dirty="0">
                <a:solidFill>
                  <a:srgbClr val="334155"/>
                </a:solidFill>
                <a:latin typeface="Calibri" pitchFamily="34" charset="0"/>
                <a:ea typeface="Calibri" pitchFamily="34" charset="-122"/>
                <a:cs typeface="Calibri" pitchFamily="34" charset="-120"/>
              </a:rPr>
              <a:t>Average of the class-level F1 scores.</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Useful when we care about precision</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and recall for every class.</a:t>
            </a:r>
            <a:endParaRPr lang="en-US" sz="920" dirty="0"/>
          </a:p>
        </p:txBody>
      </p:sp>
      <p:sp>
        <p:nvSpPr>
          <p:cNvPr id="19" name="Shape 17"/>
          <p:cNvSpPr/>
          <p:nvPr/>
        </p:nvSpPr>
        <p:spPr>
          <a:xfrm>
            <a:off x="320040" y="2852928"/>
            <a:ext cx="8503920" cy="1499616"/>
          </a:xfrm>
          <a:prstGeom prst="rect">
            <a:avLst/>
          </a:prstGeom>
          <a:solidFill>
            <a:srgbClr val="CADCFC"/>
          </a:solidFill>
          <a:ln w="12700">
            <a:solidFill>
              <a:srgbClr val="028090"/>
            </a:solidFill>
            <a:prstDash val="solid"/>
          </a:ln>
        </p:spPr>
      </p:sp>
      <p:sp>
        <p:nvSpPr>
          <p:cNvPr id="20" name="Text 18"/>
          <p:cNvSpPr/>
          <p:nvPr/>
        </p:nvSpPr>
        <p:spPr>
          <a:xfrm>
            <a:off x="448056" y="2926080"/>
            <a:ext cx="8247888" cy="201168"/>
          </a:xfrm>
          <a:prstGeom prst="rect">
            <a:avLst/>
          </a:prstGeom>
          <a:noFill/>
          <a:ln/>
        </p:spPr>
        <p:txBody>
          <a:bodyPr wrap="square" lIns="0" tIns="0" rIns="0" bIns="0" rtlCol="0" anchor="t"/>
          <a:lstStyle/>
          <a:p>
            <a:pPr indent="0" marL="0">
              <a:buNone/>
            </a:pPr>
            <a:r>
              <a:rPr lang="en-US" sz="1080" b="1" dirty="0">
                <a:solidFill>
                  <a:srgbClr val="0D1B2A"/>
                </a:solidFill>
                <a:latin typeface="Calibri" pitchFamily="34" charset="0"/>
                <a:ea typeface="Calibri" pitchFamily="34" charset="-122"/>
                <a:cs typeface="Calibri" pitchFamily="34" charset="-120"/>
              </a:rPr>
              <a:t>Why these metrics fit this project</a:t>
            </a:r>
            <a:endParaRPr lang="en-US" sz="1080" dirty="0"/>
          </a:p>
        </p:txBody>
      </p:sp>
      <p:sp>
        <p:nvSpPr>
          <p:cNvPr id="21" name="Text 19"/>
          <p:cNvSpPr/>
          <p:nvPr/>
        </p:nvSpPr>
        <p:spPr>
          <a:xfrm>
            <a:off x="448056" y="3163824"/>
            <a:ext cx="8247888" cy="1115568"/>
          </a:xfrm>
          <a:prstGeom prst="rect">
            <a:avLst/>
          </a:prstGeom>
          <a:noFill/>
          <a:ln/>
        </p:spPr>
        <p:txBody>
          <a:bodyPr wrap="square" lIns="0" tIns="0" rIns="0" bIns="0" rtlCol="0" anchor="t"/>
          <a:lstStyle/>
          <a:p>
            <a:pPr indent="0" marL="0">
              <a:buNone/>
            </a:pPr>
            <a:r>
              <a:rPr lang="en-US" sz="920" dirty="0">
                <a:solidFill>
                  <a:srgbClr val="334155"/>
                </a:solidFill>
                <a:latin typeface="Calibri" pitchFamily="34" charset="0"/>
                <a:ea typeface="Calibri" pitchFamily="34" charset="-122"/>
                <a:cs typeface="Calibri" pitchFamily="34" charset="-120"/>
              </a:rPr>
              <a:t>- In the binary task, the majority baseline gets about 66.8% accuracy by always predicting benign, but malicious recall is 0.</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 Balanced accuracy checks whether each class is actually being found.</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 Macro F1 is especially useful in the 4-class task because phishing, defacement, and malware still count equally in the average.</a:t>
            </a:r>
            <a:endParaRPr lang="en-US" sz="9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url_deck_update/original/slide-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url_deck_update/original/slide-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84048"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What "3-Fold CV on Train" Means</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sp>
      <p:sp>
        <p:nvSpPr>
          <p:cNvPr id="5" name="Text 3"/>
          <p:cNvSpPr/>
          <p:nvPr/>
        </p:nvSpPr>
        <p:spPr>
          <a:xfrm>
            <a:off x="274320" y="4892040"/>
            <a:ext cx="8595360" cy="25146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Malicious URL Detection · Lexical Features Only  |  Cross-Validation</a:t>
            </a:r>
            <a:endParaRPr lang="en-US" sz="800" dirty="0"/>
          </a:p>
        </p:txBody>
      </p:sp>
      <p:sp>
        <p:nvSpPr>
          <p:cNvPr id="6" name="Text 4"/>
          <p:cNvSpPr/>
          <p:nvPr/>
        </p:nvSpPr>
        <p:spPr>
          <a:xfrm>
            <a:off x="320040" y="749808"/>
            <a:ext cx="8503920" cy="256032"/>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Cross-validation happens only inside the training split; the held-out test set is saved for the final check.</a:t>
            </a:r>
            <a:endParaRPr lang="en-US" sz="1000" dirty="0"/>
          </a:p>
        </p:txBody>
      </p:sp>
      <p:sp>
        <p:nvSpPr>
          <p:cNvPr id="7" name="Shape 5"/>
          <p:cNvSpPr/>
          <p:nvPr/>
        </p:nvSpPr>
        <p:spPr>
          <a:xfrm>
            <a:off x="320040" y="1078992"/>
            <a:ext cx="3794760" cy="1920240"/>
          </a:xfrm>
          <a:prstGeom prst="rect">
            <a:avLst/>
          </a:prstGeom>
          <a:solidFill>
            <a:srgbClr val="FFFFFF"/>
          </a:solidFill>
          <a:ln w="15875">
            <a:solidFill>
              <a:srgbClr val="028090"/>
            </a:solidFill>
            <a:prstDash val="solid"/>
          </a:ln>
        </p:spPr>
      </p:sp>
      <p:sp>
        <p:nvSpPr>
          <p:cNvPr id="8" name="Text 6"/>
          <p:cNvSpPr/>
          <p:nvPr/>
        </p:nvSpPr>
        <p:spPr>
          <a:xfrm>
            <a:off x="448056" y="1170432"/>
            <a:ext cx="3538728" cy="256032"/>
          </a:xfrm>
          <a:prstGeom prst="rect">
            <a:avLst/>
          </a:prstGeom>
          <a:noFill/>
          <a:ln/>
        </p:spPr>
        <p:txBody>
          <a:bodyPr wrap="square" lIns="0" tIns="0" rIns="0" bIns="0" rtlCol="0" anchor="t"/>
          <a:lstStyle/>
          <a:p>
            <a:pPr indent="0" marL="0">
              <a:buNone/>
            </a:pPr>
            <a:r>
              <a:rPr lang="en-US" sz="1120" b="1" dirty="0">
                <a:solidFill>
                  <a:srgbClr val="028090"/>
                </a:solidFill>
                <a:latin typeface="Calibri" pitchFamily="34" charset="0"/>
                <a:ea typeface="Calibri" pitchFamily="34" charset="-122"/>
                <a:cs typeface="Calibri" pitchFamily="34" charset="-120"/>
              </a:rPr>
              <a:t>The idea</a:t>
            </a:r>
            <a:endParaRPr lang="en-US" sz="1120" dirty="0"/>
          </a:p>
        </p:txBody>
      </p:sp>
      <p:sp>
        <p:nvSpPr>
          <p:cNvPr id="9" name="Text 7"/>
          <p:cNvSpPr/>
          <p:nvPr/>
        </p:nvSpPr>
        <p:spPr>
          <a:xfrm>
            <a:off x="466344" y="1490472"/>
            <a:ext cx="3502152" cy="1417320"/>
          </a:xfrm>
          <a:prstGeom prst="rect">
            <a:avLst/>
          </a:prstGeom>
          <a:noFill/>
          <a:ln/>
        </p:spPr>
        <p:txBody>
          <a:bodyPr wrap="square" lIns="0" tIns="0" rIns="0" bIns="0" rtlCol="0" anchor="t"/>
          <a:lstStyle/>
          <a:p>
            <a:pPr indent="0" marL="0">
              <a:buNone/>
            </a:pPr>
            <a:r>
              <a:rPr lang="en-US" sz="940" dirty="0">
                <a:solidFill>
                  <a:srgbClr val="334155"/>
                </a:solidFill>
                <a:latin typeface="Calibri" pitchFamily="34" charset="0"/>
                <a:ea typeface="Calibri" pitchFamily="34" charset="-122"/>
                <a:cs typeface="Calibri" pitchFamily="34" charset="-120"/>
              </a:rPr>
              <a:t>- Split the training data into 3 stratified parts</a:t>
            </a:r>
            <a:endParaRPr lang="en-US" sz="940" dirty="0"/>
          </a:p>
          <a:p>
            <a:pPr indent="0" marL="0">
              <a:buNone/>
            </a:pPr>
            <a:r>
              <a:rPr lang="en-US" sz="940" dirty="0">
                <a:solidFill>
                  <a:srgbClr val="334155"/>
                </a:solidFill>
                <a:latin typeface="Calibri" pitchFamily="34" charset="0"/>
                <a:ea typeface="Calibri" pitchFamily="34" charset="-122"/>
                <a:cs typeface="Calibri" pitchFamily="34" charset="-120"/>
              </a:rPr>
              <a:t>- Train on 2 parts and validate on the remaining part</a:t>
            </a:r>
            <a:endParaRPr lang="en-US" sz="940" dirty="0"/>
          </a:p>
          <a:p>
            <a:pPr indent="0" marL="0">
              <a:buNone/>
            </a:pPr>
            <a:r>
              <a:rPr lang="en-US" sz="940" dirty="0">
                <a:solidFill>
                  <a:srgbClr val="334155"/>
                </a:solidFill>
                <a:latin typeface="Calibri" pitchFamily="34" charset="0"/>
                <a:ea typeface="Calibri" pitchFamily="34" charset="-122"/>
                <a:cs typeface="Calibri" pitchFamily="34" charset="-120"/>
              </a:rPr>
              <a:t>- Rotate the validation part 3 times</a:t>
            </a:r>
            <a:endParaRPr lang="en-US" sz="940" dirty="0"/>
          </a:p>
          <a:p>
            <a:pPr indent="0" marL="0">
              <a:buNone/>
            </a:pPr>
            <a:r>
              <a:rPr lang="en-US" sz="940" dirty="0">
                <a:solidFill>
                  <a:srgbClr val="334155"/>
                </a:solidFill>
                <a:latin typeface="Calibri" pitchFamily="34" charset="0"/>
                <a:ea typeface="Calibri" pitchFamily="34" charset="-122"/>
                <a:cs typeface="Calibri" pitchFamily="34" charset="-120"/>
              </a:rPr>
              <a:t>- Average the 3 validation scores</a:t>
            </a:r>
            <a:endParaRPr lang="en-US" sz="940" dirty="0"/>
          </a:p>
        </p:txBody>
      </p:sp>
      <p:sp>
        <p:nvSpPr>
          <p:cNvPr id="10" name="Shape 8"/>
          <p:cNvSpPr/>
          <p:nvPr/>
        </p:nvSpPr>
        <p:spPr>
          <a:xfrm>
            <a:off x="4343400" y="1078992"/>
            <a:ext cx="4480560" cy="1920240"/>
          </a:xfrm>
          <a:prstGeom prst="rect">
            <a:avLst/>
          </a:prstGeom>
          <a:solidFill>
            <a:srgbClr val="FFFFFF"/>
          </a:solidFill>
          <a:ln w="12700">
            <a:solidFill>
              <a:srgbClr val="D1D5DB"/>
            </a:solidFill>
            <a:prstDash val="solid"/>
          </a:ln>
        </p:spPr>
      </p:sp>
      <p:sp>
        <p:nvSpPr>
          <p:cNvPr id="11" name="Text 9"/>
          <p:cNvSpPr/>
          <p:nvPr/>
        </p:nvSpPr>
        <p:spPr>
          <a:xfrm>
            <a:off x="4471416" y="1170432"/>
            <a:ext cx="3200400" cy="219456"/>
          </a:xfrm>
          <a:prstGeom prst="rect">
            <a:avLst/>
          </a:prstGeom>
          <a:noFill/>
          <a:ln/>
        </p:spPr>
        <p:txBody>
          <a:bodyPr wrap="square" lIns="0" tIns="0" rIns="0" bIns="0" rtlCol="0" anchor="t"/>
          <a:lstStyle/>
          <a:p>
            <a:pPr indent="0" marL="0">
              <a:buNone/>
            </a:pPr>
            <a:r>
              <a:rPr lang="en-US" sz="1120" b="1" dirty="0">
                <a:solidFill>
                  <a:srgbClr val="0D1B2A"/>
                </a:solidFill>
                <a:latin typeface="Calibri" pitchFamily="34" charset="0"/>
                <a:ea typeface="Calibri" pitchFamily="34" charset="-122"/>
                <a:cs typeface="Calibri" pitchFamily="34" charset="-120"/>
              </a:rPr>
              <a:t>Fold rotation</a:t>
            </a:r>
            <a:endParaRPr lang="en-US" sz="1120" dirty="0"/>
          </a:p>
        </p:txBody>
      </p:sp>
      <p:sp>
        <p:nvSpPr>
          <p:cNvPr id="12" name="Shape 10"/>
          <p:cNvSpPr/>
          <p:nvPr/>
        </p:nvSpPr>
        <p:spPr>
          <a:xfrm>
            <a:off x="7845552" y="1188720"/>
            <a:ext cx="128016" cy="128016"/>
          </a:xfrm>
          <a:prstGeom prst="rect">
            <a:avLst/>
          </a:prstGeom>
          <a:solidFill>
            <a:srgbClr val="028090"/>
          </a:solidFill>
          <a:ln w="12700">
            <a:solidFill>
              <a:srgbClr val="028090"/>
            </a:solidFill>
            <a:prstDash val="solid"/>
          </a:ln>
        </p:spPr>
      </p:sp>
      <p:sp>
        <p:nvSpPr>
          <p:cNvPr id="13" name="Text 11"/>
          <p:cNvSpPr/>
          <p:nvPr/>
        </p:nvSpPr>
        <p:spPr>
          <a:xfrm>
            <a:off x="8010144" y="1143000"/>
            <a:ext cx="411480" cy="182880"/>
          </a:xfrm>
          <a:prstGeom prst="rect">
            <a:avLst/>
          </a:prstGeom>
          <a:noFill/>
          <a:ln/>
        </p:spPr>
        <p:txBody>
          <a:bodyPr wrap="square" lIns="0" tIns="0" rIns="0" bIns="0" rtlCol="0" anchor="t"/>
          <a:lstStyle/>
          <a:p>
            <a:pPr indent="0" marL="0">
              <a:buNone/>
            </a:pPr>
            <a:r>
              <a:rPr lang="en-US" sz="830" dirty="0">
                <a:solidFill>
                  <a:srgbClr val="334155"/>
                </a:solidFill>
                <a:latin typeface="Calibri" pitchFamily="34" charset="0"/>
                <a:ea typeface="Calibri" pitchFamily="34" charset="-122"/>
                <a:cs typeface="Calibri" pitchFamily="34" charset="-120"/>
              </a:rPr>
              <a:t>train</a:t>
            </a:r>
            <a:endParaRPr lang="en-US" sz="830" dirty="0"/>
          </a:p>
        </p:txBody>
      </p:sp>
      <p:sp>
        <p:nvSpPr>
          <p:cNvPr id="14" name="Shape 12"/>
          <p:cNvSpPr/>
          <p:nvPr/>
        </p:nvSpPr>
        <p:spPr>
          <a:xfrm>
            <a:off x="8275320" y="1188720"/>
            <a:ext cx="128016" cy="128016"/>
          </a:xfrm>
          <a:prstGeom prst="rect">
            <a:avLst/>
          </a:prstGeom>
          <a:solidFill>
            <a:srgbClr val="F59E0B"/>
          </a:solidFill>
          <a:ln w="12700">
            <a:solidFill>
              <a:srgbClr val="F59E0B"/>
            </a:solidFill>
            <a:prstDash val="solid"/>
          </a:ln>
        </p:spPr>
      </p:sp>
      <p:sp>
        <p:nvSpPr>
          <p:cNvPr id="15" name="Text 13"/>
          <p:cNvSpPr/>
          <p:nvPr/>
        </p:nvSpPr>
        <p:spPr>
          <a:xfrm>
            <a:off x="8439912" y="1143000"/>
            <a:ext cx="228600" cy="182880"/>
          </a:xfrm>
          <a:prstGeom prst="rect">
            <a:avLst/>
          </a:prstGeom>
          <a:noFill/>
          <a:ln/>
        </p:spPr>
        <p:txBody>
          <a:bodyPr wrap="square" lIns="0" tIns="0" rIns="0" bIns="0" rtlCol="0" anchor="t"/>
          <a:lstStyle/>
          <a:p>
            <a:pPr indent="0" marL="0">
              <a:buNone/>
            </a:pPr>
            <a:r>
              <a:rPr lang="en-US" sz="830" dirty="0">
                <a:solidFill>
                  <a:srgbClr val="334155"/>
                </a:solidFill>
                <a:latin typeface="Calibri" pitchFamily="34" charset="0"/>
                <a:ea typeface="Calibri" pitchFamily="34" charset="-122"/>
                <a:cs typeface="Calibri" pitchFamily="34" charset="-120"/>
              </a:rPr>
              <a:t>val</a:t>
            </a:r>
            <a:endParaRPr lang="en-US" sz="830" dirty="0"/>
          </a:p>
        </p:txBody>
      </p:sp>
      <p:sp>
        <p:nvSpPr>
          <p:cNvPr id="16" name="Text 14"/>
          <p:cNvSpPr/>
          <p:nvPr/>
        </p:nvSpPr>
        <p:spPr>
          <a:xfrm>
            <a:off x="4526280" y="1563624"/>
            <a:ext cx="502920" cy="182880"/>
          </a:xfrm>
          <a:prstGeom prst="rect">
            <a:avLst/>
          </a:prstGeom>
          <a:noFill/>
          <a:ln/>
        </p:spPr>
        <p:txBody>
          <a:bodyPr wrap="square" lIns="0" tIns="0" rIns="0" bIns="0" rtlCol="0" anchor="t"/>
          <a:lstStyle/>
          <a:p>
            <a:pPr indent="0" marL="0">
              <a:buNone/>
            </a:pPr>
            <a:r>
              <a:rPr lang="en-US" sz="880" b="1" dirty="0">
                <a:solidFill>
                  <a:srgbClr val="334155"/>
                </a:solidFill>
                <a:latin typeface="Calibri" pitchFamily="34" charset="0"/>
                <a:ea typeface="Calibri" pitchFamily="34" charset="-122"/>
                <a:cs typeface="Calibri" pitchFamily="34" charset="-120"/>
              </a:rPr>
              <a:t>Fold 1</a:t>
            </a:r>
            <a:endParaRPr lang="en-US" sz="880" dirty="0"/>
          </a:p>
        </p:txBody>
      </p:sp>
      <p:sp>
        <p:nvSpPr>
          <p:cNvPr id="17" name="Shape 15"/>
          <p:cNvSpPr/>
          <p:nvPr/>
        </p:nvSpPr>
        <p:spPr>
          <a:xfrm>
            <a:off x="5120640" y="1517904"/>
            <a:ext cx="868680" cy="237744"/>
          </a:xfrm>
          <a:prstGeom prst="rect">
            <a:avLst/>
          </a:prstGeom>
          <a:solidFill>
            <a:srgbClr val="F59E0B"/>
          </a:solidFill>
          <a:ln w="12700">
            <a:solidFill>
              <a:srgbClr val="F59E0B"/>
            </a:solidFill>
            <a:prstDash val="solid"/>
          </a:ln>
        </p:spPr>
      </p:sp>
      <p:sp>
        <p:nvSpPr>
          <p:cNvPr id="18" name="Text 16"/>
          <p:cNvSpPr/>
          <p:nvPr/>
        </p:nvSpPr>
        <p:spPr>
          <a:xfrm>
            <a:off x="5166360" y="1545336"/>
            <a:ext cx="777240"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Val</a:t>
            </a:r>
            <a:endParaRPr lang="en-US" sz="810" dirty="0"/>
          </a:p>
        </p:txBody>
      </p:sp>
      <p:sp>
        <p:nvSpPr>
          <p:cNvPr id="19" name="Shape 17"/>
          <p:cNvSpPr/>
          <p:nvPr/>
        </p:nvSpPr>
        <p:spPr>
          <a:xfrm>
            <a:off x="6099048" y="1517904"/>
            <a:ext cx="868680" cy="237744"/>
          </a:xfrm>
          <a:prstGeom prst="rect">
            <a:avLst/>
          </a:prstGeom>
          <a:solidFill>
            <a:srgbClr val="028090"/>
          </a:solidFill>
          <a:ln w="12700">
            <a:solidFill>
              <a:srgbClr val="028090"/>
            </a:solidFill>
            <a:prstDash val="solid"/>
          </a:ln>
        </p:spPr>
      </p:sp>
      <p:sp>
        <p:nvSpPr>
          <p:cNvPr id="20" name="Text 18"/>
          <p:cNvSpPr/>
          <p:nvPr/>
        </p:nvSpPr>
        <p:spPr>
          <a:xfrm>
            <a:off x="6144768" y="1545336"/>
            <a:ext cx="777240"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Train</a:t>
            </a:r>
            <a:endParaRPr lang="en-US" sz="810" dirty="0"/>
          </a:p>
        </p:txBody>
      </p:sp>
      <p:sp>
        <p:nvSpPr>
          <p:cNvPr id="21" name="Shape 19"/>
          <p:cNvSpPr/>
          <p:nvPr/>
        </p:nvSpPr>
        <p:spPr>
          <a:xfrm>
            <a:off x="7077456" y="1517904"/>
            <a:ext cx="868680" cy="237744"/>
          </a:xfrm>
          <a:prstGeom prst="rect">
            <a:avLst/>
          </a:prstGeom>
          <a:solidFill>
            <a:srgbClr val="028090"/>
          </a:solidFill>
          <a:ln w="12700">
            <a:solidFill>
              <a:srgbClr val="028090"/>
            </a:solidFill>
            <a:prstDash val="solid"/>
          </a:ln>
        </p:spPr>
      </p:sp>
      <p:sp>
        <p:nvSpPr>
          <p:cNvPr id="22" name="Text 20"/>
          <p:cNvSpPr/>
          <p:nvPr/>
        </p:nvSpPr>
        <p:spPr>
          <a:xfrm>
            <a:off x="7123176" y="1545336"/>
            <a:ext cx="777240"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Train</a:t>
            </a:r>
            <a:endParaRPr lang="en-US" sz="810" dirty="0"/>
          </a:p>
        </p:txBody>
      </p:sp>
      <p:sp>
        <p:nvSpPr>
          <p:cNvPr id="23" name="Text 21"/>
          <p:cNvSpPr/>
          <p:nvPr/>
        </p:nvSpPr>
        <p:spPr>
          <a:xfrm>
            <a:off x="4526280" y="1965960"/>
            <a:ext cx="502920" cy="182880"/>
          </a:xfrm>
          <a:prstGeom prst="rect">
            <a:avLst/>
          </a:prstGeom>
          <a:noFill/>
          <a:ln/>
        </p:spPr>
        <p:txBody>
          <a:bodyPr wrap="square" lIns="0" tIns="0" rIns="0" bIns="0" rtlCol="0" anchor="t"/>
          <a:lstStyle/>
          <a:p>
            <a:pPr indent="0" marL="0">
              <a:buNone/>
            </a:pPr>
            <a:r>
              <a:rPr lang="en-US" sz="880" b="1" dirty="0">
                <a:solidFill>
                  <a:srgbClr val="334155"/>
                </a:solidFill>
                <a:latin typeface="Calibri" pitchFamily="34" charset="0"/>
                <a:ea typeface="Calibri" pitchFamily="34" charset="-122"/>
                <a:cs typeface="Calibri" pitchFamily="34" charset="-120"/>
              </a:rPr>
              <a:t>Fold 2</a:t>
            </a:r>
            <a:endParaRPr lang="en-US" sz="880" dirty="0"/>
          </a:p>
        </p:txBody>
      </p:sp>
      <p:sp>
        <p:nvSpPr>
          <p:cNvPr id="24" name="Shape 22"/>
          <p:cNvSpPr/>
          <p:nvPr/>
        </p:nvSpPr>
        <p:spPr>
          <a:xfrm>
            <a:off x="5120640" y="1920240"/>
            <a:ext cx="868680" cy="237744"/>
          </a:xfrm>
          <a:prstGeom prst="rect">
            <a:avLst/>
          </a:prstGeom>
          <a:solidFill>
            <a:srgbClr val="028090"/>
          </a:solidFill>
          <a:ln w="12700">
            <a:solidFill>
              <a:srgbClr val="028090"/>
            </a:solidFill>
            <a:prstDash val="solid"/>
          </a:ln>
        </p:spPr>
      </p:sp>
      <p:sp>
        <p:nvSpPr>
          <p:cNvPr id="25" name="Text 23"/>
          <p:cNvSpPr/>
          <p:nvPr/>
        </p:nvSpPr>
        <p:spPr>
          <a:xfrm>
            <a:off x="5166360" y="1947672"/>
            <a:ext cx="777240"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Train</a:t>
            </a:r>
            <a:endParaRPr lang="en-US" sz="810" dirty="0"/>
          </a:p>
        </p:txBody>
      </p:sp>
      <p:sp>
        <p:nvSpPr>
          <p:cNvPr id="26" name="Shape 24"/>
          <p:cNvSpPr/>
          <p:nvPr/>
        </p:nvSpPr>
        <p:spPr>
          <a:xfrm>
            <a:off x="6099048" y="1920240"/>
            <a:ext cx="868680" cy="237744"/>
          </a:xfrm>
          <a:prstGeom prst="rect">
            <a:avLst/>
          </a:prstGeom>
          <a:solidFill>
            <a:srgbClr val="F59E0B"/>
          </a:solidFill>
          <a:ln w="12700">
            <a:solidFill>
              <a:srgbClr val="F59E0B"/>
            </a:solidFill>
            <a:prstDash val="solid"/>
          </a:ln>
        </p:spPr>
      </p:sp>
      <p:sp>
        <p:nvSpPr>
          <p:cNvPr id="27" name="Text 25"/>
          <p:cNvSpPr/>
          <p:nvPr/>
        </p:nvSpPr>
        <p:spPr>
          <a:xfrm>
            <a:off x="6144768" y="1947672"/>
            <a:ext cx="777240"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Val</a:t>
            </a:r>
            <a:endParaRPr lang="en-US" sz="810" dirty="0"/>
          </a:p>
        </p:txBody>
      </p:sp>
      <p:sp>
        <p:nvSpPr>
          <p:cNvPr id="28" name="Shape 26"/>
          <p:cNvSpPr/>
          <p:nvPr/>
        </p:nvSpPr>
        <p:spPr>
          <a:xfrm>
            <a:off x="7077456" y="1920240"/>
            <a:ext cx="868680" cy="237744"/>
          </a:xfrm>
          <a:prstGeom prst="rect">
            <a:avLst/>
          </a:prstGeom>
          <a:solidFill>
            <a:srgbClr val="028090"/>
          </a:solidFill>
          <a:ln w="12700">
            <a:solidFill>
              <a:srgbClr val="028090"/>
            </a:solidFill>
            <a:prstDash val="solid"/>
          </a:ln>
        </p:spPr>
      </p:sp>
      <p:sp>
        <p:nvSpPr>
          <p:cNvPr id="29" name="Text 27"/>
          <p:cNvSpPr/>
          <p:nvPr/>
        </p:nvSpPr>
        <p:spPr>
          <a:xfrm>
            <a:off x="7123176" y="1947672"/>
            <a:ext cx="777240"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Train</a:t>
            </a:r>
            <a:endParaRPr lang="en-US" sz="810" dirty="0"/>
          </a:p>
        </p:txBody>
      </p:sp>
      <p:sp>
        <p:nvSpPr>
          <p:cNvPr id="30" name="Text 28"/>
          <p:cNvSpPr/>
          <p:nvPr/>
        </p:nvSpPr>
        <p:spPr>
          <a:xfrm>
            <a:off x="4526280" y="2368296"/>
            <a:ext cx="502920" cy="182880"/>
          </a:xfrm>
          <a:prstGeom prst="rect">
            <a:avLst/>
          </a:prstGeom>
          <a:noFill/>
          <a:ln/>
        </p:spPr>
        <p:txBody>
          <a:bodyPr wrap="square" lIns="0" tIns="0" rIns="0" bIns="0" rtlCol="0" anchor="t"/>
          <a:lstStyle/>
          <a:p>
            <a:pPr indent="0" marL="0">
              <a:buNone/>
            </a:pPr>
            <a:r>
              <a:rPr lang="en-US" sz="880" b="1" dirty="0">
                <a:solidFill>
                  <a:srgbClr val="334155"/>
                </a:solidFill>
                <a:latin typeface="Calibri" pitchFamily="34" charset="0"/>
                <a:ea typeface="Calibri" pitchFamily="34" charset="-122"/>
                <a:cs typeface="Calibri" pitchFamily="34" charset="-120"/>
              </a:rPr>
              <a:t>Fold 3</a:t>
            </a:r>
            <a:endParaRPr lang="en-US" sz="880" dirty="0"/>
          </a:p>
        </p:txBody>
      </p:sp>
      <p:sp>
        <p:nvSpPr>
          <p:cNvPr id="31" name="Shape 29"/>
          <p:cNvSpPr/>
          <p:nvPr/>
        </p:nvSpPr>
        <p:spPr>
          <a:xfrm>
            <a:off x="5120640" y="2322576"/>
            <a:ext cx="868680" cy="237744"/>
          </a:xfrm>
          <a:prstGeom prst="rect">
            <a:avLst/>
          </a:prstGeom>
          <a:solidFill>
            <a:srgbClr val="028090"/>
          </a:solidFill>
          <a:ln w="12700">
            <a:solidFill>
              <a:srgbClr val="028090"/>
            </a:solidFill>
            <a:prstDash val="solid"/>
          </a:ln>
        </p:spPr>
      </p:sp>
      <p:sp>
        <p:nvSpPr>
          <p:cNvPr id="32" name="Text 30"/>
          <p:cNvSpPr/>
          <p:nvPr/>
        </p:nvSpPr>
        <p:spPr>
          <a:xfrm>
            <a:off x="5166360" y="2350008"/>
            <a:ext cx="777240"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Train</a:t>
            </a:r>
            <a:endParaRPr lang="en-US" sz="810" dirty="0"/>
          </a:p>
        </p:txBody>
      </p:sp>
      <p:sp>
        <p:nvSpPr>
          <p:cNvPr id="33" name="Shape 31"/>
          <p:cNvSpPr/>
          <p:nvPr/>
        </p:nvSpPr>
        <p:spPr>
          <a:xfrm>
            <a:off x="6099048" y="2322576"/>
            <a:ext cx="868680" cy="237744"/>
          </a:xfrm>
          <a:prstGeom prst="rect">
            <a:avLst/>
          </a:prstGeom>
          <a:solidFill>
            <a:srgbClr val="028090"/>
          </a:solidFill>
          <a:ln w="12700">
            <a:solidFill>
              <a:srgbClr val="028090"/>
            </a:solidFill>
            <a:prstDash val="solid"/>
          </a:ln>
        </p:spPr>
      </p:sp>
      <p:sp>
        <p:nvSpPr>
          <p:cNvPr id="34" name="Text 32"/>
          <p:cNvSpPr/>
          <p:nvPr/>
        </p:nvSpPr>
        <p:spPr>
          <a:xfrm>
            <a:off x="6144768" y="2350008"/>
            <a:ext cx="777240"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Train</a:t>
            </a:r>
            <a:endParaRPr lang="en-US" sz="810" dirty="0"/>
          </a:p>
        </p:txBody>
      </p:sp>
      <p:sp>
        <p:nvSpPr>
          <p:cNvPr id="35" name="Shape 33"/>
          <p:cNvSpPr/>
          <p:nvPr/>
        </p:nvSpPr>
        <p:spPr>
          <a:xfrm>
            <a:off x="7077456" y="2322576"/>
            <a:ext cx="868680" cy="237744"/>
          </a:xfrm>
          <a:prstGeom prst="rect">
            <a:avLst/>
          </a:prstGeom>
          <a:solidFill>
            <a:srgbClr val="F59E0B"/>
          </a:solidFill>
          <a:ln w="12700">
            <a:solidFill>
              <a:srgbClr val="F59E0B"/>
            </a:solidFill>
            <a:prstDash val="solid"/>
          </a:ln>
        </p:spPr>
      </p:sp>
      <p:sp>
        <p:nvSpPr>
          <p:cNvPr id="36" name="Text 34"/>
          <p:cNvSpPr/>
          <p:nvPr/>
        </p:nvSpPr>
        <p:spPr>
          <a:xfrm>
            <a:off x="7123176" y="2350008"/>
            <a:ext cx="777240"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Val</a:t>
            </a:r>
            <a:endParaRPr lang="en-US" sz="810" dirty="0"/>
          </a:p>
        </p:txBody>
      </p:sp>
      <p:sp>
        <p:nvSpPr>
          <p:cNvPr id="37" name="Shape 35"/>
          <p:cNvSpPr/>
          <p:nvPr/>
        </p:nvSpPr>
        <p:spPr>
          <a:xfrm>
            <a:off x="320040" y="3273552"/>
            <a:ext cx="8503920" cy="1078992"/>
          </a:xfrm>
          <a:prstGeom prst="rect">
            <a:avLst/>
          </a:prstGeom>
          <a:solidFill>
            <a:srgbClr val="CADCFC"/>
          </a:solidFill>
          <a:ln w="12700">
            <a:solidFill>
              <a:srgbClr val="028090"/>
            </a:solidFill>
            <a:prstDash val="solid"/>
          </a:ln>
        </p:spPr>
      </p:sp>
      <p:sp>
        <p:nvSpPr>
          <p:cNvPr id="38" name="Text 36"/>
          <p:cNvSpPr/>
          <p:nvPr/>
        </p:nvSpPr>
        <p:spPr>
          <a:xfrm>
            <a:off x="448056" y="3346704"/>
            <a:ext cx="8247888" cy="201168"/>
          </a:xfrm>
          <a:prstGeom prst="rect">
            <a:avLst/>
          </a:prstGeom>
          <a:noFill/>
          <a:ln/>
        </p:spPr>
        <p:txBody>
          <a:bodyPr wrap="square" lIns="0" tIns="0" rIns="0" bIns="0" rtlCol="0" anchor="t"/>
          <a:lstStyle/>
          <a:p>
            <a:pPr indent="0" marL="0">
              <a:buNone/>
            </a:pPr>
            <a:r>
              <a:rPr lang="en-US" sz="1080" b="1" dirty="0">
                <a:solidFill>
                  <a:srgbClr val="0D1B2A"/>
                </a:solidFill>
                <a:latin typeface="Calibri" pitchFamily="34" charset="0"/>
                <a:ea typeface="Calibri" pitchFamily="34" charset="-122"/>
                <a:cs typeface="Calibri" pitchFamily="34" charset="-120"/>
              </a:rPr>
              <a:t>Why use it?</a:t>
            </a:r>
            <a:endParaRPr lang="en-US" sz="1080" dirty="0"/>
          </a:p>
        </p:txBody>
      </p:sp>
      <p:sp>
        <p:nvSpPr>
          <p:cNvPr id="39" name="Text 37"/>
          <p:cNvSpPr/>
          <p:nvPr/>
        </p:nvSpPr>
        <p:spPr>
          <a:xfrm>
            <a:off x="448056" y="3584448"/>
            <a:ext cx="8247888" cy="694944"/>
          </a:xfrm>
          <a:prstGeom prst="rect">
            <a:avLst/>
          </a:prstGeom>
          <a:noFill/>
          <a:ln/>
        </p:spPr>
        <p:txBody>
          <a:bodyPr wrap="square" lIns="0" tIns="0" rIns="0" bIns="0" rtlCol="0" anchor="t"/>
          <a:lstStyle/>
          <a:p>
            <a:pPr indent="0" marL="0">
              <a:buNone/>
            </a:pPr>
            <a:r>
              <a:rPr lang="en-US" sz="915" dirty="0">
                <a:solidFill>
                  <a:srgbClr val="334155"/>
                </a:solidFill>
                <a:latin typeface="Calibri" pitchFamily="34" charset="0"/>
                <a:ea typeface="Calibri" pitchFamily="34" charset="-122"/>
                <a:cs typeface="Calibri" pitchFamily="34" charset="-120"/>
              </a:rPr>
              <a:t>- It gives a more stable score than one lucky or unlucky split.</a:t>
            </a:r>
            <a:endParaRPr lang="en-US" sz="915" dirty="0"/>
          </a:p>
          <a:p>
            <a:pPr indent="0" marL="0">
              <a:buNone/>
            </a:pPr>
            <a:r>
              <a:rPr lang="en-US" sz="915" dirty="0">
                <a:solidFill>
                  <a:srgbClr val="334155"/>
                </a:solidFill>
                <a:latin typeface="Calibri" pitchFamily="34" charset="0"/>
                <a:ea typeface="Calibri" pitchFamily="34" charset="-122"/>
                <a:cs typeface="Calibri" pitchFamily="34" charset="-120"/>
              </a:rPr>
              <a:t>- It lets us compare models and tune C, k, and class_weight fairly.</a:t>
            </a:r>
            <a:endParaRPr lang="en-US" sz="915" dirty="0"/>
          </a:p>
          <a:p>
            <a:pPr indent="0" marL="0">
              <a:buNone/>
            </a:pPr>
            <a:r>
              <a:rPr lang="en-US" sz="915" dirty="0">
                <a:solidFill>
                  <a:srgbClr val="334155"/>
                </a:solidFill>
                <a:latin typeface="Calibri" pitchFamily="34" charset="0"/>
                <a:ea typeface="Calibri" pitchFamily="34" charset="-122"/>
                <a:cs typeface="Calibri" pitchFamily="34" charset="-120"/>
              </a:rPr>
              <a:t>- It uses the training data efficiently before the test set is touched.</a:t>
            </a:r>
            <a:endParaRPr lang="en-US" sz="91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84048"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k-NN Before the Results: How the Model Predicts</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sp>
      <p:sp>
        <p:nvSpPr>
          <p:cNvPr id="5" name="Text 3"/>
          <p:cNvSpPr/>
          <p:nvPr/>
        </p:nvSpPr>
        <p:spPr>
          <a:xfrm>
            <a:off x="274320" y="4892040"/>
            <a:ext cx="8595360" cy="25146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Malicious URL Detection · Lexical Features Only  |  Binary Classification - k-NN Concept</a:t>
            </a:r>
            <a:endParaRPr lang="en-US" sz="800" dirty="0"/>
          </a:p>
        </p:txBody>
      </p:sp>
      <p:sp>
        <p:nvSpPr>
          <p:cNvPr id="6" name="Text 4"/>
          <p:cNvSpPr/>
          <p:nvPr/>
        </p:nvSpPr>
        <p:spPr>
          <a:xfrm>
            <a:off x="320040" y="749808"/>
            <a:ext cx="8503920" cy="256032"/>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For the binary task, the best k-NN setting was k = 5 with Manhattan distance and uniform weights.</a:t>
            </a:r>
            <a:endParaRPr lang="en-US" sz="1000" dirty="0"/>
          </a:p>
        </p:txBody>
      </p:sp>
      <p:sp>
        <p:nvSpPr>
          <p:cNvPr id="7" name="Shape 5"/>
          <p:cNvSpPr/>
          <p:nvPr/>
        </p:nvSpPr>
        <p:spPr>
          <a:xfrm>
            <a:off x="320040" y="1060704"/>
            <a:ext cx="1874520" cy="1051560"/>
          </a:xfrm>
          <a:prstGeom prst="rect">
            <a:avLst/>
          </a:prstGeom>
          <a:solidFill>
            <a:srgbClr val="FFFFFF"/>
          </a:solidFill>
          <a:ln w="12700">
            <a:solidFill>
              <a:srgbClr val="D1D5DB"/>
            </a:solidFill>
            <a:prstDash val="solid"/>
          </a:ln>
        </p:spPr>
      </p:sp>
      <p:sp>
        <p:nvSpPr>
          <p:cNvPr id="8" name="Shape 6"/>
          <p:cNvSpPr/>
          <p:nvPr/>
        </p:nvSpPr>
        <p:spPr>
          <a:xfrm>
            <a:off x="320040" y="1060704"/>
            <a:ext cx="1874520" cy="274320"/>
          </a:xfrm>
          <a:prstGeom prst="rect">
            <a:avLst/>
          </a:prstGeom>
          <a:solidFill>
            <a:srgbClr val="028090"/>
          </a:solidFill>
          <a:ln w="12700">
            <a:solidFill>
              <a:srgbClr val="028090"/>
            </a:solidFill>
            <a:prstDash val="solid"/>
          </a:ln>
        </p:spPr>
      </p:sp>
      <p:sp>
        <p:nvSpPr>
          <p:cNvPr id="9" name="Text 7"/>
          <p:cNvSpPr/>
          <p:nvPr/>
        </p:nvSpPr>
        <p:spPr>
          <a:xfrm>
            <a:off x="429768" y="1078992"/>
            <a:ext cx="16550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What is k-NN?</a:t>
            </a:r>
            <a:endParaRPr lang="en-US" sz="1060" dirty="0"/>
          </a:p>
        </p:txBody>
      </p:sp>
      <p:sp>
        <p:nvSpPr>
          <p:cNvPr id="10" name="Text 8"/>
          <p:cNvSpPr/>
          <p:nvPr/>
        </p:nvSpPr>
        <p:spPr>
          <a:xfrm>
            <a:off x="448056" y="1444752"/>
            <a:ext cx="1618488" cy="594360"/>
          </a:xfrm>
          <a:prstGeom prst="rect">
            <a:avLst/>
          </a:prstGeom>
          <a:noFill/>
          <a:ln/>
        </p:spPr>
        <p:txBody>
          <a:bodyPr wrap="square" lIns="0" tIns="0" rIns="0" bIns="0" rtlCol="0" anchor="t"/>
          <a:lstStyle/>
          <a:p>
            <a:pPr indent="0" marL="0">
              <a:buNone/>
            </a:pPr>
            <a:r>
              <a:rPr lang="en-US" sz="890" dirty="0">
                <a:solidFill>
                  <a:srgbClr val="334155"/>
                </a:solidFill>
                <a:latin typeface="Calibri" pitchFamily="34" charset="0"/>
                <a:ea typeface="Calibri" pitchFamily="34" charset="-122"/>
                <a:cs typeface="Calibri" pitchFamily="34" charset="-120"/>
              </a:rPr>
              <a:t>Predicts a new URL from the most</a:t>
            </a:r>
            <a:endParaRPr lang="en-US" sz="890" dirty="0"/>
          </a:p>
          <a:p>
            <a:pPr indent="0" marL="0">
              <a:buNone/>
            </a:pPr>
            <a:r>
              <a:rPr lang="en-US" sz="890" dirty="0">
                <a:solidFill>
                  <a:srgbClr val="334155"/>
                </a:solidFill>
                <a:latin typeface="Calibri" pitchFamily="34" charset="0"/>
                <a:ea typeface="Calibri" pitchFamily="34" charset="-122"/>
                <a:cs typeface="Calibri" pitchFamily="34" charset="-120"/>
              </a:rPr>
              <a:t>similar training URLs.</a:t>
            </a:r>
            <a:endParaRPr lang="en-US" sz="890" dirty="0"/>
          </a:p>
        </p:txBody>
      </p:sp>
      <p:sp>
        <p:nvSpPr>
          <p:cNvPr id="11" name="Shape 9"/>
          <p:cNvSpPr/>
          <p:nvPr/>
        </p:nvSpPr>
        <p:spPr>
          <a:xfrm>
            <a:off x="2331720" y="1060704"/>
            <a:ext cx="1874520" cy="1051560"/>
          </a:xfrm>
          <a:prstGeom prst="rect">
            <a:avLst/>
          </a:prstGeom>
          <a:solidFill>
            <a:srgbClr val="FFFFFF"/>
          </a:solidFill>
          <a:ln w="12700">
            <a:solidFill>
              <a:srgbClr val="D1D5DB"/>
            </a:solidFill>
            <a:prstDash val="solid"/>
          </a:ln>
        </p:spPr>
      </p:sp>
      <p:sp>
        <p:nvSpPr>
          <p:cNvPr id="12" name="Shape 10"/>
          <p:cNvSpPr/>
          <p:nvPr/>
        </p:nvSpPr>
        <p:spPr>
          <a:xfrm>
            <a:off x="2331720" y="1060704"/>
            <a:ext cx="1874520" cy="274320"/>
          </a:xfrm>
          <a:prstGeom prst="rect">
            <a:avLst/>
          </a:prstGeom>
          <a:solidFill>
            <a:srgbClr val="22C55E"/>
          </a:solidFill>
          <a:ln w="12700">
            <a:solidFill>
              <a:srgbClr val="22C55E"/>
            </a:solidFill>
            <a:prstDash val="solid"/>
          </a:ln>
        </p:spPr>
      </p:sp>
      <p:sp>
        <p:nvSpPr>
          <p:cNvPr id="13" name="Text 11"/>
          <p:cNvSpPr/>
          <p:nvPr/>
        </p:nvSpPr>
        <p:spPr>
          <a:xfrm>
            <a:off x="2441448" y="1078992"/>
            <a:ext cx="16550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k = 5</a:t>
            </a:r>
            <a:endParaRPr lang="en-US" sz="1060" dirty="0"/>
          </a:p>
        </p:txBody>
      </p:sp>
      <p:sp>
        <p:nvSpPr>
          <p:cNvPr id="14" name="Text 12"/>
          <p:cNvSpPr/>
          <p:nvPr/>
        </p:nvSpPr>
        <p:spPr>
          <a:xfrm>
            <a:off x="2459736" y="1444752"/>
            <a:ext cx="1618488" cy="594360"/>
          </a:xfrm>
          <a:prstGeom prst="rect">
            <a:avLst/>
          </a:prstGeom>
          <a:noFill/>
          <a:ln/>
        </p:spPr>
        <p:txBody>
          <a:bodyPr wrap="square" lIns="0" tIns="0" rIns="0" bIns="0" rtlCol="0" anchor="t"/>
          <a:lstStyle/>
          <a:p>
            <a:pPr indent="0" marL="0">
              <a:buNone/>
            </a:pPr>
            <a:r>
              <a:rPr lang="en-US" sz="890" dirty="0">
                <a:solidFill>
                  <a:srgbClr val="334155"/>
                </a:solidFill>
                <a:latin typeface="Calibri" pitchFamily="34" charset="0"/>
                <a:ea typeface="Calibri" pitchFamily="34" charset="-122"/>
                <a:cs typeface="Calibri" pitchFamily="34" charset="-120"/>
              </a:rPr>
              <a:t>Look at the 5 nearest</a:t>
            </a:r>
            <a:endParaRPr lang="en-US" sz="890" dirty="0"/>
          </a:p>
          <a:p>
            <a:pPr indent="0" marL="0">
              <a:buNone/>
            </a:pPr>
            <a:r>
              <a:rPr lang="en-US" sz="890" dirty="0">
                <a:solidFill>
                  <a:srgbClr val="334155"/>
                </a:solidFill>
                <a:latin typeface="Calibri" pitchFamily="34" charset="0"/>
                <a:ea typeface="Calibri" pitchFamily="34" charset="-122"/>
                <a:cs typeface="Calibri" pitchFamily="34" charset="-120"/>
              </a:rPr>
              <a:t>training examples.</a:t>
            </a:r>
            <a:endParaRPr lang="en-US" sz="890" dirty="0"/>
          </a:p>
        </p:txBody>
      </p:sp>
      <p:sp>
        <p:nvSpPr>
          <p:cNvPr id="15" name="Shape 13"/>
          <p:cNvSpPr/>
          <p:nvPr/>
        </p:nvSpPr>
        <p:spPr>
          <a:xfrm>
            <a:off x="320040" y="2267712"/>
            <a:ext cx="1874520" cy="1051560"/>
          </a:xfrm>
          <a:prstGeom prst="rect">
            <a:avLst/>
          </a:prstGeom>
          <a:solidFill>
            <a:srgbClr val="FFFFFF"/>
          </a:solidFill>
          <a:ln w="12700">
            <a:solidFill>
              <a:srgbClr val="D1D5DB"/>
            </a:solidFill>
            <a:prstDash val="solid"/>
          </a:ln>
        </p:spPr>
      </p:sp>
      <p:sp>
        <p:nvSpPr>
          <p:cNvPr id="16" name="Shape 14"/>
          <p:cNvSpPr/>
          <p:nvPr/>
        </p:nvSpPr>
        <p:spPr>
          <a:xfrm>
            <a:off x="320040" y="2267712"/>
            <a:ext cx="1874520" cy="274320"/>
          </a:xfrm>
          <a:prstGeom prst="rect">
            <a:avLst/>
          </a:prstGeom>
          <a:solidFill>
            <a:srgbClr val="F59E0B"/>
          </a:solidFill>
          <a:ln w="12700">
            <a:solidFill>
              <a:srgbClr val="F59E0B"/>
            </a:solidFill>
            <a:prstDash val="solid"/>
          </a:ln>
        </p:spPr>
      </p:sp>
      <p:sp>
        <p:nvSpPr>
          <p:cNvPr id="17" name="Text 15"/>
          <p:cNvSpPr/>
          <p:nvPr/>
        </p:nvSpPr>
        <p:spPr>
          <a:xfrm>
            <a:off x="429768" y="2286000"/>
            <a:ext cx="16550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Manhattan distance</a:t>
            </a:r>
            <a:endParaRPr lang="en-US" sz="1060" dirty="0"/>
          </a:p>
        </p:txBody>
      </p:sp>
      <p:sp>
        <p:nvSpPr>
          <p:cNvPr id="18" name="Text 16"/>
          <p:cNvSpPr/>
          <p:nvPr/>
        </p:nvSpPr>
        <p:spPr>
          <a:xfrm>
            <a:off x="448056" y="2651760"/>
            <a:ext cx="1618488" cy="594360"/>
          </a:xfrm>
          <a:prstGeom prst="rect">
            <a:avLst/>
          </a:prstGeom>
          <a:noFill/>
          <a:ln/>
        </p:spPr>
        <p:txBody>
          <a:bodyPr wrap="square" lIns="0" tIns="0" rIns="0" bIns="0" rtlCol="0" anchor="t"/>
          <a:lstStyle/>
          <a:p>
            <a:pPr indent="0" marL="0">
              <a:buNone/>
            </a:pPr>
            <a:r>
              <a:rPr lang="en-US" sz="880" dirty="0">
                <a:solidFill>
                  <a:srgbClr val="334155"/>
                </a:solidFill>
                <a:latin typeface="Calibri" pitchFamily="34" charset="0"/>
                <a:ea typeface="Calibri" pitchFamily="34" charset="-122"/>
                <a:cs typeface="Calibri" pitchFamily="34" charset="-120"/>
              </a:rPr>
              <a:t>Add the absolute feature-by-</a:t>
            </a:r>
            <a:endParaRPr lang="en-US" sz="880" dirty="0"/>
          </a:p>
          <a:p>
            <a:pPr indent="0" marL="0">
              <a:buNone/>
            </a:pPr>
            <a:r>
              <a:rPr lang="en-US" sz="880" dirty="0">
                <a:solidFill>
                  <a:srgbClr val="334155"/>
                </a:solidFill>
                <a:latin typeface="Calibri" pitchFamily="34" charset="0"/>
                <a:ea typeface="Calibri" pitchFamily="34" charset="-122"/>
                <a:cs typeface="Calibri" pitchFamily="34" charset="-120"/>
              </a:rPr>
              <a:t>feature differences.</a:t>
            </a:r>
            <a:endParaRPr lang="en-US" sz="880" dirty="0"/>
          </a:p>
        </p:txBody>
      </p:sp>
      <p:sp>
        <p:nvSpPr>
          <p:cNvPr id="19" name="Shape 17"/>
          <p:cNvSpPr/>
          <p:nvPr/>
        </p:nvSpPr>
        <p:spPr>
          <a:xfrm>
            <a:off x="2331720" y="2267712"/>
            <a:ext cx="1874520" cy="1051560"/>
          </a:xfrm>
          <a:prstGeom prst="rect">
            <a:avLst/>
          </a:prstGeom>
          <a:solidFill>
            <a:srgbClr val="FFFFFF"/>
          </a:solidFill>
          <a:ln w="12700">
            <a:solidFill>
              <a:srgbClr val="D1D5DB"/>
            </a:solidFill>
            <a:prstDash val="solid"/>
          </a:ln>
        </p:spPr>
      </p:sp>
      <p:sp>
        <p:nvSpPr>
          <p:cNvPr id="20" name="Shape 18"/>
          <p:cNvSpPr/>
          <p:nvPr/>
        </p:nvSpPr>
        <p:spPr>
          <a:xfrm>
            <a:off x="2331720" y="2267712"/>
            <a:ext cx="1874520" cy="274320"/>
          </a:xfrm>
          <a:prstGeom prst="rect">
            <a:avLst/>
          </a:prstGeom>
          <a:solidFill>
            <a:srgbClr val="0D1B2A"/>
          </a:solidFill>
          <a:ln w="12700">
            <a:solidFill>
              <a:srgbClr val="0D1B2A"/>
            </a:solidFill>
            <a:prstDash val="solid"/>
          </a:ln>
        </p:spPr>
      </p:sp>
      <p:sp>
        <p:nvSpPr>
          <p:cNvPr id="21" name="Text 19"/>
          <p:cNvSpPr/>
          <p:nvPr/>
        </p:nvSpPr>
        <p:spPr>
          <a:xfrm>
            <a:off x="2441448" y="2286000"/>
            <a:ext cx="16550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Uniform weights</a:t>
            </a:r>
            <a:endParaRPr lang="en-US" sz="1060" dirty="0"/>
          </a:p>
        </p:txBody>
      </p:sp>
      <p:sp>
        <p:nvSpPr>
          <p:cNvPr id="22" name="Text 20"/>
          <p:cNvSpPr/>
          <p:nvPr/>
        </p:nvSpPr>
        <p:spPr>
          <a:xfrm>
            <a:off x="2459736" y="2651760"/>
            <a:ext cx="1618488" cy="594360"/>
          </a:xfrm>
          <a:prstGeom prst="rect">
            <a:avLst/>
          </a:prstGeom>
          <a:noFill/>
          <a:ln/>
        </p:spPr>
        <p:txBody>
          <a:bodyPr wrap="square" lIns="0" tIns="0" rIns="0" bIns="0" rtlCol="0" anchor="t"/>
          <a:lstStyle/>
          <a:p>
            <a:pPr indent="0" marL="0">
              <a:buNone/>
            </a:pPr>
            <a:r>
              <a:rPr lang="en-US" sz="890" dirty="0">
                <a:solidFill>
                  <a:srgbClr val="334155"/>
                </a:solidFill>
                <a:latin typeface="Calibri" pitchFamily="34" charset="0"/>
                <a:ea typeface="Calibri" pitchFamily="34" charset="-122"/>
                <a:cs typeface="Calibri" pitchFamily="34" charset="-120"/>
              </a:rPr>
              <a:t>Each of the 5 neighbors gets</a:t>
            </a:r>
            <a:endParaRPr lang="en-US" sz="890" dirty="0"/>
          </a:p>
          <a:p>
            <a:pPr indent="0" marL="0">
              <a:buNone/>
            </a:pPr>
            <a:r>
              <a:rPr lang="en-US" sz="890" dirty="0">
                <a:solidFill>
                  <a:srgbClr val="334155"/>
                </a:solidFill>
                <a:latin typeface="Calibri" pitchFamily="34" charset="0"/>
                <a:ea typeface="Calibri" pitchFamily="34" charset="-122"/>
                <a:cs typeface="Calibri" pitchFamily="34" charset="-120"/>
              </a:rPr>
              <a:t>one equal vote.</a:t>
            </a:r>
            <a:endParaRPr lang="en-US" sz="890" dirty="0"/>
          </a:p>
        </p:txBody>
      </p:sp>
      <p:sp>
        <p:nvSpPr>
          <p:cNvPr id="23" name="Shape 21"/>
          <p:cNvSpPr/>
          <p:nvPr/>
        </p:nvSpPr>
        <p:spPr>
          <a:xfrm>
            <a:off x="4434840" y="1060704"/>
            <a:ext cx="4389120" cy="2761488"/>
          </a:xfrm>
          <a:prstGeom prst="rect">
            <a:avLst/>
          </a:prstGeom>
          <a:solidFill>
            <a:srgbClr val="FFFFFF"/>
          </a:solidFill>
          <a:ln w="12700">
            <a:solidFill>
              <a:srgbClr val="D1D5DB"/>
            </a:solidFill>
            <a:prstDash val="solid"/>
          </a:ln>
        </p:spPr>
      </p:sp>
      <p:sp>
        <p:nvSpPr>
          <p:cNvPr id="24" name="Text 22"/>
          <p:cNvSpPr/>
          <p:nvPr/>
        </p:nvSpPr>
        <p:spPr>
          <a:xfrm>
            <a:off x="4572000" y="1170432"/>
            <a:ext cx="4069080" cy="219456"/>
          </a:xfrm>
          <a:prstGeom prst="rect">
            <a:avLst/>
          </a:prstGeom>
          <a:noFill/>
          <a:ln/>
        </p:spPr>
        <p:txBody>
          <a:bodyPr wrap="square" lIns="0" tIns="0" rIns="0" bIns="0" rtlCol="0" anchor="t"/>
          <a:lstStyle/>
          <a:p>
            <a:pPr indent="0" marL="0">
              <a:buNone/>
            </a:pPr>
            <a:r>
              <a:rPr lang="en-US" sz="1120" b="1" dirty="0">
                <a:solidFill>
                  <a:srgbClr val="0D1B2A"/>
                </a:solidFill>
                <a:latin typeface="Calibri" pitchFamily="34" charset="0"/>
                <a:ea typeface="Calibri" pitchFamily="34" charset="-122"/>
                <a:cs typeface="Calibri" pitchFamily="34" charset="-120"/>
              </a:rPr>
              <a:t>Prediction flow in this project</a:t>
            </a:r>
            <a:endParaRPr lang="en-US" sz="1120" dirty="0"/>
          </a:p>
        </p:txBody>
      </p:sp>
      <p:sp>
        <p:nvSpPr>
          <p:cNvPr id="25" name="Shape 23"/>
          <p:cNvSpPr/>
          <p:nvPr/>
        </p:nvSpPr>
        <p:spPr>
          <a:xfrm>
            <a:off x="4617720" y="1517904"/>
            <a:ext cx="219456" cy="219456"/>
          </a:xfrm>
          <a:prstGeom prst="ellipse">
            <a:avLst/>
          </a:prstGeom>
          <a:solidFill>
            <a:srgbClr val="028090"/>
          </a:solidFill>
          <a:ln w="12700">
            <a:solidFill>
              <a:srgbClr val="028090"/>
            </a:solidFill>
            <a:prstDash val="solid"/>
          </a:ln>
        </p:spPr>
      </p:sp>
      <p:sp>
        <p:nvSpPr>
          <p:cNvPr id="26" name="Text 24"/>
          <p:cNvSpPr/>
          <p:nvPr/>
        </p:nvSpPr>
        <p:spPr>
          <a:xfrm>
            <a:off x="4636008" y="1536192"/>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Shape 25"/>
          <p:cNvSpPr/>
          <p:nvPr/>
        </p:nvSpPr>
        <p:spPr>
          <a:xfrm>
            <a:off x="4919472" y="1444752"/>
            <a:ext cx="3657600" cy="420624"/>
          </a:xfrm>
          <a:prstGeom prst="rect">
            <a:avLst/>
          </a:prstGeom>
          <a:solidFill>
            <a:srgbClr val="F1F5F9"/>
          </a:solidFill>
          <a:ln w="10160">
            <a:solidFill>
              <a:srgbClr val="E2E8F0"/>
            </a:solidFill>
            <a:prstDash val="solid"/>
          </a:ln>
        </p:spPr>
      </p:sp>
      <p:sp>
        <p:nvSpPr>
          <p:cNvPr id="28" name="Text 26"/>
          <p:cNvSpPr/>
          <p:nvPr/>
        </p:nvSpPr>
        <p:spPr>
          <a:xfrm>
            <a:off x="5047488" y="1527048"/>
            <a:ext cx="3383280" cy="201168"/>
          </a:xfrm>
          <a:prstGeom prst="rect">
            <a:avLst/>
          </a:prstGeom>
          <a:noFill/>
          <a:ln/>
        </p:spPr>
        <p:txBody>
          <a:bodyPr wrap="square" lIns="0" tIns="0" rIns="0" bIns="0" rtlCol="0" anchor="t"/>
          <a:lstStyle/>
          <a:p>
            <a:pPr indent="0" marL="0">
              <a:buNone/>
            </a:pPr>
            <a:r>
              <a:rPr lang="en-US" sz="885" dirty="0">
                <a:solidFill>
                  <a:srgbClr val="334155"/>
                </a:solidFill>
                <a:latin typeface="Calibri" pitchFamily="34" charset="0"/>
                <a:ea typeface="Calibri" pitchFamily="34" charset="-122"/>
                <a:cs typeface="Calibri" pitchFamily="34" charset="-120"/>
              </a:rPr>
              <a:t>Represent the new URL with standardized lexical features</a:t>
            </a:r>
            <a:endParaRPr lang="en-US" sz="885" dirty="0"/>
          </a:p>
        </p:txBody>
      </p:sp>
      <p:sp>
        <p:nvSpPr>
          <p:cNvPr id="29" name="Shape 27"/>
          <p:cNvSpPr/>
          <p:nvPr/>
        </p:nvSpPr>
        <p:spPr>
          <a:xfrm>
            <a:off x="4617720" y="2139696"/>
            <a:ext cx="219456" cy="219456"/>
          </a:xfrm>
          <a:prstGeom prst="ellipse">
            <a:avLst/>
          </a:prstGeom>
          <a:solidFill>
            <a:srgbClr val="028090"/>
          </a:solidFill>
          <a:ln w="12700">
            <a:solidFill>
              <a:srgbClr val="028090"/>
            </a:solidFill>
            <a:prstDash val="solid"/>
          </a:ln>
        </p:spPr>
      </p:sp>
      <p:sp>
        <p:nvSpPr>
          <p:cNvPr id="30" name="Text 28"/>
          <p:cNvSpPr/>
          <p:nvPr/>
        </p:nvSpPr>
        <p:spPr>
          <a:xfrm>
            <a:off x="4636008" y="2157984"/>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1" name="Shape 29"/>
          <p:cNvSpPr/>
          <p:nvPr/>
        </p:nvSpPr>
        <p:spPr>
          <a:xfrm>
            <a:off x="4919472" y="2048256"/>
            <a:ext cx="3657600" cy="841248"/>
          </a:xfrm>
          <a:prstGeom prst="rect">
            <a:avLst/>
          </a:prstGeom>
          <a:solidFill>
            <a:srgbClr val="F1F5F9"/>
          </a:solidFill>
          <a:ln w="10160">
            <a:solidFill>
              <a:srgbClr val="E2E8F0"/>
            </a:solidFill>
            <a:prstDash val="solid"/>
          </a:ln>
        </p:spPr>
      </p:sp>
      <p:sp>
        <p:nvSpPr>
          <p:cNvPr id="32" name="Text 30"/>
          <p:cNvSpPr/>
          <p:nvPr/>
        </p:nvSpPr>
        <p:spPr>
          <a:xfrm>
            <a:off x="5047488" y="2121408"/>
            <a:ext cx="3017520" cy="164592"/>
          </a:xfrm>
          <a:prstGeom prst="rect">
            <a:avLst/>
          </a:prstGeom>
          <a:noFill/>
          <a:ln/>
        </p:spPr>
        <p:txBody>
          <a:bodyPr wrap="square" lIns="0" tIns="0" rIns="0" bIns="0" rtlCol="0" anchor="t"/>
          <a:lstStyle/>
          <a:p>
            <a:pPr indent="0" marL="0">
              <a:buNone/>
            </a:pPr>
            <a:r>
              <a:rPr lang="en-US" sz="890" b="1" dirty="0">
                <a:solidFill>
                  <a:srgbClr val="334155"/>
                </a:solidFill>
                <a:latin typeface="Calibri" pitchFamily="34" charset="0"/>
                <a:ea typeface="Calibri" pitchFamily="34" charset="-122"/>
                <a:cs typeface="Calibri" pitchFamily="34" charset="-120"/>
              </a:rPr>
              <a:t>Find the 5 closest training URLs</a:t>
            </a:r>
            <a:endParaRPr lang="en-US" sz="890" dirty="0"/>
          </a:p>
        </p:txBody>
      </p:sp>
      <p:sp>
        <p:nvSpPr>
          <p:cNvPr id="33" name="Shape 31"/>
          <p:cNvSpPr/>
          <p:nvPr/>
        </p:nvSpPr>
        <p:spPr>
          <a:xfrm>
            <a:off x="5074920" y="2359152"/>
            <a:ext cx="603504" cy="219456"/>
          </a:xfrm>
          <a:prstGeom prst="roundRect">
            <a:avLst/>
          </a:prstGeom>
          <a:solidFill>
            <a:srgbClr val="E63946"/>
          </a:solidFill>
          <a:ln w="12700">
            <a:solidFill>
              <a:srgbClr val="E63946"/>
            </a:solidFill>
            <a:prstDash val="solid"/>
          </a:ln>
        </p:spPr>
      </p:sp>
      <p:sp>
        <p:nvSpPr>
          <p:cNvPr id="34" name="Text 32"/>
          <p:cNvSpPr/>
          <p:nvPr/>
        </p:nvSpPr>
        <p:spPr>
          <a:xfrm>
            <a:off x="5093208" y="2368296"/>
            <a:ext cx="566928"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mal.</a:t>
            </a:r>
            <a:endParaRPr lang="en-US" sz="780" dirty="0"/>
          </a:p>
        </p:txBody>
      </p:sp>
      <p:sp>
        <p:nvSpPr>
          <p:cNvPr id="35" name="Shape 33"/>
          <p:cNvSpPr/>
          <p:nvPr/>
        </p:nvSpPr>
        <p:spPr>
          <a:xfrm>
            <a:off x="5769864" y="2359152"/>
            <a:ext cx="603504" cy="219456"/>
          </a:xfrm>
          <a:prstGeom prst="roundRect">
            <a:avLst/>
          </a:prstGeom>
          <a:solidFill>
            <a:srgbClr val="E63946"/>
          </a:solidFill>
          <a:ln w="12700">
            <a:solidFill>
              <a:srgbClr val="E63946"/>
            </a:solidFill>
            <a:prstDash val="solid"/>
          </a:ln>
        </p:spPr>
      </p:sp>
      <p:sp>
        <p:nvSpPr>
          <p:cNvPr id="36" name="Text 34"/>
          <p:cNvSpPr/>
          <p:nvPr/>
        </p:nvSpPr>
        <p:spPr>
          <a:xfrm>
            <a:off x="5788152" y="2368296"/>
            <a:ext cx="566928"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mal.</a:t>
            </a:r>
            <a:endParaRPr lang="en-US" sz="780" dirty="0"/>
          </a:p>
        </p:txBody>
      </p:sp>
      <p:sp>
        <p:nvSpPr>
          <p:cNvPr id="37" name="Shape 35"/>
          <p:cNvSpPr/>
          <p:nvPr/>
        </p:nvSpPr>
        <p:spPr>
          <a:xfrm>
            <a:off x="6464808" y="2359152"/>
            <a:ext cx="603504" cy="219456"/>
          </a:xfrm>
          <a:prstGeom prst="roundRect">
            <a:avLst/>
          </a:prstGeom>
          <a:solidFill>
            <a:srgbClr val="22C55E"/>
          </a:solidFill>
          <a:ln w="12700">
            <a:solidFill>
              <a:srgbClr val="22C55E"/>
            </a:solidFill>
            <a:prstDash val="solid"/>
          </a:ln>
        </p:spPr>
      </p:sp>
      <p:sp>
        <p:nvSpPr>
          <p:cNvPr id="38" name="Text 36"/>
          <p:cNvSpPr/>
          <p:nvPr/>
        </p:nvSpPr>
        <p:spPr>
          <a:xfrm>
            <a:off x="6483096" y="2368296"/>
            <a:ext cx="566928"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ben.</a:t>
            </a:r>
            <a:endParaRPr lang="en-US" sz="780" dirty="0"/>
          </a:p>
        </p:txBody>
      </p:sp>
      <p:sp>
        <p:nvSpPr>
          <p:cNvPr id="39" name="Shape 37"/>
          <p:cNvSpPr/>
          <p:nvPr/>
        </p:nvSpPr>
        <p:spPr>
          <a:xfrm>
            <a:off x="7159752" y="2359152"/>
            <a:ext cx="603504" cy="219456"/>
          </a:xfrm>
          <a:prstGeom prst="roundRect">
            <a:avLst/>
          </a:prstGeom>
          <a:solidFill>
            <a:srgbClr val="E63946"/>
          </a:solidFill>
          <a:ln w="12700">
            <a:solidFill>
              <a:srgbClr val="E63946"/>
            </a:solidFill>
            <a:prstDash val="solid"/>
          </a:ln>
        </p:spPr>
      </p:sp>
      <p:sp>
        <p:nvSpPr>
          <p:cNvPr id="40" name="Text 38"/>
          <p:cNvSpPr/>
          <p:nvPr/>
        </p:nvSpPr>
        <p:spPr>
          <a:xfrm>
            <a:off x="7178040" y="2368296"/>
            <a:ext cx="566928"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mal.</a:t>
            </a:r>
            <a:endParaRPr lang="en-US" sz="780" dirty="0"/>
          </a:p>
        </p:txBody>
      </p:sp>
      <p:sp>
        <p:nvSpPr>
          <p:cNvPr id="41" name="Shape 39"/>
          <p:cNvSpPr/>
          <p:nvPr/>
        </p:nvSpPr>
        <p:spPr>
          <a:xfrm>
            <a:off x="7854696" y="2359152"/>
            <a:ext cx="603504" cy="219456"/>
          </a:xfrm>
          <a:prstGeom prst="roundRect">
            <a:avLst/>
          </a:prstGeom>
          <a:solidFill>
            <a:srgbClr val="22C55E"/>
          </a:solidFill>
          <a:ln w="12700">
            <a:solidFill>
              <a:srgbClr val="22C55E"/>
            </a:solidFill>
            <a:prstDash val="solid"/>
          </a:ln>
        </p:spPr>
      </p:sp>
      <p:sp>
        <p:nvSpPr>
          <p:cNvPr id="42" name="Text 40"/>
          <p:cNvSpPr/>
          <p:nvPr/>
        </p:nvSpPr>
        <p:spPr>
          <a:xfrm>
            <a:off x="7872984" y="2368296"/>
            <a:ext cx="566928" cy="201168"/>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ben.</a:t>
            </a:r>
            <a:endParaRPr lang="en-US" sz="780" dirty="0"/>
          </a:p>
        </p:txBody>
      </p:sp>
      <p:sp>
        <p:nvSpPr>
          <p:cNvPr id="43" name="Shape 41"/>
          <p:cNvSpPr/>
          <p:nvPr/>
        </p:nvSpPr>
        <p:spPr>
          <a:xfrm>
            <a:off x="4617720" y="3127248"/>
            <a:ext cx="219456" cy="219456"/>
          </a:xfrm>
          <a:prstGeom prst="ellipse">
            <a:avLst/>
          </a:prstGeom>
          <a:solidFill>
            <a:srgbClr val="028090"/>
          </a:solidFill>
          <a:ln w="12700">
            <a:solidFill>
              <a:srgbClr val="028090"/>
            </a:solidFill>
            <a:prstDash val="solid"/>
          </a:ln>
        </p:spPr>
      </p:sp>
      <p:sp>
        <p:nvSpPr>
          <p:cNvPr id="44" name="Text 42"/>
          <p:cNvSpPr/>
          <p:nvPr/>
        </p:nvSpPr>
        <p:spPr>
          <a:xfrm>
            <a:off x="4636008" y="3145536"/>
            <a:ext cx="1828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45" name="Shape 43"/>
          <p:cNvSpPr/>
          <p:nvPr/>
        </p:nvSpPr>
        <p:spPr>
          <a:xfrm>
            <a:off x="4919472" y="3054096"/>
            <a:ext cx="3657600" cy="530352"/>
          </a:xfrm>
          <a:prstGeom prst="rect">
            <a:avLst/>
          </a:prstGeom>
          <a:solidFill>
            <a:srgbClr val="E8F4F8"/>
          </a:solidFill>
          <a:ln w="12700">
            <a:solidFill>
              <a:srgbClr val="028090"/>
            </a:solidFill>
            <a:prstDash val="solid"/>
          </a:ln>
        </p:spPr>
      </p:sp>
      <p:sp>
        <p:nvSpPr>
          <p:cNvPr id="46" name="Text 44"/>
          <p:cNvSpPr/>
          <p:nvPr/>
        </p:nvSpPr>
        <p:spPr>
          <a:xfrm>
            <a:off x="5047488" y="3200400"/>
            <a:ext cx="3383280" cy="182880"/>
          </a:xfrm>
          <a:prstGeom prst="rect">
            <a:avLst/>
          </a:prstGeom>
          <a:noFill/>
          <a:ln/>
        </p:spPr>
        <p:txBody>
          <a:bodyPr wrap="square" lIns="0" tIns="0" rIns="0" bIns="0" rtlCol="0" anchor="t"/>
          <a:lstStyle/>
          <a:p>
            <a:pPr indent="0" marL="0">
              <a:buNone/>
            </a:pPr>
            <a:r>
              <a:rPr lang="en-US" sz="890" b="1" dirty="0">
                <a:solidFill>
                  <a:srgbClr val="334155"/>
                </a:solidFill>
                <a:latin typeface="Calibri" pitchFamily="34" charset="0"/>
                <a:ea typeface="Calibri" pitchFamily="34" charset="-122"/>
                <a:cs typeface="Calibri" pitchFamily="34" charset="-120"/>
              </a:rPr>
              <a:t>3 of the 5 neighbors are malicious -&gt; predict malicious</a:t>
            </a:r>
            <a:endParaRPr lang="en-US" sz="890" dirty="0"/>
          </a:p>
        </p:txBody>
      </p:sp>
      <p:sp>
        <p:nvSpPr>
          <p:cNvPr id="47" name="Shape 45"/>
          <p:cNvSpPr/>
          <p:nvPr/>
        </p:nvSpPr>
        <p:spPr>
          <a:xfrm>
            <a:off x="320040" y="4041648"/>
            <a:ext cx="8503920" cy="457200"/>
          </a:xfrm>
          <a:prstGeom prst="rect">
            <a:avLst/>
          </a:prstGeom>
          <a:solidFill>
            <a:srgbClr val="CADCFC"/>
          </a:solidFill>
          <a:ln w="12700">
            <a:solidFill>
              <a:srgbClr val="028090"/>
            </a:solidFill>
            <a:prstDash val="solid"/>
          </a:ln>
        </p:spPr>
      </p:sp>
      <p:sp>
        <p:nvSpPr>
          <p:cNvPr id="48" name="Text 46"/>
          <p:cNvSpPr/>
          <p:nvPr/>
        </p:nvSpPr>
        <p:spPr>
          <a:xfrm>
            <a:off x="448056" y="4114800"/>
            <a:ext cx="8247888" cy="201168"/>
          </a:xfrm>
          <a:prstGeom prst="rect">
            <a:avLst/>
          </a:prstGeom>
          <a:noFill/>
          <a:ln/>
        </p:spPr>
        <p:txBody>
          <a:bodyPr wrap="square" lIns="0" tIns="0" rIns="0" bIns="0" rtlCol="0" anchor="t"/>
          <a:lstStyle/>
          <a:p>
            <a:pPr indent="0" marL="0">
              <a:buNone/>
            </a:pPr>
            <a:r>
              <a:rPr lang="en-US" sz="1080" b="1" dirty="0">
                <a:solidFill>
                  <a:srgbClr val="0D1B2A"/>
                </a:solidFill>
                <a:latin typeface="Calibri" pitchFamily="34" charset="0"/>
                <a:ea typeface="Calibri" pitchFamily="34" charset="-122"/>
                <a:cs typeface="Calibri" pitchFamily="34" charset="-120"/>
              </a:rPr>
              <a:t>Important in this project</a:t>
            </a:r>
            <a:endParaRPr lang="en-US" sz="1080" dirty="0"/>
          </a:p>
        </p:txBody>
      </p:sp>
      <p:sp>
        <p:nvSpPr>
          <p:cNvPr id="49" name="Text 47"/>
          <p:cNvSpPr/>
          <p:nvPr/>
        </p:nvSpPr>
        <p:spPr>
          <a:xfrm>
            <a:off x="448056" y="4352544"/>
            <a:ext cx="8247888" cy="73152"/>
          </a:xfrm>
          <a:prstGeom prst="rect">
            <a:avLst/>
          </a:prstGeom>
          <a:noFill/>
          <a:ln/>
        </p:spPr>
        <p:txBody>
          <a:bodyPr wrap="square" lIns="0" tIns="0" rIns="0" bIns="0" rtlCol="0" anchor="t"/>
          <a:lstStyle/>
          <a:p>
            <a:pPr indent="0" marL="0">
              <a:buNone/>
            </a:pPr>
            <a:r>
              <a:rPr lang="en-US" sz="895" dirty="0">
                <a:solidFill>
                  <a:srgbClr val="334155"/>
                </a:solidFill>
                <a:latin typeface="Calibri" pitchFamily="34" charset="0"/>
                <a:ea typeface="Calibri" pitchFamily="34" charset="-122"/>
                <a:cs typeface="Calibri" pitchFamily="34" charset="-120"/>
              </a:rPr>
              <a:t>Similarity comes from URL text features like length, subdomains, and query flags - not page content, DNS, or reputation data.</a:t>
            </a:r>
            <a:endParaRPr lang="en-US" sz="89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url_deck_update/original/slide-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84048"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How to Read the Binary Results</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sp>
      <p:sp>
        <p:nvSpPr>
          <p:cNvPr id="5" name="Text 3"/>
          <p:cNvSpPr/>
          <p:nvPr/>
        </p:nvSpPr>
        <p:spPr>
          <a:xfrm>
            <a:off x="274320" y="4892040"/>
            <a:ext cx="8595360" cy="25146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Malicious URL Detection · Lexical Features Only  |  Binary Classification - Reading the Results</a:t>
            </a:r>
            <a:endParaRPr lang="en-US" sz="800" dirty="0"/>
          </a:p>
        </p:txBody>
      </p:sp>
      <p:sp>
        <p:nvSpPr>
          <p:cNvPr id="6" name="Text 4"/>
          <p:cNvSpPr/>
          <p:nvPr/>
        </p:nvSpPr>
        <p:spPr>
          <a:xfrm>
            <a:off x="320040" y="749808"/>
            <a:ext cx="8503920" cy="256032"/>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The previous slide compares all three models on the same 20% held-out test set.</a:t>
            </a:r>
            <a:endParaRPr lang="en-US" sz="1000" dirty="0"/>
          </a:p>
        </p:txBody>
      </p:sp>
      <p:sp>
        <p:nvSpPr>
          <p:cNvPr id="7" name="Shape 5"/>
          <p:cNvSpPr/>
          <p:nvPr/>
        </p:nvSpPr>
        <p:spPr>
          <a:xfrm>
            <a:off x="320040" y="1060704"/>
            <a:ext cx="1097280" cy="201168"/>
          </a:xfrm>
          <a:prstGeom prst="roundRect">
            <a:avLst/>
          </a:prstGeom>
          <a:solidFill>
            <a:srgbClr val="028090"/>
          </a:solidFill>
          <a:ln w="12700">
            <a:solidFill>
              <a:srgbClr val="028090"/>
            </a:solidFill>
            <a:prstDash val="solid"/>
          </a:ln>
        </p:spPr>
      </p:sp>
      <p:sp>
        <p:nvSpPr>
          <p:cNvPr id="8" name="Text 6"/>
          <p:cNvSpPr/>
          <p:nvPr/>
        </p:nvSpPr>
        <p:spPr>
          <a:xfrm>
            <a:off x="338328" y="1069848"/>
            <a:ext cx="1060704" cy="182880"/>
          </a:xfrm>
          <a:prstGeom prst="rect">
            <a:avLst/>
          </a:prstGeom>
          <a:noFill/>
          <a:ln/>
        </p:spPr>
        <p:txBody>
          <a:bodyPr wrap="square" lIns="0" tIns="0" rIns="0" bIns="0" rtlCol="0" anchor="ctr"/>
          <a:lstStyle/>
          <a:p>
            <a:pPr algn="ctr" indent="0" marL="0">
              <a:buNone/>
            </a:pPr>
            <a:r>
              <a:rPr lang="en-US" sz="810" b="1" dirty="0">
                <a:solidFill>
                  <a:srgbClr val="FFFFFF"/>
                </a:solidFill>
                <a:latin typeface="Calibri" pitchFamily="34" charset="0"/>
                <a:ea typeface="Calibri" pitchFamily="34" charset="-122"/>
                <a:cs typeface="Calibri" pitchFamily="34" charset="-120"/>
              </a:rPr>
              <a:t>k-NN</a:t>
            </a:r>
            <a:endParaRPr lang="en-US" sz="810" dirty="0"/>
          </a:p>
        </p:txBody>
      </p:sp>
      <p:sp>
        <p:nvSpPr>
          <p:cNvPr id="9" name="Shape 7"/>
          <p:cNvSpPr/>
          <p:nvPr/>
        </p:nvSpPr>
        <p:spPr>
          <a:xfrm>
            <a:off x="1572768" y="1060704"/>
            <a:ext cx="1783080" cy="201168"/>
          </a:xfrm>
          <a:prstGeom prst="roundRect">
            <a:avLst/>
          </a:prstGeom>
          <a:solidFill>
            <a:srgbClr val="0D1B2A"/>
          </a:solidFill>
          <a:ln w="12700">
            <a:solidFill>
              <a:srgbClr val="0D1B2A"/>
            </a:solidFill>
            <a:prstDash val="solid"/>
          </a:ln>
        </p:spPr>
      </p:sp>
      <p:sp>
        <p:nvSpPr>
          <p:cNvPr id="10" name="Text 8"/>
          <p:cNvSpPr/>
          <p:nvPr/>
        </p:nvSpPr>
        <p:spPr>
          <a:xfrm>
            <a:off x="1591056" y="1069848"/>
            <a:ext cx="174650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Logistic Regression</a:t>
            </a:r>
            <a:endParaRPr lang="en-US" sz="800" dirty="0"/>
          </a:p>
        </p:txBody>
      </p:sp>
      <p:sp>
        <p:nvSpPr>
          <p:cNvPr id="11" name="Shape 9"/>
          <p:cNvSpPr/>
          <p:nvPr/>
        </p:nvSpPr>
        <p:spPr>
          <a:xfrm>
            <a:off x="3511296" y="1060704"/>
            <a:ext cx="1554480" cy="201168"/>
          </a:xfrm>
          <a:prstGeom prst="roundRect">
            <a:avLst/>
          </a:prstGeom>
          <a:solidFill>
            <a:srgbClr val="E63946"/>
          </a:solidFill>
          <a:ln w="12700">
            <a:solidFill>
              <a:srgbClr val="E63946"/>
            </a:solidFill>
            <a:prstDash val="solid"/>
          </a:ln>
        </p:spPr>
      </p:sp>
      <p:sp>
        <p:nvSpPr>
          <p:cNvPr id="12" name="Text 10"/>
          <p:cNvSpPr/>
          <p:nvPr/>
        </p:nvSpPr>
        <p:spPr>
          <a:xfrm>
            <a:off x="3529584" y="1069848"/>
            <a:ext cx="151790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Majority Baseline</a:t>
            </a:r>
            <a:endParaRPr lang="en-US" sz="800" dirty="0"/>
          </a:p>
        </p:txBody>
      </p:sp>
      <p:sp>
        <p:nvSpPr>
          <p:cNvPr id="13" name="Shape 11"/>
          <p:cNvSpPr/>
          <p:nvPr/>
        </p:nvSpPr>
        <p:spPr>
          <a:xfrm>
            <a:off x="320040" y="1371600"/>
            <a:ext cx="4069080" cy="2743200"/>
          </a:xfrm>
          <a:prstGeom prst="rect">
            <a:avLst/>
          </a:prstGeom>
          <a:solidFill>
            <a:srgbClr val="FFFFFF"/>
          </a:solidFill>
          <a:ln w="15875">
            <a:solidFill>
              <a:srgbClr val="028090"/>
            </a:solidFill>
            <a:prstDash val="solid"/>
          </a:ln>
        </p:spPr>
      </p:sp>
      <p:sp>
        <p:nvSpPr>
          <p:cNvPr id="14" name="Text 12"/>
          <p:cNvSpPr/>
          <p:nvPr/>
        </p:nvSpPr>
        <p:spPr>
          <a:xfrm>
            <a:off x="448056" y="1463040"/>
            <a:ext cx="3813048" cy="256032"/>
          </a:xfrm>
          <a:prstGeom prst="rect">
            <a:avLst/>
          </a:prstGeom>
          <a:noFill/>
          <a:ln/>
        </p:spPr>
        <p:txBody>
          <a:bodyPr wrap="square" lIns="0" tIns="0" rIns="0" bIns="0" rtlCol="0" anchor="t"/>
          <a:lstStyle/>
          <a:p>
            <a:pPr indent="0" marL="0">
              <a:buNone/>
            </a:pPr>
            <a:r>
              <a:rPr lang="en-US" sz="1120" b="1" dirty="0">
                <a:solidFill>
                  <a:srgbClr val="028090"/>
                </a:solidFill>
                <a:latin typeface="Calibri" pitchFamily="34" charset="0"/>
                <a:ea typeface="Calibri" pitchFamily="34" charset="-122"/>
                <a:cs typeface="Calibri" pitchFamily="34" charset="-120"/>
              </a:rPr>
              <a:t>Headline metrics</a:t>
            </a:r>
            <a:endParaRPr lang="en-US" sz="1120" dirty="0"/>
          </a:p>
        </p:txBody>
      </p:sp>
      <p:sp>
        <p:nvSpPr>
          <p:cNvPr id="15" name="Text 13"/>
          <p:cNvSpPr/>
          <p:nvPr/>
        </p:nvSpPr>
        <p:spPr>
          <a:xfrm>
            <a:off x="466344" y="1783080"/>
            <a:ext cx="3776472" cy="2240280"/>
          </a:xfrm>
          <a:prstGeom prst="rect">
            <a:avLst/>
          </a:prstGeom>
          <a:noFill/>
          <a:ln/>
        </p:spPr>
        <p:txBody>
          <a:bodyPr wrap="square" lIns="0" tIns="0" rIns="0" bIns="0" rtlCol="0" anchor="t"/>
          <a:lstStyle/>
          <a:p>
            <a:pPr indent="0" marL="0">
              <a:buNone/>
            </a:pPr>
            <a:r>
              <a:rPr lang="en-US" sz="935" dirty="0">
                <a:solidFill>
                  <a:srgbClr val="334155"/>
                </a:solidFill>
                <a:latin typeface="Calibri" pitchFamily="34" charset="0"/>
                <a:ea typeface="Calibri" pitchFamily="34" charset="-122"/>
                <a:cs typeface="Calibri" pitchFamily="34" charset="-120"/>
              </a:rPr>
              <a:t>- Balanced accuracy = average recall of benign and malicious</a:t>
            </a:r>
            <a:endParaRPr lang="en-US" sz="935" dirty="0"/>
          </a:p>
          <a:p>
            <a:pPr indent="0" marL="0">
              <a:buNone/>
            </a:pPr>
            <a:r>
              <a:rPr lang="en-US" sz="935" dirty="0">
                <a:solidFill>
                  <a:srgbClr val="334155"/>
                </a:solidFill>
                <a:latin typeface="Calibri" pitchFamily="34" charset="0"/>
                <a:ea typeface="Calibri" pitchFamily="34" charset="-122"/>
                <a:cs typeface="Calibri" pitchFamily="34" charset="-120"/>
              </a:rPr>
              <a:t>- Macro F1 = average F1 across the two classes</a:t>
            </a:r>
            <a:endParaRPr lang="en-US" sz="935" dirty="0"/>
          </a:p>
          <a:p>
            <a:pPr indent="0" marL="0">
              <a:buNone/>
            </a:pPr>
            <a:r>
              <a:rPr lang="en-US" sz="935" dirty="0">
                <a:solidFill>
                  <a:srgbClr val="334155"/>
                </a:solidFill>
                <a:latin typeface="Calibri" pitchFamily="34" charset="0"/>
                <a:ea typeface="Calibri" pitchFamily="34" charset="-122"/>
                <a:cs typeface="Calibri" pitchFamily="34" charset="-120"/>
              </a:rPr>
              <a:t>- Higher is better on both metrics</a:t>
            </a:r>
            <a:endParaRPr lang="en-US" sz="935" dirty="0"/>
          </a:p>
        </p:txBody>
      </p:sp>
      <p:sp>
        <p:nvSpPr>
          <p:cNvPr id="16" name="Shape 14"/>
          <p:cNvSpPr/>
          <p:nvPr/>
        </p:nvSpPr>
        <p:spPr>
          <a:xfrm>
            <a:off x="4709160" y="1371600"/>
            <a:ext cx="4114800" cy="2743200"/>
          </a:xfrm>
          <a:prstGeom prst="rect">
            <a:avLst/>
          </a:prstGeom>
          <a:solidFill>
            <a:srgbClr val="FFFFFF"/>
          </a:solidFill>
          <a:ln w="15875">
            <a:solidFill>
              <a:srgbClr val="0D1B2A"/>
            </a:solidFill>
            <a:prstDash val="solid"/>
          </a:ln>
        </p:spPr>
      </p:sp>
      <p:sp>
        <p:nvSpPr>
          <p:cNvPr id="17" name="Text 15"/>
          <p:cNvSpPr/>
          <p:nvPr/>
        </p:nvSpPr>
        <p:spPr>
          <a:xfrm>
            <a:off x="4837176" y="1463040"/>
            <a:ext cx="3858768" cy="256032"/>
          </a:xfrm>
          <a:prstGeom prst="rect">
            <a:avLst/>
          </a:prstGeom>
          <a:noFill/>
          <a:ln/>
        </p:spPr>
        <p:txBody>
          <a:bodyPr wrap="square" lIns="0" tIns="0" rIns="0" bIns="0" rtlCol="0" anchor="t"/>
          <a:lstStyle/>
          <a:p>
            <a:pPr indent="0" marL="0">
              <a:buNone/>
            </a:pPr>
            <a:r>
              <a:rPr lang="en-US" sz="1120" b="1" dirty="0">
                <a:solidFill>
                  <a:srgbClr val="0D1B2A"/>
                </a:solidFill>
                <a:latin typeface="Calibri" pitchFamily="34" charset="0"/>
                <a:ea typeface="Calibri" pitchFamily="34" charset="-122"/>
                <a:cs typeface="Calibri" pitchFamily="34" charset="-120"/>
              </a:rPr>
              <a:t>Per-class table</a:t>
            </a:r>
            <a:endParaRPr lang="en-US" sz="1120" dirty="0"/>
          </a:p>
        </p:txBody>
      </p:sp>
      <p:sp>
        <p:nvSpPr>
          <p:cNvPr id="18" name="Text 16"/>
          <p:cNvSpPr/>
          <p:nvPr/>
        </p:nvSpPr>
        <p:spPr>
          <a:xfrm>
            <a:off x="4855464" y="1783080"/>
            <a:ext cx="3822192" cy="2240280"/>
          </a:xfrm>
          <a:prstGeom prst="rect">
            <a:avLst/>
          </a:prstGeom>
          <a:noFill/>
          <a:ln/>
        </p:spPr>
        <p:txBody>
          <a:bodyPr wrap="square" lIns="0" tIns="0" rIns="0" bIns="0" rtlCol="0" anchor="t"/>
          <a:lstStyle/>
          <a:p>
            <a:pPr indent="0" marL="0">
              <a:buNone/>
            </a:pPr>
            <a:r>
              <a:rPr lang="en-US" sz="915" dirty="0">
                <a:solidFill>
                  <a:srgbClr val="334155"/>
                </a:solidFill>
                <a:latin typeface="Calibri" pitchFamily="34" charset="0"/>
                <a:ea typeface="Calibri" pitchFamily="34" charset="-122"/>
                <a:cs typeface="Calibri" pitchFamily="34" charset="-120"/>
              </a:rPr>
              <a:t>- Precision = when the model predicts a class, how often it is right</a:t>
            </a:r>
            <a:endParaRPr lang="en-US" sz="915" dirty="0"/>
          </a:p>
          <a:p>
            <a:pPr indent="0" marL="0">
              <a:buNone/>
            </a:pPr>
            <a:r>
              <a:rPr lang="en-US" sz="915" dirty="0">
                <a:solidFill>
                  <a:srgbClr val="334155"/>
                </a:solidFill>
                <a:latin typeface="Calibri" pitchFamily="34" charset="0"/>
                <a:ea typeface="Calibri" pitchFamily="34" charset="-122"/>
                <a:cs typeface="Calibri" pitchFamily="34" charset="-120"/>
              </a:rPr>
              <a:t>- Recall = how many URLs from that class it finds</a:t>
            </a:r>
            <a:endParaRPr lang="en-US" sz="915" dirty="0"/>
          </a:p>
          <a:p>
            <a:pPr indent="0" marL="0">
              <a:buNone/>
            </a:pPr>
            <a:r>
              <a:rPr lang="en-US" sz="915" dirty="0">
                <a:solidFill>
                  <a:srgbClr val="334155"/>
                </a:solidFill>
                <a:latin typeface="Calibri" pitchFamily="34" charset="0"/>
                <a:ea typeface="Calibri" pitchFamily="34" charset="-122"/>
                <a:cs typeface="Calibri" pitchFamily="34" charset="-120"/>
              </a:rPr>
              <a:t>- F1 = one-number balance of precision and recall</a:t>
            </a:r>
            <a:endParaRPr lang="en-US" sz="915" dirty="0"/>
          </a:p>
          <a:p>
            <a:pPr indent="0" marL="0">
              <a:buNone/>
            </a:pPr>
            <a:r>
              <a:rPr lang="en-US" sz="915" dirty="0">
                <a:solidFill>
                  <a:srgbClr val="334155"/>
                </a:solidFill>
                <a:latin typeface="Calibri" pitchFamily="34" charset="0"/>
                <a:ea typeface="Calibri" pitchFamily="34" charset="-122"/>
                <a:cs typeface="Calibri" pitchFamily="34" charset="-120"/>
              </a:rPr>
              <a:t>- Support = number of test URLs in that class; not a score</a:t>
            </a:r>
            <a:endParaRPr lang="en-US" sz="915" dirty="0"/>
          </a:p>
        </p:txBody>
      </p:sp>
      <p:sp>
        <p:nvSpPr>
          <p:cNvPr id="19" name="Shape 17"/>
          <p:cNvSpPr/>
          <p:nvPr/>
        </p:nvSpPr>
        <p:spPr>
          <a:xfrm>
            <a:off x="320040" y="4297680"/>
            <a:ext cx="8503920" cy="475488"/>
          </a:xfrm>
          <a:prstGeom prst="rect">
            <a:avLst/>
          </a:prstGeom>
          <a:solidFill>
            <a:srgbClr val="CADCFC"/>
          </a:solidFill>
          <a:ln w="12700">
            <a:solidFill>
              <a:srgbClr val="028090"/>
            </a:solidFill>
            <a:prstDash val="solid"/>
          </a:ln>
        </p:spPr>
      </p:sp>
      <p:sp>
        <p:nvSpPr>
          <p:cNvPr id="20" name="Text 18"/>
          <p:cNvSpPr/>
          <p:nvPr/>
        </p:nvSpPr>
        <p:spPr>
          <a:xfrm>
            <a:off x="448056" y="4370832"/>
            <a:ext cx="8247888" cy="201168"/>
          </a:xfrm>
          <a:prstGeom prst="rect">
            <a:avLst/>
          </a:prstGeom>
          <a:noFill/>
          <a:ln/>
        </p:spPr>
        <p:txBody>
          <a:bodyPr wrap="square" lIns="0" tIns="0" rIns="0" bIns="0" rtlCol="0" anchor="t"/>
          <a:lstStyle/>
          <a:p>
            <a:pPr indent="0" marL="0">
              <a:buNone/>
            </a:pPr>
            <a:r>
              <a:rPr lang="en-US" sz="1080" b="1" dirty="0">
                <a:solidFill>
                  <a:srgbClr val="0D1B2A"/>
                </a:solidFill>
                <a:latin typeface="Calibri" pitchFamily="34" charset="0"/>
                <a:ea typeface="Calibri" pitchFamily="34" charset="-122"/>
                <a:cs typeface="Calibri" pitchFamily="34" charset="-120"/>
              </a:rPr>
              <a:t>How to compare the models</a:t>
            </a:r>
            <a:endParaRPr lang="en-US" sz="1080" dirty="0"/>
          </a:p>
        </p:txBody>
      </p:sp>
      <p:sp>
        <p:nvSpPr>
          <p:cNvPr id="21" name="Text 19"/>
          <p:cNvSpPr/>
          <p:nvPr/>
        </p:nvSpPr>
        <p:spPr>
          <a:xfrm>
            <a:off x="448056" y="4608576"/>
            <a:ext cx="8247888" cy="91440"/>
          </a:xfrm>
          <a:prstGeom prst="rect">
            <a:avLst/>
          </a:prstGeom>
          <a:noFill/>
          <a:ln/>
        </p:spPr>
        <p:txBody>
          <a:bodyPr wrap="square" lIns="0" tIns="0" rIns="0" bIns="0" rtlCol="0" anchor="t"/>
          <a:lstStyle/>
          <a:p>
            <a:pPr indent="0" marL="0">
              <a:buNone/>
            </a:pPr>
            <a:r>
              <a:rPr lang="en-US" sz="895" dirty="0">
                <a:solidFill>
                  <a:srgbClr val="334155"/>
                </a:solidFill>
                <a:latin typeface="Calibri" pitchFamily="34" charset="0"/>
                <a:ea typeface="Calibri" pitchFamily="34" charset="-122"/>
                <a:cs typeface="Calibri" pitchFamily="34" charset="-120"/>
              </a:rPr>
              <a:t>Each top card belongs to one model. Read the table row by row to compare Logistic Regression and k-NN on the same class.</a:t>
            </a:r>
            <a:endParaRPr lang="en-US" sz="89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84048"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Logistic Regression Before the Coefficients</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sp>
      <p:sp>
        <p:nvSpPr>
          <p:cNvPr id="5" name="Text 3"/>
          <p:cNvSpPr/>
          <p:nvPr/>
        </p:nvSpPr>
        <p:spPr>
          <a:xfrm>
            <a:off x="274320" y="4892040"/>
            <a:ext cx="8595360" cy="25146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Malicious URL Detection · Lexical Features Only  |  Binary Classification - Logistic Regression Concept</a:t>
            </a:r>
            <a:endParaRPr lang="en-US" sz="800" dirty="0"/>
          </a:p>
        </p:txBody>
      </p:sp>
      <p:sp>
        <p:nvSpPr>
          <p:cNvPr id="6" name="Text 4"/>
          <p:cNvSpPr/>
          <p:nvPr/>
        </p:nvSpPr>
        <p:spPr>
          <a:xfrm>
            <a:off x="320040" y="749808"/>
            <a:ext cx="8503920" cy="256032"/>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This is the main explanatory model in the deck because each feature gets a readable coefficient.</a:t>
            </a:r>
            <a:endParaRPr lang="en-US" sz="1000" dirty="0"/>
          </a:p>
        </p:txBody>
      </p:sp>
      <p:sp>
        <p:nvSpPr>
          <p:cNvPr id="7" name="Shape 5"/>
          <p:cNvSpPr/>
          <p:nvPr/>
        </p:nvSpPr>
        <p:spPr>
          <a:xfrm>
            <a:off x="320040" y="1078992"/>
            <a:ext cx="3977640" cy="2487168"/>
          </a:xfrm>
          <a:prstGeom prst="rect">
            <a:avLst/>
          </a:prstGeom>
          <a:solidFill>
            <a:srgbClr val="FFFFFF"/>
          </a:solidFill>
          <a:ln w="15875">
            <a:solidFill>
              <a:srgbClr val="0D1B2A"/>
            </a:solidFill>
            <a:prstDash val="solid"/>
          </a:ln>
        </p:spPr>
      </p:sp>
      <p:sp>
        <p:nvSpPr>
          <p:cNvPr id="8" name="Text 6"/>
          <p:cNvSpPr/>
          <p:nvPr/>
        </p:nvSpPr>
        <p:spPr>
          <a:xfrm>
            <a:off x="448056" y="1170432"/>
            <a:ext cx="3721608" cy="256032"/>
          </a:xfrm>
          <a:prstGeom prst="rect">
            <a:avLst/>
          </a:prstGeom>
          <a:noFill/>
          <a:ln/>
        </p:spPr>
        <p:txBody>
          <a:bodyPr wrap="square" lIns="0" tIns="0" rIns="0" bIns="0" rtlCol="0" anchor="t"/>
          <a:lstStyle/>
          <a:p>
            <a:pPr indent="0" marL="0">
              <a:buNone/>
            </a:pPr>
            <a:r>
              <a:rPr lang="en-US" sz="1120" b="1" dirty="0">
                <a:solidFill>
                  <a:srgbClr val="0D1B2A"/>
                </a:solidFill>
                <a:latin typeface="Calibri" pitchFamily="34" charset="0"/>
                <a:ea typeface="Calibri" pitchFamily="34" charset="-122"/>
                <a:cs typeface="Calibri" pitchFamily="34" charset="-120"/>
              </a:rPr>
              <a:t>What logistic regression is</a:t>
            </a:r>
            <a:endParaRPr lang="en-US" sz="1120" dirty="0"/>
          </a:p>
        </p:txBody>
      </p:sp>
      <p:sp>
        <p:nvSpPr>
          <p:cNvPr id="9" name="Text 7"/>
          <p:cNvSpPr/>
          <p:nvPr/>
        </p:nvSpPr>
        <p:spPr>
          <a:xfrm>
            <a:off x="466344" y="1490472"/>
            <a:ext cx="3685032" cy="1984248"/>
          </a:xfrm>
          <a:prstGeom prst="rect">
            <a:avLst/>
          </a:prstGeom>
          <a:noFill/>
          <a:ln/>
        </p:spPr>
        <p:txBody>
          <a:bodyPr wrap="square" lIns="0" tIns="0" rIns="0" bIns="0" rtlCol="0" anchor="t"/>
          <a:lstStyle/>
          <a:p>
            <a:pPr indent="0" marL="0">
              <a:buNone/>
            </a:pPr>
            <a:r>
              <a:rPr lang="en-US" sz="925" dirty="0">
                <a:solidFill>
                  <a:srgbClr val="334155"/>
                </a:solidFill>
                <a:latin typeface="Calibri" pitchFamily="34" charset="0"/>
                <a:ea typeface="Calibri" pitchFamily="34" charset="-122"/>
                <a:cs typeface="Calibri" pitchFamily="34" charset="-120"/>
              </a:rPr>
              <a:t>- A linear classifier that learns one weight per feature</a:t>
            </a:r>
            <a:endParaRPr lang="en-US" sz="925" dirty="0"/>
          </a:p>
          <a:p>
            <a:pPr indent="0" marL="0">
              <a:buNone/>
            </a:pPr>
            <a:r>
              <a:rPr lang="en-US" sz="925" dirty="0">
                <a:solidFill>
                  <a:srgbClr val="334155"/>
                </a:solidFill>
                <a:latin typeface="Calibri" pitchFamily="34" charset="0"/>
                <a:ea typeface="Calibri" pitchFamily="34" charset="-122"/>
                <a:cs typeface="Calibri" pitchFamily="34" charset="-120"/>
              </a:rPr>
              <a:t>- The weights combine to produce a class probability</a:t>
            </a:r>
            <a:endParaRPr lang="en-US" sz="925" dirty="0"/>
          </a:p>
          <a:p>
            <a:pPr indent="0" marL="0">
              <a:buNone/>
            </a:pPr>
            <a:r>
              <a:rPr lang="en-US" sz="925" dirty="0">
                <a:solidFill>
                  <a:srgbClr val="334155"/>
                </a:solidFill>
                <a:latin typeface="Calibri" pitchFamily="34" charset="0"/>
                <a:ea typeface="Calibri" pitchFamily="34" charset="-122"/>
                <a:cs typeface="Calibri" pitchFamily="34" charset="-120"/>
              </a:rPr>
              <a:t>- Positive and negative coefficients show which features push the prediction</a:t>
            </a:r>
            <a:endParaRPr lang="en-US" sz="925" dirty="0"/>
          </a:p>
          <a:p>
            <a:pPr indent="0" marL="0">
              <a:buNone/>
            </a:pPr>
            <a:r>
              <a:rPr lang="en-US" sz="925" dirty="0">
                <a:solidFill>
                  <a:srgbClr val="334155"/>
                </a:solidFill>
                <a:latin typeface="Calibri" pitchFamily="34" charset="0"/>
                <a:ea typeface="Calibri" pitchFamily="34" charset="-122"/>
                <a:cs typeface="Calibri" pitchFamily="34" charset="-120"/>
              </a:rPr>
              <a:t>- That makes the model easier to interpret than k-NN</a:t>
            </a:r>
            <a:endParaRPr lang="en-US" sz="925" dirty="0"/>
          </a:p>
        </p:txBody>
      </p:sp>
      <p:sp>
        <p:nvSpPr>
          <p:cNvPr id="10" name="Shape 8"/>
          <p:cNvSpPr/>
          <p:nvPr/>
        </p:nvSpPr>
        <p:spPr>
          <a:xfrm>
            <a:off x="4526280" y="1078992"/>
            <a:ext cx="4297680" cy="1051560"/>
          </a:xfrm>
          <a:prstGeom prst="rect">
            <a:avLst/>
          </a:prstGeom>
          <a:solidFill>
            <a:srgbClr val="FFFFFF"/>
          </a:solidFill>
          <a:ln w="12700">
            <a:solidFill>
              <a:srgbClr val="D1D5DB"/>
            </a:solidFill>
            <a:prstDash val="solid"/>
          </a:ln>
        </p:spPr>
      </p:sp>
      <p:sp>
        <p:nvSpPr>
          <p:cNvPr id="11" name="Shape 9"/>
          <p:cNvSpPr/>
          <p:nvPr/>
        </p:nvSpPr>
        <p:spPr>
          <a:xfrm>
            <a:off x="4526280" y="1078992"/>
            <a:ext cx="4297680" cy="274320"/>
          </a:xfrm>
          <a:prstGeom prst="rect">
            <a:avLst/>
          </a:prstGeom>
          <a:solidFill>
            <a:srgbClr val="0D1B2A"/>
          </a:solidFill>
          <a:ln w="12700">
            <a:solidFill>
              <a:srgbClr val="0D1B2A"/>
            </a:solidFill>
            <a:prstDash val="solid"/>
          </a:ln>
        </p:spPr>
      </p:sp>
      <p:sp>
        <p:nvSpPr>
          <p:cNvPr id="12" name="Text 10"/>
          <p:cNvSpPr/>
          <p:nvPr/>
        </p:nvSpPr>
        <p:spPr>
          <a:xfrm>
            <a:off x="4636008" y="1097280"/>
            <a:ext cx="407822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C = 10</a:t>
            </a:r>
            <a:endParaRPr lang="en-US" sz="1060" dirty="0"/>
          </a:p>
        </p:txBody>
      </p:sp>
      <p:sp>
        <p:nvSpPr>
          <p:cNvPr id="13" name="Text 11"/>
          <p:cNvSpPr/>
          <p:nvPr/>
        </p:nvSpPr>
        <p:spPr>
          <a:xfrm>
            <a:off x="4654296" y="1463040"/>
            <a:ext cx="4041648" cy="594360"/>
          </a:xfrm>
          <a:prstGeom prst="rect">
            <a:avLst/>
          </a:prstGeom>
          <a:noFill/>
          <a:ln/>
        </p:spPr>
        <p:txBody>
          <a:bodyPr wrap="square" lIns="0" tIns="0" rIns="0" bIns="0" rtlCol="0" anchor="t"/>
          <a:lstStyle/>
          <a:p>
            <a:pPr indent="0" marL="0">
              <a:buNone/>
            </a:pPr>
            <a:r>
              <a:rPr lang="en-US" sz="890" dirty="0">
                <a:solidFill>
                  <a:srgbClr val="334155"/>
                </a:solidFill>
                <a:latin typeface="Calibri" pitchFamily="34" charset="0"/>
                <a:ea typeface="Calibri" pitchFamily="34" charset="-122"/>
                <a:cs typeface="Calibri" pitchFamily="34" charset="-120"/>
              </a:rPr>
              <a:t>C controls regularization. A larger C means less penalty on big coefficients, so the model can fit the lexical patterns more freely.</a:t>
            </a:r>
            <a:endParaRPr lang="en-US" sz="890" dirty="0"/>
          </a:p>
        </p:txBody>
      </p:sp>
      <p:sp>
        <p:nvSpPr>
          <p:cNvPr id="14" name="Shape 12"/>
          <p:cNvSpPr/>
          <p:nvPr/>
        </p:nvSpPr>
        <p:spPr>
          <a:xfrm>
            <a:off x="4526280" y="2267712"/>
            <a:ext cx="4297680" cy="1051560"/>
          </a:xfrm>
          <a:prstGeom prst="rect">
            <a:avLst/>
          </a:prstGeom>
          <a:solidFill>
            <a:srgbClr val="FFFFFF"/>
          </a:solidFill>
          <a:ln w="12700">
            <a:solidFill>
              <a:srgbClr val="D1D5DB"/>
            </a:solidFill>
            <a:prstDash val="solid"/>
          </a:ln>
        </p:spPr>
      </p:sp>
      <p:sp>
        <p:nvSpPr>
          <p:cNvPr id="15" name="Shape 13"/>
          <p:cNvSpPr/>
          <p:nvPr/>
        </p:nvSpPr>
        <p:spPr>
          <a:xfrm>
            <a:off x="4526280" y="2267712"/>
            <a:ext cx="4297680" cy="274320"/>
          </a:xfrm>
          <a:prstGeom prst="rect">
            <a:avLst/>
          </a:prstGeom>
          <a:solidFill>
            <a:srgbClr val="028090"/>
          </a:solidFill>
          <a:ln w="12700">
            <a:solidFill>
              <a:srgbClr val="028090"/>
            </a:solidFill>
            <a:prstDash val="solid"/>
          </a:ln>
        </p:spPr>
      </p:sp>
      <p:sp>
        <p:nvSpPr>
          <p:cNvPr id="16" name="Text 14"/>
          <p:cNvSpPr/>
          <p:nvPr/>
        </p:nvSpPr>
        <p:spPr>
          <a:xfrm>
            <a:off x="4636008" y="2286000"/>
            <a:ext cx="407822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Balanced class weights</a:t>
            </a:r>
            <a:endParaRPr lang="en-US" sz="1060" dirty="0"/>
          </a:p>
        </p:txBody>
      </p:sp>
      <p:sp>
        <p:nvSpPr>
          <p:cNvPr id="17" name="Text 15"/>
          <p:cNvSpPr/>
          <p:nvPr/>
        </p:nvSpPr>
        <p:spPr>
          <a:xfrm>
            <a:off x="4654296" y="2651760"/>
            <a:ext cx="4041648" cy="594360"/>
          </a:xfrm>
          <a:prstGeom prst="rect">
            <a:avLst/>
          </a:prstGeom>
          <a:noFill/>
          <a:ln/>
        </p:spPr>
        <p:txBody>
          <a:bodyPr wrap="square" lIns="0" tIns="0" rIns="0" bIns="0" rtlCol="0" anchor="t"/>
          <a:lstStyle/>
          <a:p>
            <a:pPr indent="0" marL="0">
              <a:buNone/>
            </a:pPr>
            <a:r>
              <a:rPr lang="en-US" sz="895" dirty="0">
                <a:solidFill>
                  <a:srgbClr val="334155"/>
                </a:solidFill>
                <a:latin typeface="Calibri" pitchFamily="34" charset="0"/>
                <a:ea typeface="Calibri" pitchFamily="34" charset="-122"/>
                <a:cs typeface="Calibri" pitchFamily="34" charset="-120"/>
              </a:rPr>
              <a:t>Minority-class mistakes count more during training, which helps malicious URLs compete with the dominant benign class.</a:t>
            </a:r>
            <a:endParaRPr lang="en-US" sz="895" dirty="0"/>
          </a:p>
        </p:txBody>
      </p:sp>
      <p:sp>
        <p:nvSpPr>
          <p:cNvPr id="18" name="Shape 16"/>
          <p:cNvSpPr/>
          <p:nvPr/>
        </p:nvSpPr>
        <p:spPr>
          <a:xfrm>
            <a:off x="320040" y="3767328"/>
            <a:ext cx="8503920" cy="676656"/>
          </a:xfrm>
          <a:prstGeom prst="rect">
            <a:avLst/>
          </a:prstGeom>
          <a:solidFill>
            <a:srgbClr val="CADCFC"/>
          </a:solidFill>
          <a:ln w="12700">
            <a:solidFill>
              <a:srgbClr val="028090"/>
            </a:solidFill>
            <a:prstDash val="solid"/>
          </a:ln>
        </p:spPr>
      </p:sp>
      <p:sp>
        <p:nvSpPr>
          <p:cNvPr id="19" name="Text 17"/>
          <p:cNvSpPr/>
          <p:nvPr/>
        </p:nvSpPr>
        <p:spPr>
          <a:xfrm>
            <a:off x="448056" y="3840480"/>
            <a:ext cx="8247888" cy="201168"/>
          </a:xfrm>
          <a:prstGeom prst="rect">
            <a:avLst/>
          </a:prstGeom>
          <a:noFill/>
          <a:ln/>
        </p:spPr>
        <p:txBody>
          <a:bodyPr wrap="square" lIns="0" tIns="0" rIns="0" bIns="0" rtlCol="0" anchor="t"/>
          <a:lstStyle/>
          <a:p>
            <a:pPr indent="0" marL="0">
              <a:buNone/>
            </a:pPr>
            <a:r>
              <a:rPr lang="en-US" sz="1080" b="1" dirty="0">
                <a:solidFill>
                  <a:srgbClr val="0D1B2A"/>
                </a:solidFill>
                <a:latin typeface="Calibri" pitchFamily="34" charset="0"/>
                <a:ea typeface="Calibri" pitchFamily="34" charset="-122"/>
                <a:cs typeface="Calibri" pitchFamily="34" charset="-120"/>
              </a:rPr>
              <a:t>Why these settings matter here</a:t>
            </a:r>
            <a:endParaRPr lang="en-US" sz="1080" dirty="0"/>
          </a:p>
        </p:txBody>
      </p:sp>
      <p:sp>
        <p:nvSpPr>
          <p:cNvPr id="20" name="Text 18"/>
          <p:cNvSpPr/>
          <p:nvPr/>
        </p:nvSpPr>
        <p:spPr>
          <a:xfrm>
            <a:off x="448056" y="4078224"/>
            <a:ext cx="8247888" cy="292608"/>
          </a:xfrm>
          <a:prstGeom prst="rect">
            <a:avLst/>
          </a:prstGeom>
          <a:noFill/>
          <a:ln/>
        </p:spPr>
        <p:txBody>
          <a:bodyPr wrap="square" lIns="0" tIns="0" rIns="0" bIns="0" rtlCol="0" anchor="t"/>
          <a:lstStyle/>
          <a:p>
            <a:pPr indent="0" marL="0">
              <a:buNone/>
            </a:pPr>
            <a:r>
              <a:rPr lang="en-US" sz="900" dirty="0">
                <a:solidFill>
                  <a:srgbClr val="334155"/>
                </a:solidFill>
                <a:latin typeface="Calibri" pitchFamily="34" charset="0"/>
                <a:ea typeface="Calibri" pitchFamily="34" charset="-122"/>
                <a:cs typeface="Calibri" pitchFamily="34" charset="-120"/>
              </a:rPr>
              <a:t>We need an interpretable model for the report, but we also need the training process to pay attention to rare malicious classes rather than letting benign dominate everything.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url_deck_update/original/slide-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url_deck_update/original/slide-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84048" y="0"/>
            <a:ext cx="841248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How to Read the Multiclass Results</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sp>
      <p:sp>
        <p:nvSpPr>
          <p:cNvPr id="5" name="Text 3"/>
          <p:cNvSpPr/>
          <p:nvPr/>
        </p:nvSpPr>
        <p:spPr>
          <a:xfrm>
            <a:off x="274320" y="4892040"/>
            <a:ext cx="8595360" cy="25146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Malicious URL Detection · Lexical Features Only  |  Multiclass Classification - Reading the Results</a:t>
            </a:r>
            <a:endParaRPr lang="en-US" sz="800" dirty="0"/>
          </a:p>
        </p:txBody>
      </p:sp>
      <p:sp>
        <p:nvSpPr>
          <p:cNvPr id="6" name="Text 4"/>
          <p:cNvSpPr/>
          <p:nvPr/>
        </p:nvSpPr>
        <p:spPr>
          <a:xfrm>
            <a:off x="320040" y="749808"/>
            <a:ext cx="8503920" cy="256032"/>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The top cards summarize overall 4-class performance, and the table underneath breaks F1 out by class.</a:t>
            </a:r>
            <a:endParaRPr lang="en-US" sz="1000" dirty="0"/>
          </a:p>
        </p:txBody>
      </p:sp>
      <p:sp>
        <p:nvSpPr>
          <p:cNvPr id="7" name="Shape 5"/>
          <p:cNvSpPr/>
          <p:nvPr/>
        </p:nvSpPr>
        <p:spPr>
          <a:xfrm>
            <a:off x="228600" y="1060704"/>
            <a:ext cx="2788920" cy="1115568"/>
          </a:xfrm>
          <a:prstGeom prst="rect">
            <a:avLst/>
          </a:prstGeom>
          <a:solidFill>
            <a:srgbClr val="FFFFFF"/>
          </a:solidFill>
          <a:ln w="12700">
            <a:solidFill>
              <a:srgbClr val="D1D5DB"/>
            </a:solidFill>
            <a:prstDash val="solid"/>
          </a:ln>
        </p:spPr>
      </p:sp>
      <p:sp>
        <p:nvSpPr>
          <p:cNvPr id="8" name="Shape 6"/>
          <p:cNvSpPr/>
          <p:nvPr/>
        </p:nvSpPr>
        <p:spPr>
          <a:xfrm>
            <a:off x="228600" y="1060704"/>
            <a:ext cx="2788920" cy="274320"/>
          </a:xfrm>
          <a:prstGeom prst="rect">
            <a:avLst/>
          </a:prstGeom>
          <a:solidFill>
            <a:srgbClr val="028090"/>
          </a:solidFill>
          <a:ln w="12700">
            <a:solidFill>
              <a:srgbClr val="028090"/>
            </a:solidFill>
            <a:prstDash val="solid"/>
          </a:ln>
        </p:spPr>
      </p:sp>
      <p:sp>
        <p:nvSpPr>
          <p:cNvPr id="9" name="Text 7"/>
          <p:cNvSpPr/>
          <p:nvPr/>
        </p:nvSpPr>
        <p:spPr>
          <a:xfrm>
            <a:off x="338328" y="1078992"/>
            <a:ext cx="25694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Balanced Acc</a:t>
            </a:r>
            <a:endParaRPr lang="en-US" sz="1060" dirty="0"/>
          </a:p>
        </p:txBody>
      </p:sp>
      <p:sp>
        <p:nvSpPr>
          <p:cNvPr id="10" name="Text 8"/>
          <p:cNvSpPr/>
          <p:nvPr/>
        </p:nvSpPr>
        <p:spPr>
          <a:xfrm>
            <a:off x="356616" y="1444752"/>
            <a:ext cx="2532888" cy="658368"/>
          </a:xfrm>
          <a:prstGeom prst="rect">
            <a:avLst/>
          </a:prstGeom>
          <a:noFill/>
          <a:ln/>
        </p:spPr>
        <p:txBody>
          <a:bodyPr wrap="square" lIns="0" tIns="0" rIns="0" bIns="0" rtlCol="0" anchor="t"/>
          <a:lstStyle/>
          <a:p>
            <a:pPr indent="0" marL="0">
              <a:buNone/>
            </a:pPr>
            <a:r>
              <a:rPr lang="en-US" sz="900" dirty="0">
                <a:solidFill>
                  <a:srgbClr val="334155"/>
                </a:solidFill>
                <a:latin typeface="Calibri" pitchFamily="34" charset="0"/>
                <a:ea typeface="Calibri" pitchFamily="34" charset="-122"/>
                <a:cs typeface="Calibri" pitchFamily="34" charset="-120"/>
              </a:rPr>
              <a:t>Average recall across benign,</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defacement, malware, and phishing.</a:t>
            </a:r>
            <a:endParaRPr lang="en-US" sz="900" dirty="0"/>
          </a:p>
        </p:txBody>
      </p:sp>
      <p:sp>
        <p:nvSpPr>
          <p:cNvPr id="11" name="Shape 9"/>
          <p:cNvSpPr/>
          <p:nvPr/>
        </p:nvSpPr>
        <p:spPr>
          <a:xfrm>
            <a:off x="3172968" y="1060704"/>
            <a:ext cx="2788920" cy="1115568"/>
          </a:xfrm>
          <a:prstGeom prst="rect">
            <a:avLst/>
          </a:prstGeom>
          <a:solidFill>
            <a:srgbClr val="FFFFFF"/>
          </a:solidFill>
          <a:ln w="12700">
            <a:solidFill>
              <a:srgbClr val="D1D5DB"/>
            </a:solidFill>
            <a:prstDash val="solid"/>
          </a:ln>
        </p:spPr>
      </p:sp>
      <p:sp>
        <p:nvSpPr>
          <p:cNvPr id="12" name="Shape 10"/>
          <p:cNvSpPr/>
          <p:nvPr/>
        </p:nvSpPr>
        <p:spPr>
          <a:xfrm>
            <a:off x="3172968" y="1060704"/>
            <a:ext cx="2788920" cy="274320"/>
          </a:xfrm>
          <a:prstGeom prst="rect">
            <a:avLst/>
          </a:prstGeom>
          <a:solidFill>
            <a:srgbClr val="0D1B2A"/>
          </a:solidFill>
          <a:ln w="12700">
            <a:solidFill>
              <a:srgbClr val="0D1B2A"/>
            </a:solidFill>
            <a:prstDash val="solid"/>
          </a:ln>
        </p:spPr>
      </p:sp>
      <p:sp>
        <p:nvSpPr>
          <p:cNvPr id="13" name="Text 11"/>
          <p:cNvSpPr/>
          <p:nvPr/>
        </p:nvSpPr>
        <p:spPr>
          <a:xfrm>
            <a:off x="3282696" y="1078992"/>
            <a:ext cx="25694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Macro F1</a:t>
            </a:r>
            <a:endParaRPr lang="en-US" sz="1060" dirty="0"/>
          </a:p>
        </p:txBody>
      </p:sp>
      <p:sp>
        <p:nvSpPr>
          <p:cNvPr id="14" name="Text 12"/>
          <p:cNvSpPr/>
          <p:nvPr/>
        </p:nvSpPr>
        <p:spPr>
          <a:xfrm>
            <a:off x="3300984" y="1444752"/>
            <a:ext cx="2532888" cy="658368"/>
          </a:xfrm>
          <a:prstGeom prst="rect">
            <a:avLst/>
          </a:prstGeom>
          <a:noFill/>
          <a:ln/>
        </p:spPr>
        <p:txBody>
          <a:bodyPr wrap="square" lIns="0" tIns="0" rIns="0" bIns="0" rtlCol="0" anchor="t"/>
          <a:lstStyle/>
          <a:p>
            <a:pPr indent="0" marL="0">
              <a:buNone/>
            </a:pPr>
            <a:r>
              <a:rPr lang="en-US" sz="900" dirty="0">
                <a:solidFill>
                  <a:srgbClr val="334155"/>
                </a:solidFill>
                <a:latin typeface="Calibri" pitchFamily="34" charset="0"/>
                <a:ea typeface="Calibri" pitchFamily="34" charset="-122"/>
                <a:cs typeface="Calibri" pitchFamily="34" charset="-120"/>
              </a:rPr>
              <a:t>Average of the 4 class F1 scores.</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Each class counts equally.</a:t>
            </a:r>
            <a:endParaRPr lang="en-US" sz="900" dirty="0"/>
          </a:p>
        </p:txBody>
      </p:sp>
      <p:sp>
        <p:nvSpPr>
          <p:cNvPr id="15" name="Shape 13"/>
          <p:cNvSpPr/>
          <p:nvPr/>
        </p:nvSpPr>
        <p:spPr>
          <a:xfrm>
            <a:off x="6117336" y="1060704"/>
            <a:ext cx="2788920" cy="1115568"/>
          </a:xfrm>
          <a:prstGeom prst="rect">
            <a:avLst/>
          </a:prstGeom>
          <a:solidFill>
            <a:srgbClr val="FFFFFF"/>
          </a:solidFill>
          <a:ln w="12700">
            <a:solidFill>
              <a:srgbClr val="D1D5DB"/>
            </a:solidFill>
            <a:prstDash val="solid"/>
          </a:ln>
        </p:spPr>
      </p:sp>
      <p:sp>
        <p:nvSpPr>
          <p:cNvPr id="16" name="Shape 14"/>
          <p:cNvSpPr/>
          <p:nvPr/>
        </p:nvSpPr>
        <p:spPr>
          <a:xfrm>
            <a:off x="6117336" y="1060704"/>
            <a:ext cx="2788920" cy="274320"/>
          </a:xfrm>
          <a:prstGeom prst="rect">
            <a:avLst/>
          </a:prstGeom>
          <a:solidFill>
            <a:srgbClr val="F59E0B"/>
          </a:solidFill>
          <a:ln w="12700">
            <a:solidFill>
              <a:srgbClr val="F59E0B"/>
            </a:solidFill>
            <a:prstDash val="solid"/>
          </a:ln>
        </p:spPr>
      </p:sp>
      <p:sp>
        <p:nvSpPr>
          <p:cNvPr id="17" name="Text 15"/>
          <p:cNvSpPr/>
          <p:nvPr/>
        </p:nvSpPr>
        <p:spPr>
          <a:xfrm>
            <a:off x="6227064" y="1078992"/>
            <a:ext cx="2569464" cy="219456"/>
          </a:xfrm>
          <a:prstGeom prst="rect">
            <a:avLst/>
          </a:prstGeom>
          <a:noFill/>
          <a:ln/>
        </p:spPr>
        <p:txBody>
          <a:bodyPr wrap="square" lIns="0" tIns="0" rIns="0" bIns="0" rtlCol="0" anchor="ctr"/>
          <a:lstStyle/>
          <a:p>
            <a:pPr indent="0" marL="0">
              <a:buNone/>
            </a:pPr>
            <a:r>
              <a:rPr lang="en-US" sz="1060" b="1" dirty="0">
                <a:solidFill>
                  <a:srgbClr val="FFFFFF"/>
                </a:solidFill>
                <a:latin typeface="Calibri" pitchFamily="34" charset="0"/>
                <a:ea typeface="Calibri" pitchFamily="34" charset="-122"/>
                <a:cs typeface="Calibri" pitchFamily="34" charset="-120"/>
              </a:rPr>
              <a:t>Delta gain (k-NN)</a:t>
            </a:r>
            <a:endParaRPr lang="en-US" sz="1060" dirty="0"/>
          </a:p>
        </p:txBody>
      </p:sp>
      <p:sp>
        <p:nvSpPr>
          <p:cNvPr id="18" name="Text 16"/>
          <p:cNvSpPr/>
          <p:nvPr/>
        </p:nvSpPr>
        <p:spPr>
          <a:xfrm>
            <a:off x="6245352" y="1444752"/>
            <a:ext cx="2532888" cy="658368"/>
          </a:xfrm>
          <a:prstGeom prst="rect">
            <a:avLst/>
          </a:prstGeom>
          <a:noFill/>
          <a:ln/>
        </p:spPr>
        <p:txBody>
          <a:bodyPr wrap="square" lIns="0" tIns="0" rIns="0" bIns="0" rtlCol="0" anchor="t"/>
          <a:lstStyle/>
          <a:p>
            <a:pPr indent="0" marL="0">
              <a:buNone/>
            </a:pPr>
            <a:r>
              <a:rPr lang="en-US" sz="900" dirty="0">
                <a:solidFill>
                  <a:srgbClr val="334155"/>
                </a:solidFill>
                <a:latin typeface="Calibri" pitchFamily="34" charset="0"/>
                <a:ea typeface="Calibri" pitchFamily="34" charset="-122"/>
                <a:cs typeface="Calibri" pitchFamily="34" charset="-120"/>
              </a:rPr>
              <a:t>k-NN F1 minus LR F1 for</a:t>
            </a:r>
            <a:endParaRPr lang="en-US" sz="900" dirty="0"/>
          </a:p>
          <a:p>
            <a:pPr indent="0" marL="0">
              <a:buNone/>
            </a:pPr>
            <a:r>
              <a:rPr lang="en-US" sz="900" dirty="0">
                <a:solidFill>
                  <a:srgbClr val="334155"/>
                </a:solidFill>
                <a:latin typeface="Calibri" pitchFamily="34" charset="0"/>
                <a:ea typeface="Calibri" pitchFamily="34" charset="-122"/>
                <a:cs typeface="Calibri" pitchFamily="34" charset="-120"/>
              </a:rPr>
              <a:t>the same class.</a:t>
            </a:r>
            <a:endParaRPr lang="en-US" sz="900" dirty="0"/>
          </a:p>
        </p:txBody>
      </p:sp>
      <p:sp>
        <p:nvSpPr>
          <p:cNvPr id="19" name="Shape 17"/>
          <p:cNvSpPr/>
          <p:nvPr/>
        </p:nvSpPr>
        <p:spPr>
          <a:xfrm>
            <a:off x="320040" y="2487168"/>
            <a:ext cx="4069080" cy="1828800"/>
          </a:xfrm>
          <a:prstGeom prst="rect">
            <a:avLst/>
          </a:prstGeom>
          <a:solidFill>
            <a:srgbClr val="FFFFFF"/>
          </a:solidFill>
          <a:ln w="15875">
            <a:solidFill>
              <a:srgbClr val="028090"/>
            </a:solidFill>
            <a:prstDash val="solid"/>
          </a:ln>
        </p:spPr>
      </p:sp>
      <p:sp>
        <p:nvSpPr>
          <p:cNvPr id="20" name="Text 18"/>
          <p:cNvSpPr/>
          <p:nvPr/>
        </p:nvSpPr>
        <p:spPr>
          <a:xfrm>
            <a:off x="448056" y="2578608"/>
            <a:ext cx="3813048" cy="256032"/>
          </a:xfrm>
          <a:prstGeom prst="rect">
            <a:avLst/>
          </a:prstGeom>
          <a:noFill/>
          <a:ln/>
        </p:spPr>
        <p:txBody>
          <a:bodyPr wrap="square" lIns="0" tIns="0" rIns="0" bIns="0" rtlCol="0" anchor="t"/>
          <a:lstStyle/>
          <a:p>
            <a:pPr indent="0" marL="0">
              <a:buNone/>
            </a:pPr>
            <a:r>
              <a:rPr lang="en-US" sz="1120" b="1" dirty="0">
                <a:solidFill>
                  <a:srgbClr val="028090"/>
                </a:solidFill>
                <a:latin typeface="Calibri" pitchFamily="34" charset="0"/>
                <a:ea typeface="Calibri" pitchFamily="34" charset="-122"/>
                <a:cs typeface="Calibri" pitchFamily="34" charset="-120"/>
              </a:rPr>
              <a:t>Table shorthand</a:t>
            </a:r>
            <a:endParaRPr lang="en-US" sz="1120" dirty="0"/>
          </a:p>
        </p:txBody>
      </p:sp>
      <p:sp>
        <p:nvSpPr>
          <p:cNvPr id="21" name="Text 19"/>
          <p:cNvSpPr/>
          <p:nvPr/>
        </p:nvSpPr>
        <p:spPr>
          <a:xfrm>
            <a:off x="466344" y="2898648"/>
            <a:ext cx="3776472" cy="1325880"/>
          </a:xfrm>
          <a:prstGeom prst="rect">
            <a:avLst/>
          </a:prstGeom>
          <a:noFill/>
          <a:ln/>
        </p:spPr>
        <p:txBody>
          <a:bodyPr wrap="square" lIns="0" tIns="0" rIns="0" bIns="0" rtlCol="0" anchor="t"/>
          <a:lstStyle/>
          <a:p>
            <a:pPr indent="0" marL="0">
              <a:buNone/>
            </a:pPr>
            <a:r>
              <a:rPr lang="en-US" sz="920" dirty="0">
                <a:solidFill>
                  <a:srgbClr val="334155"/>
                </a:solidFill>
                <a:latin typeface="Calibri" pitchFamily="34" charset="0"/>
                <a:ea typeface="Calibri" pitchFamily="34" charset="-122"/>
                <a:cs typeface="Calibri" pitchFamily="34" charset="-120"/>
              </a:rPr>
              <a:t>- LR F1 = Logistic Regression F1 for that class</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 k-NN F1 = k-NN F1 for that class</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 Higher is better; 1.00 is perfect, 0.00 is poor</a:t>
            </a:r>
            <a:endParaRPr lang="en-US" sz="920" dirty="0"/>
          </a:p>
        </p:txBody>
      </p:sp>
      <p:sp>
        <p:nvSpPr>
          <p:cNvPr id="22" name="Shape 20"/>
          <p:cNvSpPr/>
          <p:nvPr/>
        </p:nvSpPr>
        <p:spPr>
          <a:xfrm>
            <a:off x="4709160" y="2487168"/>
            <a:ext cx="4114800" cy="1828800"/>
          </a:xfrm>
          <a:prstGeom prst="rect">
            <a:avLst/>
          </a:prstGeom>
          <a:solidFill>
            <a:srgbClr val="FEE2E2"/>
          </a:solidFill>
          <a:ln w="15875">
            <a:solidFill>
              <a:srgbClr val="E63946"/>
            </a:solidFill>
            <a:prstDash val="solid"/>
          </a:ln>
        </p:spPr>
      </p:sp>
      <p:sp>
        <p:nvSpPr>
          <p:cNvPr id="23" name="Text 21"/>
          <p:cNvSpPr/>
          <p:nvPr/>
        </p:nvSpPr>
        <p:spPr>
          <a:xfrm>
            <a:off x="4837176" y="2578608"/>
            <a:ext cx="3858768" cy="256032"/>
          </a:xfrm>
          <a:prstGeom prst="rect">
            <a:avLst/>
          </a:prstGeom>
          <a:noFill/>
          <a:ln/>
        </p:spPr>
        <p:txBody>
          <a:bodyPr wrap="square" lIns="0" tIns="0" rIns="0" bIns="0" rtlCol="0" anchor="t"/>
          <a:lstStyle/>
          <a:p>
            <a:pPr indent="0" marL="0">
              <a:buNone/>
            </a:pPr>
            <a:r>
              <a:rPr lang="en-US" sz="1120" b="1" dirty="0">
                <a:solidFill>
                  <a:srgbClr val="E63946"/>
                </a:solidFill>
                <a:latin typeface="Calibri" pitchFamily="34" charset="0"/>
                <a:ea typeface="Calibri" pitchFamily="34" charset="-122"/>
                <a:cs typeface="Calibri" pitchFamily="34" charset="-120"/>
              </a:rPr>
              <a:t>How to interpret gain</a:t>
            </a:r>
            <a:endParaRPr lang="en-US" sz="1120" dirty="0"/>
          </a:p>
        </p:txBody>
      </p:sp>
      <p:sp>
        <p:nvSpPr>
          <p:cNvPr id="24" name="Text 22"/>
          <p:cNvSpPr/>
          <p:nvPr/>
        </p:nvSpPr>
        <p:spPr>
          <a:xfrm>
            <a:off x="4855464" y="2898648"/>
            <a:ext cx="3822192" cy="1325880"/>
          </a:xfrm>
          <a:prstGeom prst="rect">
            <a:avLst/>
          </a:prstGeom>
          <a:noFill/>
          <a:ln/>
        </p:spPr>
        <p:txBody>
          <a:bodyPr wrap="square" lIns="0" tIns="0" rIns="0" bIns="0" rtlCol="0" anchor="t"/>
          <a:lstStyle/>
          <a:p>
            <a:pPr indent="0" marL="0">
              <a:buNone/>
            </a:pPr>
            <a:r>
              <a:rPr lang="en-US" sz="920" dirty="0">
                <a:solidFill>
                  <a:srgbClr val="334155"/>
                </a:solidFill>
                <a:latin typeface="Calibri" pitchFamily="34" charset="0"/>
                <a:ea typeface="Calibri" pitchFamily="34" charset="-122"/>
                <a:cs typeface="Calibri" pitchFamily="34" charset="-120"/>
              </a:rPr>
              <a:t>- Positive gain means k-NN improved on that class</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 Larger gain means a bigger class-specific improvement</a:t>
            </a:r>
            <a:endParaRPr lang="en-US" sz="920" dirty="0"/>
          </a:p>
          <a:p>
            <a:pPr indent="0" marL="0">
              <a:buNone/>
            </a:pPr>
            <a:r>
              <a:rPr lang="en-US" sz="920" dirty="0">
                <a:solidFill>
                  <a:srgbClr val="334155"/>
                </a:solidFill>
                <a:latin typeface="Calibri" pitchFamily="34" charset="0"/>
                <a:ea typeface="Calibri" pitchFamily="34" charset="-122"/>
                <a:cs typeface="Calibri" pitchFamily="34" charset="-120"/>
              </a:rPr>
              <a:t>- Example: phishing 0.767 - 0.497 = +0.270</a:t>
            </a:r>
            <a:endParaRPr lang="en-US" sz="9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tmp/url_deck_update/original/slide-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tmp/url_deck_update/original/slide-1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tmp/url_deck_update/original/slide-1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Malicious URL Detection - updated presentation</dc:title>
  <dc:subject>Malicious URL Detection</dc:subject>
  <dc:creator>OpenAI</dc:creator>
  <cp:lastModifiedBy>OpenAI</cp:lastModifiedBy>
  <cp:revision>1</cp:revision>
  <dcterms:created xsi:type="dcterms:W3CDTF">2026-03-22T19:46:00Z</dcterms:created>
  <dcterms:modified xsi:type="dcterms:W3CDTF">2026-03-22T19:46:00Z</dcterms:modified>
</cp:coreProperties>
</file>