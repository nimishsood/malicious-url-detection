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notebook: /mnt/data/file1.ipynb (cells 0-5, 33)
- Existing presentation: /mnt/data/MaliciousURL_Analysis.pptx
- Kaggle dataset reference noted in the notebook: https://www.kaggle.com/datasets/sid321axn/malicious-urls-dataset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notebook: /mnt/data/file1.ipynb (cells 0-6, 12-16, 24-33)
- Existing presentation: /mnt/data/MaliciousURL_Analysis.pptx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notebook: /mnt/data/file1.ipynb (cells 3-4, 7)
- Existing presentation: /mnt/data/MaliciousURL_Analysis.pptx
- Kaggle dataset reference noted in the notebook: https://www.kaggle.com/datasets/sid321axn/malicious-urls-dataset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notebook: /mnt/data/file1.ipynb (cells 8-11)
- Chart recreated from notebook outputs and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notebook: /mnt/data/file1.ipynb (cells 12-15)
- Chart recreated from notebook outputs and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notebook: /mnt/data/file1.ipynb (cells 16-32)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notebook: /mnt/data/file1.ipynb (cells 19-21)
- Left chart recreated from notebook outputs and tables; right chart uses notebook figure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notebook: /mnt/data/file1.ipynb (cells 23, 29-30)
- Chart recreated from notebook outputs and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notebook: /mnt/data/file1.ipynb (cells 27-32)
- Chart recreated from notebook outputs and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notebook: /mnt/data/file1.ipynb (cells 24-28, 33)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notebook: /mnt/data/file1.ipynb (cells 24-26)
- Chart recreated from notebook tables; table values taken from notebook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notebook: /mnt/data/file1.ipynb (cells 27-28, 33)
- Chart recreated from notebook output table of Spearman correlations.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notebook: /mnt/data/file1.ipynb (cells 33 and prior outputs)
- Existing presentation: /mnt/data/MaliciousURL_Analysis.pptx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920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URL Dataset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9808" y="23591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" y="2953512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improved presentation built from the notebook workflow: acquisition, understanding, cleaning, exploratory analysis, and statistical interpretation.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0" y="141732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600" b="1" dirty="0">
                <a:solidFill>
                  <a:srgbClr val="153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0600" dirty="0"/>
          </a:p>
        </p:txBody>
      </p:sp>
      <p:sp>
        <p:nvSpPr>
          <p:cNvPr id="7" name="Text 5"/>
          <p:cNvSpPr/>
          <p:nvPr/>
        </p:nvSpPr>
        <p:spPr>
          <a:xfrm>
            <a:off x="749808" y="62910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source: Kaggle • sid321axn/malicious-urls-dataset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6473952"/>
            <a:ext cx="10698480" cy="0"/>
          </a:xfrm>
          <a:prstGeom prst="line">
            <a:avLst/>
          </a:prstGeom>
          <a:noFill/>
          <a:ln w="12700">
            <a:solidFill>
              <a:srgbClr val="1A3E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92840" y="64099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34747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is doing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795528"/>
            <a:ext cx="50292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interpretable URL-text signals before jumping into modeling.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6473952"/>
            <a:ext cx="10698480" cy="0"/>
          </a:xfrm>
          <a:prstGeom prst="line">
            <a:avLst/>
          </a:prstGeom>
          <a:noFill/>
          <a:ln w="12700">
            <a:solidFill>
              <a:srgbClr val="1A3E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4190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URL Dataset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92840" y="64099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651,191 raw URLs  →  640,792 cleaned URLs  →  4 final labels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17190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follows a full, reproducible analysis path: document provenance, understand the raw data, clean it conservatively, explore patterns, and then interpret which results are stable versus fragile.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91056" y="3246120"/>
            <a:ext cx="1847088" cy="0"/>
          </a:xfrm>
          <a:prstGeom prst="line">
            <a:avLst/>
          </a:prstGeom>
          <a:noFill/>
          <a:ln w="12700">
            <a:solidFill>
              <a:srgbClr val="1A3E6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77056" y="3246120"/>
            <a:ext cx="1847088" cy="0"/>
          </a:xfrm>
          <a:prstGeom prst="line">
            <a:avLst/>
          </a:prstGeom>
          <a:noFill/>
          <a:ln w="12700">
            <a:solidFill>
              <a:srgbClr val="1A3E6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63056" y="3246120"/>
            <a:ext cx="1847088" cy="0"/>
          </a:xfrm>
          <a:prstGeom prst="line">
            <a:avLst/>
          </a:prstGeom>
          <a:noFill/>
          <a:ln w="12700">
            <a:solidFill>
              <a:srgbClr val="1A3E6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449056" y="3246120"/>
            <a:ext cx="1847088" cy="0"/>
          </a:xfrm>
          <a:prstGeom prst="line">
            <a:avLst/>
          </a:prstGeom>
          <a:noFill/>
          <a:ln w="12700">
            <a:solidFill>
              <a:srgbClr val="1A3E6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152144" y="3026664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312724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" y="395020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source, path, size, and file hash.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38144" y="3026664"/>
            <a:ext cx="438912" cy="43891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84448" y="312724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3657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697480" y="395020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schema, balance, length, and schemes.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24144" y="3026664"/>
            <a:ext cx="438912" cy="438912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70448" y="312724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3657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83480" y="395020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malformed, duplicate, and conflicting rows.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10144" y="3026664"/>
            <a:ext cx="438912" cy="438912"/>
          </a:xfrm>
          <a:prstGeom prst="ellipse">
            <a:avLst/>
          </a:prstGeom>
          <a:solidFill>
            <a:srgbClr val="FF5A87"/>
          </a:solidFill>
          <a:ln w="12700">
            <a:solidFill>
              <a:srgbClr val="FF5A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56448" y="312724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0" y="3657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269480" y="395020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lexical features, tokens, and domain structure.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296144" y="3026664"/>
            <a:ext cx="438912" cy="438912"/>
          </a:xfrm>
          <a:prstGeom prst="ellipse">
            <a:avLst/>
          </a:prstGeom>
          <a:solidFill>
            <a:srgbClr val="19C37D"/>
          </a:solidFill>
          <a:ln w="12700">
            <a:solidFill>
              <a:srgbClr val="19C37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42448" y="312724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784080" y="3657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555480" y="395020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robust summaries, variability, and uncertainty.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9808" y="52303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950976" y="523951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is part of the analysis, not an afterthought.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892040" y="52303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5093208" y="52395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here is insight discovery and interpretation—not a finished production detector.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DATA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34747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dataset came from and what the labels mean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795528"/>
            <a:ext cx="50292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hosts a merged table built from several upstream security feeds.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6473952"/>
            <a:ext cx="10698480" cy="0"/>
          </a:xfrm>
          <a:prstGeom prst="line">
            <a:avLst/>
          </a:prstGeom>
          <a:noFill/>
          <a:ln w="12700">
            <a:solidFill>
              <a:srgbClr val="1A3E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4190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URL Dataset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92840" y="64099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89320" y="1325880"/>
            <a:ext cx="0" cy="4526280"/>
          </a:xfrm>
          <a:prstGeom prst="line">
            <a:avLst/>
          </a:prstGeom>
          <a:noFill/>
          <a:ln w="12700">
            <a:solidFill>
              <a:srgbClr val="1A3E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261872"/>
            <a:ext cx="73152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252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sources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86384" y="1719072"/>
            <a:ext cx="109728" cy="1097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16642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ISCX-URL-2016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78408" y="18928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benign/phishing/malware/defacement collection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" y="2478024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24231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Domain Blacklist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78408" y="26517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phishing and malware URLs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6384" y="3236976"/>
            <a:ext cx="109728" cy="1097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318211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Faizan repository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78408" y="34107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benign URLs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86384" y="399592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39410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PhishTank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8408" y="416966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phishing URLs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6384" y="4754880"/>
            <a:ext cx="109728" cy="1097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47000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PhishStorm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78408" y="49286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phishing URLs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6384" y="57424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analysis schema: 2 columns (`url`, `type`).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1261872"/>
            <a:ext cx="73152" cy="292608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83096" y="12527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used in the analysis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82512" y="1737360"/>
            <a:ext cx="109728" cy="384048"/>
          </a:xfrm>
          <a:prstGeom prst="rect">
            <a:avLst/>
          </a:prstGeom>
          <a:solidFill>
            <a:srgbClr val="19C37D"/>
          </a:solidFill>
          <a:ln w="12700">
            <a:solidFill>
              <a:srgbClr val="19C3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170078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936992" y="17099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non-malicious websites.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82512" y="2523744"/>
            <a:ext cx="109728" cy="384048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01968" y="2487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936992" y="24963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Deceptive URLs meant to steal credentials or personal data.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82512" y="3310128"/>
            <a:ext cx="109728" cy="384048"/>
          </a:xfrm>
          <a:prstGeom prst="rect">
            <a:avLst/>
          </a:prstGeom>
          <a:solidFill>
            <a:srgbClr val="FF5A87"/>
          </a:solidFill>
          <a:ln w="12700">
            <a:solidFill>
              <a:srgbClr val="FF5A8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327355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936992" y="328269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tied to payload delivery or malicious hosting.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382512" y="4096512"/>
            <a:ext cx="109728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01968" y="405993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Defacement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936992" y="40690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pages whose content has been altered.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382512" y="5358384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descriptive categories. Later results explain how URL structure differs across them—but not why a single URL was created.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UNDERSTANDING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34747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raw data looks like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795528"/>
            <a:ext cx="50292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cleaning, the notebook checks class balance, uniqueness, and whether URL schemes are even present.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6473952"/>
            <a:ext cx="10698480" cy="0"/>
          </a:xfrm>
          <a:prstGeom prst="line">
            <a:avLst/>
          </a:prstGeom>
          <a:noFill/>
          <a:ln w="12700">
            <a:solidFill>
              <a:srgbClr val="1A3E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4190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URL Dataset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92840" y="64099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261872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651,191 rows   •   641,119 unique URLs   •   13.16:1 largest-to-smallest class ratio</a:t>
            </a:r>
            <a:endParaRPr lang="en-US" sz="1500" dirty="0"/>
          </a:p>
        </p:txBody>
      </p:sp>
      <p:pic>
        <p:nvPicPr>
          <p:cNvPr id="10" name="Image 0" descr="/mnt/data/slide_work/charts/understanding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74463"/>
            <a:ext cx="7452360" cy="255713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58200" y="1783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13.16:1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458200" y="22037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imbalance ratio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58200" y="2514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20" dirty="0"/>
          </a:p>
        </p:txBody>
      </p:sp>
      <p:sp>
        <p:nvSpPr>
          <p:cNvPr id="14" name="Text 11"/>
          <p:cNvSpPr/>
          <p:nvPr/>
        </p:nvSpPr>
        <p:spPr>
          <a:xfrm>
            <a:off x="8659368" y="252374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URLs dominate the raw file, so a naive accuracy score would flatter a weak model.</a:t>
            </a:r>
            <a:endParaRPr lang="en-US" sz="1420" dirty="0"/>
          </a:p>
        </p:txBody>
      </p:sp>
      <p:sp>
        <p:nvSpPr>
          <p:cNvPr id="15" name="Text 12"/>
          <p:cNvSpPr/>
          <p:nvPr/>
        </p:nvSpPr>
        <p:spPr>
          <a:xfrm>
            <a:off x="8458200" y="3383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20" dirty="0"/>
          </a:p>
        </p:txBody>
      </p:sp>
      <p:sp>
        <p:nvSpPr>
          <p:cNvPr id="16" name="Text 13"/>
          <p:cNvSpPr/>
          <p:nvPr/>
        </p:nvSpPr>
        <p:spPr>
          <a:xfrm>
            <a:off x="8659368" y="339242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usage is inconsistent: defacement and malware almost always include http/https, benign often does not.</a:t>
            </a:r>
            <a:endParaRPr lang="en-US" sz="1420" dirty="0"/>
          </a:p>
        </p:txBody>
      </p:sp>
      <p:sp>
        <p:nvSpPr>
          <p:cNvPr id="17" name="Text 14"/>
          <p:cNvSpPr/>
          <p:nvPr/>
        </p:nvSpPr>
        <p:spPr>
          <a:xfrm>
            <a:off x="8458200" y="4389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FF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20" dirty="0"/>
          </a:p>
        </p:txBody>
      </p:sp>
      <p:sp>
        <p:nvSpPr>
          <p:cNvPr id="18" name="Text 15"/>
          <p:cNvSpPr/>
          <p:nvPr/>
        </p:nvSpPr>
        <p:spPr>
          <a:xfrm>
            <a:off x="8659368" y="439826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differences are visible even before feature engineering or modeling starts.</a:t>
            </a:r>
            <a:endParaRPr lang="en-US" sz="14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CLEANING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34747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 was cleaned—and what changed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795528"/>
            <a:ext cx="50292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conservative: remove rows that are malformed, duplicated, or label-ambiguous, but keep the URL text intact otherwise.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6473952"/>
            <a:ext cx="10698480" cy="0"/>
          </a:xfrm>
          <a:prstGeom prst="line">
            <a:avLst/>
          </a:prstGeom>
          <a:noFill/>
          <a:ln w="12700">
            <a:solidFill>
              <a:srgbClr val="1A3E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4190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URL Dataset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92840" y="64099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10,399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9808" y="18470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removed in total (1.6%)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9808" y="2084832"/>
            <a:ext cx="73152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075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applied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6384" y="2450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80" dirty="0"/>
          </a:p>
        </p:txBody>
      </p:sp>
      <p:sp>
        <p:nvSpPr>
          <p:cNvPr id="14" name="Text 12"/>
          <p:cNvSpPr/>
          <p:nvPr/>
        </p:nvSpPr>
        <p:spPr>
          <a:xfrm>
            <a:off x="987552" y="245973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whitespace and normalize labels to lowercase.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786384" y="2962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80" dirty="0"/>
          </a:p>
        </p:txBody>
      </p:sp>
      <p:sp>
        <p:nvSpPr>
          <p:cNvPr id="16" name="Text 14"/>
          <p:cNvSpPr/>
          <p:nvPr/>
        </p:nvSpPr>
        <p:spPr>
          <a:xfrm>
            <a:off x="987552" y="29718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missing or empty URL/label values.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786384" y="3474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80" dirty="0"/>
          </a:p>
        </p:txBody>
      </p:sp>
      <p:sp>
        <p:nvSpPr>
          <p:cNvPr id="18" name="Text 16"/>
          <p:cNvSpPr/>
          <p:nvPr/>
        </p:nvSpPr>
        <p:spPr>
          <a:xfrm>
            <a:off x="987552" y="348386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the four expected labels.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786384" y="3986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0" b="1" dirty="0">
                <a:solidFill>
                  <a:srgbClr val="FF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80" dirty="0"/>
          </a:p>
        </p:txBody>
      </p:sp>
      <p:sp>
        <p:nvSpPr>
          <p:cNvPr id="20" name="Text 18"/>
          <p:cNvSpPr/>
          <p:nvPr/>
        </p:nvSpPr>
        <p:spPr>
          <a:xfrm>
            <a:off x="987552" y="399592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URLs containing whitespace or control characters.</a:t>
            </a:r>
            <a:endParaRPr lang="en-US" sz="1380" dirty="0"/>
          </a:p>
        </p:txBody>
      </p:sp>
      <p:sp>
        <p:nvSpPr>
          <p:cNvPr id="21" name="Text 19"/>
          <p:cNvSpPr/>
          <p:nvPr/>
        </p:nvSpPr>
        <p:spPr>
          <a:xfrm>
            <a:off x="786384" y="4498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0" b="1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80" dirty="0"/>
          </a:p>
        </p:txBody>
      </p:sp>
      <p:sp>
        <p:nvSpPr>
          <p:cNvPr id="22" name="Text 20"/>
          <p:cNvSpPr/>
          <p:nvPr/>
        </p:nvSpPr>
        <p:spPr>
          <a:xfrm>
            <a:off x="987552" y="450799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exact duplicate rows.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786384" y="50109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80" dirty="0"/>
          </a:p>
        </p:txBody>
      </p:sp>
      <p:sp>
        <p:nvSpPr>
          <p:cNvPr id="24" name="Text 22"/>
          <p:cNvSpPr/>
          <p:nvPr/>
        </p:nvSpPr>
        <p:spPr>
          <a:xfrm>
            <a:off x="987552" y="502005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exact duplicate URLs that carry conflicting labels.</a:t>
            </a:r>
            <a:endParaRPr lang="en-US" sz="1380" dirty="0"/>
          </a:p>
        </p:txBody>
      </p:sp>
      <p:sp>
        <p:nvSpPr>
          <p:cNvPr id="25" name="Text 23"/>
          <p:cNvSpPr/>
          <p:nvPr/>
        </p:nvSpPr>
        <p:spPr>
          <a:xfrm>
            <a:off x="786384" y="565099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Post-cleaning checks: 0 missing URLs, 0 exact duplicates, 0 duplicate URLs with conflicting labels.</a:t>
            </a:r>
            <a:endParaRPr lang="en-US" sz="1280" dirty="0"/>
          </a:p>
        </p:txBody>
      </p:sp>
      <p:pic>
        <p:nvPicPr>
          <p:cNvPr id="26" name="Image 0" descr="/mnt/data/slide_work/charts/cleaning_i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2390720"/>
            <a:ext cx="7269480" cy="2716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8229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49808" y="11430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" y="1664208"/>
            <a:ext cx="59436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90195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cleaning, the notebook explores class balance, length behavior, lexical cues, suspicious tokens, and domain structure.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0" y="10058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200" b="1" dirty="0">
                <a:solidFill>
                  <a:srgbClr val="153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200" dirty="0"/>
          </a:p>
        </p:txBody>
      </p:sp>
      <p:sp>
        <p:nvSpPr>
          <p:cNvPr id="7" name="Shape 5"/>
          <p:cNvSpPr/>
          <p:nvPr/>
        </p:nvSpPr>
        <p:spPr>
          <a:xfrm>
            <a:off x="731520" y="6473952"/>
            <a:ext cx="10698480" cy="0"/>
          </a:xfrm>
          <a:prstGeom prst="line">
            <a:avLst/>
          </a:prstGeom>
          <a:noFill/>
          <a:ln w="12700">
            <a:solidFill>
              <a:srgbClr val="1A3E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64190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URL Dataset Analysis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92840" y="64099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05A / EDA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34747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and URL length behavior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795528"/>
            <a:ext cx="50292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EDA results below are computed on the cleaned dataset (640,792 rows).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6473952"/>
            <a:ext cx="10698480" cy="0"/>
          </a:xfrm>
          <a:prstGeom prst="line">
            <a:avLst/>
          </a:prstGeom>
          <a:noFill/>
          <a:ln w="12700">
            <a:solidFill>
              <a:srgbClr val="1A3E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4190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URL Dataset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92840" y="64099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9" name="Image 0" descr="/mnt/data/slide_work/charts/class_distribution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23837"/>
            <a:ext cx="3886200" cy="2598846"/>
          </a:xfrm>
          <a:prstGeom prst="rect">
            <a:avLst/>
          </a:prstGeom>
        </p:spPr>
      </p:pic>
      <p:pic>
        <p:nvPicPr>
          <p:cNvPr id="10" name="Image 1" descr="/mnt/data/notebook_assets/cell_21_out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059276"/>
            <a:ext cx="6656832" cy="23279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5285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20" dirty="0"/>
          </a:p>
        </p:txBody>
      </p:sp>
      <p:sp>
        <p:nvSpPr>
          <p:cNvPr id="12" name="Text 8"/>
          <p:cNvSpPr/>
          <p:nvPr/>
        </p:nvSpPr>
        <p:spPr>
          <a:xfrm>
            <a:off x="950976" y="5294376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remains the majority class after cleaning (66.8%), so class-aware evaluation is essential.</a:t>
            </a:r>
            <a:endParaRPr lang="en-US" sz="1420" dirty="0"/>
          </a:p>
        </p:txBody>
      </p:sp>
      <p:sp>
        <p:nvSpPr>
          <p:cNvPr id="13" name="Text 9"/>
          <p:cNvSpPr/>
          <p:nvPr/>
        </p:nvSpPr>
        <p:spPr>
          <a:xfrm>
            <a:off x="4187952" y="5285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20" dirty="0"/>
          </a:p>
        </p:txBody>
      </p:sp>
      <p:sp>
        <p:nvSpPr>
          <p:cNvPr id="14" name="Text 10"/>
          <p:cNvSpPr/>
          <p:nvPr/>
        </p:nvSpPr>
        <p:spPr>
          <a:xfrm>
            <a:off x="4389120" y="5294376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length is clearly right-skewed, so the median is often a better picture of a “typical” URL than the mean.</a:t>
            </a:r>
            <a:endParaRPr lang="en-US" sz="1420" dirty="0"/>
          </a:p>
        </p:txBody>
      </p:sp>
      <p:sp>
        <p:nvSpPr>
          <p:cNvPr id="15" name="Text 11"/>
          <p:cNvSpPr/>
          <p:nvPr/>
        </p:nvSpPr>
        <p:spPr>
          <a:xfrm>
            <a:off x="7699248" y="5285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20" dirty="0"/>
          </a:p>
        </p:txBody>
      </p:sp>
      <p:sp>
        <p:nvSpPr>
          <p:cNvPr id="16" name="Text 12"/>
          <p:cNvSpPr/>
          <p:nvPr/>
        </p:nvSpPr>
        <p:spPr>
          <a:xfrm>
            <a:off x="7900416" y="5294376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Defacement has the highest median length, while phishing is shorter on average but still produces a long tail.</a:t>
            </a:r>
            <a:endParaRPr lang="en-US" sz="14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05B / EDA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34747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structure and suspicious tokens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795528"/>
            <a:ext cx="50292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string features already separate the classes surprisingly well.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6473952"/>
            <a:ext cx="10698480" cy="0"/>
          </a:xfrm>
          <a:prstGeom prst="line">
            <a:avLst/>
          </a:prstGeom>
          <a:noFill/>
          <a:ln w="12700">
            <a:solidFill>
              <a:srgbClr val="1A3E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4190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URL Dataset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92840" y="64099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9" name="Image 0" descr="/mnt/data/slide_work/charts/lexical_comb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61083"/>
            <a:ext cx="8229600" cy="303875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44000" y="1508760"/>
            <a:ext cx="73152" cy="292608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72016" y="14996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as signal—not proof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098280" y="19019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20" dirty="0"/>
          </a:p>
        </p:txBody>
      </p:sp>
      <p:sp>
        <p:nvSpPr>
          <p:cNvPr id="13" name="Text 10"/>
          <p:cNvSpPr/>
          <p:nvPr/>
        </p:nvSpPr>
        <p:spPr>
          <a:xfrm>
            <a:off x="9299448" y="191109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Defacement URLs are the longest and most slash-heavy.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9098280" y="27432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FF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20" dirty="0"/>
          </a:p>
        </p:txBody>
      </p:sp>
      <p:sp>
        <p:nvSpPr>
          <p:cNvPr id="15" name="Text 12"/>
          <p:cNvSpPr/>
          <p:nvPr/>
        </p:nvSpPr>
        <p:spPr>
          <a:xfrm>
            <a:off x="9299448" y="2752344"/>
            <a:ext cx="2423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shows the most digits and dots, consistent with more IP-like or structured paths.</a:t>
            </a:r>
            <a:endParaRPr lang="en-US" sz="1420" dirty="0"/>
          </a:p>
        </p:txBody>
      </p:sp>
      <p:sp>
        <p:nvSpPr>
          <p:cNvPr id="16" name="Text 13"/>
          <p:cNvSpPr/>
          <p:nvPr/>
        </p:nvSpPr>
        <p:spPr>
          <a:xfrm>
            <a:off x="9098280" y="38221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20" dirty="0"/>
          </a:p>
        </p:txBody>
      </p:sp>
      <p:sp>
        <p:nvSpPr>
          <p:cNvPr id="17" name="Text 14"/>
          <p:cNvSpPr/>
          <p:nvPr/>
        </p:nvSpPr>
        <p:spPr>
          <a:xfrm>
            <a:off x="9299448" y="383133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contains the highest rates of login/account/secure-style tokens.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9125712" y="4919472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token cues are interpretable, but many malicious URLs still contain no obvious keywords at all.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05C / EDA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34747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strings, IP-host URLs, and TLD composition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795528"/>
            <a:ext cx="50292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patterns are strong, but they must be interpreted in context.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6473952"/>
            <a:ext cx="10698480" cy="0"/>
          </a:xfrm>
          <a:prstGeom prst="line">
            <a:avLst/>
          </a:prstGeom>
          <a:noFill/>
          <a:ln w="12700">
            <a:solidFill>
              <a:srgbClr val="1A3E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4190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URL Dataset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92840" y="64099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9" name="Image 0" descr="/mnt/data/slide_work/charts/structure_comb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41236"/>
            <a:ext cx="8138160" cy="39424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25712" y="1517904"/>
            <a:ext cx="73152" cy="292608"/>
          </a:xfrm>
          <a:prstGeom prst="rect">
            <a:avLst/>
          </a:prstGeom>
          <a:solidFill>
            <a:srgbClr val="FF5A87"/>
          </a:solidFill>
          <a:ln w="12700">
            <a:solidFill>
              <a:srgbClr val="FF5A8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53728" y="1508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carefully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098280" y="19019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20" dirty="0"/>
          </a:p>
        </p:txBody>
      </p:sp>
      <p:sp>
        <p:nvSpPr>
          <p:cNvPr id="13" name="Text 10"/>
          <p:cNvSpPr/>
          <p:nvPr/>
        </p:nvSpPr>
        <p:spPr>
          <a:xfrm>
            <a:off x="9299448" y="191109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Defacement URLs are far more likely to include query strings (56.6%).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9098280" y="2798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FF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20" dirty="0"/>
          </a:p>
        </p:txBody>
      </p:sp>
      <p:sp>
        <p:nvSpPr>
          <p:cNvPr id="15" name="Text 12"/>
          <p:cNvSpPr/>
          <p:nvPr/>
        </p:nvSpPr>
        <p:spPr>
          <a:xfrm>
            <a:off x="9299448" y="2807208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IP-host URLs stand out as a malware cue (49.8%) and are rare elsewhere.</a:t>
            </a:r>
            <a:endParaRPr lang="en-US" sz="1420" dirty="0"/>
          </a:p>
        </p:txBody>
      </p:sp>
      <p:sp>
        <p:nvSpPr>
          <p:cNvPr id="16" name="Text 13"/>
          <p:cNvSpPr/>
          <p:nvPr/>
        </p:nvSpPr>
        <p:spPr>
          <a:xfrm>
            <a:off x="9098280" y="3913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20" dirty="0"/>
          </a:p>
        </p:txBody>
      </p:sp>
      <p:sp>
        <p:nvSpPr>
          <p:cNvPr id="17" name="Text 14"/>
          <p:cNvSpPr/>
          <p:nvPr/>
        </p:nvSpPr>
        <p:spPr>
          <a:xfrm>
            <a:off x="9299448" y="3922776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 mix differs across classes, but it is contextual evidence—not proof that a TLD is good or bad.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9125712" y="5230368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sample sizes make these class-level intervals narrow, but source mix and registration patterns still influence what you see.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8229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STATISTICS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49808" y="1143000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Reasoning &amp; Interpretation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" y="1664208"/>
            <a:ext cx="59436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901952"/>
            <a:ext cx="6217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section moves from point estimates to variability, confidence intervals, uncertainty, and interpretation boundaries.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35240" y="126187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0" b="1" dirty="0">
                <a:solidFill>
                  <a:srgbClr val="153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</a:t>
            </a:r>
            <a:endParaRPr lang="en-US" sz="7400" dirty="0"/>
          </a:p>
        </p:txBody>
      </p:sp>
      <p:sp>
        <p:nvSpPr>
          <p:cNvPr id="7" name="Shape 5"/>
          <p:cNvSpPr/>
          <p:nvPr/>
        </p:nvSpPr>
        <p:spPr>
          <a:xfrm>
            <a:off x="731520" y="6473952"/>
            <a:ext cx="10698480" cy="0"/>
          </a:xfrm>
          <a:prstGeom prst="line">
            <a:avLst/>
          </a:prstGeom>
          <a:noFill/>
          <a:ln w="12700">
            <a:solidFill>
              <a:srgbClr val="1A3E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64190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URL Dataset Analysis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92840" y="64099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06A / STATISTICS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34747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summaries of URL length by class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795528"/>
            <a:ext cx="50292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IQR, coefficient of variation, and confidence intervals tell different parts of the story.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6473952"/>
            <a:ext cx="10698480" cy="0"/>
          </a:xfrm>
          <a:prstGeom prst="line">
            <a:avLst/>
          </a:prstGeom>
          <a:noFill/>
          <a:ln w="12700">
            <a:solidFill>
              <a:srgbClr val="1A3E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4190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URL Dataset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92840" y="64099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9" name="Image 0" descr="/mnt/data/slide_work/charts/length_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17685"/>
            <a:ext cx="5577840" cy="3469519"/>
          </a:xfrm>
          <a:prstGeom prst="rect">
            <a:avLst/>
          </a:prstGeom>
        </p:spPr>
      </p:pic>
      <p:pic>
        <p:nvPicPr>
          <p:cNvPr id="10" name="Image 1" descr="/mnt/data/slide_work/charts/length_summary_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586277"/>
            <a:ext cx="4800600" cy="18109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37960" y="4041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80" dirty="0"/>
          </a:p>
        </p:txBody>
      </p:sp>
      <p:sp>
        <p:nvSpPr>
          <p:cNvPr id="12" name="Text 8"/>
          <p:cNvSpPr/>
          <p:nvPr/>
        </p:nvSpPr>
        <p:spPr>
          <a:xfrm>
            <a:off x="6739128" y="4050792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exceed medians in every class, which confirms right-skew instead of tidy symmetric distributions.</a:t>
            </a:r>
            <a:endParaRPr lang="en-US" sz="1380" dirty="0"/>
          </a:p>
        </p:txBody>
      </p:sp>
      <p:sp>
        <p:nvSpPr>
          <p:cNvPr id="13" name="Text 9"/>
          <p:cNvSpPr/>
          <p:nvPr/>
        </p:nvSpPr>
        <p:spPr>
          <a:xfrm>
            <a:off x="6537960" y="4828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80" dirty="0"/>
          </a:p>
        </p:txBody>
      </p:sp>
      <p:sp>
        <p:nvSpPr>
          <p:cNvPr id="14" name="Text 10"/>
          <p:cNvSpPr/>
          <p:nvPr/>
        </p:nvSpPr>
        <p:spPr>
          <a:xfrm>
            <a:off x="6739128" y="4837176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has the highest relative variability (CV = 0.95), while defacement is the most stable (CV = 0.49).</a:t>
            </a:r>
            <a:endParaRPr lang="en-US" sz="1380" dirty="0"/>
          </a:p>
        </p:txBody>
      </p:sp>
      <p:sp>
        <p:nvSpPr>
          <p:cNvPr id="15" name="Text 11"/>
          <p:cNvSpPr/>
          <p:nvPr/>
        </p:nvSpPr>
        <p:spPr>
          <a:xfrm>
            <a:off x="6537960" y="56509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0" b="1" dirty="0">
                <a:solidFill>
                  <a:srgbClr val="FF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80" dirty="0"/>
          </a:p>
        </p:txBody>
      </p:sp>
      <p:sp>
        <p:nvSpPr>
          <p:cNvPr id="16" name="Text 12"/>
          <p:cNvSpPr/>
          <p:nvPr/>
        </p:nvSpPr>
        <p:spPr>
          <a:xfrm>
            <a:off x="6739128" y="5660136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95% CI bars are narrow because the sample sizes are large—not because URLs within a class are all similar.</a:t>
            </a:r>
            <a:endParaRPr lang="en-US" sz="13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06B / STATISTICS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34747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Interpretation, feature redundancy, and uncertainty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795528"/>
            <a:ext cx="50292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 are informative, but they do not justify overclaiming.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6473952"/>
            <a:ext cx="10698480" cy="0"/>
          </a:xfrm>
          <a:prstGeom prst="line">
            <a:avLst/>
          </a:prstGeom>
          <a:noFill/>
          <a:ln w="12700">
            <a:solidFill>
              <a:srgbClr val="1A3E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4190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URL Dataset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92840" y="64099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9" name="Image 0" descr="/mnt/data/slide_work/charts/correlation_r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73603"/>
            <a:ext cx="5074920" cy="307655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26480" y="1554480"/>
            <a:ext cx="73152" cy="292608"/>
          </a:xfrm>
          <a:prstGeom prst="rect">
            <a:avLst/>
          </a:prstGeom>
          <a:solidFill>
            <a:srgbClr val="19C37D"/>
          </a:solidFill>
          <a:ln w="12700">
            <a:solidFill>
              <a:srgbClr val="19C37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54496" y="15453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results actually mean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108192" y="1938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20" dirty="0"/>
          </a:p>
        </p:txBody>
      </p:sp>
      <p:sp>
        <p:nvSpPr>
          <p:cNvPr id="13" name="Text 10"/>
          <p:cNvSpPr/>
          <p:nvPr/>
        </p:nvSpPr>
        <p:spPr>
          <a:xfrm>
            <a:off x="6309360" y="1947672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text alone contains meaningful signal: length, query structure, IP-host usage, and phishing-style words all vary by class.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6108192" y="2926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20" dirty="0"/>
          </a:p>
        </p:txBody>
      </p:sp>
      <p:sp>
        <p:nvSpPr>
          <p:cNvPr id="15" name="Text 12"/>
          <p:cNvSpPr/>
          <p:nvPr/>
        </p:nvSpPr>
        <p:spPr>
          <a:xfrm>
            <a:off x="6309360" y="2935224"/>
            <a:ext cx="4892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signals overlap. For example, longer URLs naturally accumulate more slashes and digits, so correlated features are not independent evidence.</a:t>
            </a:r>
            <a:endParaRPr lang="en-US" sz="1420" dirty="0"/>
          </a:p>
        </p:txBody>
      </p:sp>
      <p:sp>
        <p:nvSpPr>
          <p:cNvPr id="16" name="Shape 13"/>
          <p:cNvSpPr/>
          <p:nvPr/>
        </p:nvSpPr>
        <p:spPr>
          <a:xfrm>
            <a:off x="6126480" y="4069080"/>
            <a:ext cx="73152" cy="292608"/>
          </a:xfrm>
          <a:prstGeom prst="rect">
            <a:avLst/>
          </a:prstGeom>
          <a:solidFill>
            <a:srgbClr val="FF5A87"/>
          </a:solidFill>
          <a:ln w="12700">
            <a:solidFill>
              <a:srgbClr val="FF5A8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54496" y="4059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and limitations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108192" y="44622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FF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20" dirty="0"/>
          </a:p>
        </p:txBody>
      </p:sp>
      <p:sp>
        <p:nvSpPr>
          <p:cNvPr id="19" name="Text 16"/>
          <p:cNvSpPr/>
          <p:nvPr/>
        </p:nvSpPr>
        <p:spPr>
          <a:xfrm>
            <a:off x="6309360" y="4471416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 here quantify within-dataset precision; they do not guarantee real-world performance.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6108192" y="53583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20" dirty="0"/>
          </a:p>
        </p:txBody>
      </p:sp>
      <p:sp>
        <p:nvSpPr>
          <p:cNvPr id="21" name="Text 18"/>
          <p:cNvSpPr/>
          <p:nvPr/>
        </p:nvSpPr>
        <p:spPr>
          <a:xfrm>
            <a:off x="6309360" y="5367528"/>
            <a:ext cx="4892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descriptive patterns, not causal explanations. Label noise, source bias, and time drift can all change what “typical” looks like.</a:t>
            </a:r>
            <a:endParaRPr lang="en-US" sz="1420" dirty="0"/>
          </a:p>
        </p:txBody>
      </p:sp>
      <p:sp>
        <p:nvSpPr>
          <p:cNvPr id="22" name="Text 19"/>
          <p:cNvSpPr/>
          <p:nvPr/>
        </p:nvSpPr>
        <p:spPr>
          <a:xfrm>
            <a:off x="749808" y="605332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useful for feature discovery; weak as proof of future generalization.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WRAP UP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34747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take forward from this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795528"/>
            <a:ext cx="50292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326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surfaces interpretable signals, but it also makes the caveats explicit.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6473952"/>
            <a:ext cx="10698480" cy="0"/>
          </a:xfrm>
          <a:prstGeom prst="line">
            <a:avLst/>
          </a:prstGeom>
          <a:noFill/>
          <a:ln w="12700">
            <a:solidFill>
              <a:srgbClr val="1A3E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4190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URL Dataset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92840" y="64099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14173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strings alone carry useful signal—but those signals need class-aware evaluation and careful interpretation.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86384" y="2423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920" dirty="0"/>
          </a:p>
        </p:txBody>
      </p:sp>
      <p:sp>
        <p:nvSpPr>
          <p:cNvPr id="11" name="Text 9"/>
          <p:cNvSpPr/>
          <p:nvPr/>
        </p:nvSpPr>
        <p:spPr>
          <a:xfrm>
            <a:off x="987552" y="243230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promising cues: length profile, query strings, IP-host usage, and phishing-oriented tokens.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786384" y="3337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920" dirty="0"/>
          </a:p>
        </p:txBody>
      </p:sp>
      <p:sp>
        <p:nvSpPr>
          <p:cNvPr id="13" name="Text 11"/>
          <p:cNvSpPr/>
          <p:nvPr/>
        </p:nvSpPr>
        <p:spPr>
          <a:xfrm>
            <a:off x="987552" y="3346704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should emphasize macro F1, per-class recall, and stratified splits—not accuracy alone.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786384" y="4370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FF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920" dirty="0"/>
          </a:p>
        </p:txBody>
      </p:sp>
      <p:sp>
        <p:nvSpPr>
          <p:cNvPr id="15" name="Text 13"/>
          <p:cNvSpPr/>
          <p:nvPr/>
        </p:nvSpPr>
        <p:spPr>
          <a:xfrm>
            <a:off x="987552" y="4379976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Operationally, retrain and re-check drift because attacker behavior and source coverage can change over time.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89320" y="1325880"/>
            <a:ext cx="0" cy="4526280"/>
          </a:xfrm>
          <a:prstGeom prst="line">
            <a:avLst/>
          </a:prstGeom>
          <a:noFill/>
          <a:ln w="12700">
            <a:solidFill>
              <a:srgbClr val="1A3E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1572768"/>
            <a:ext cx="73152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15636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1938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lexical baseline and report results honestly: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27648" y="24871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01968" y="24871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cleaned dataset and keep the preprocessing deterministic.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27648" y="31821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601968" y="31821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class-aware metrics and show per-class errors.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27648" y="38770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01968" y="387705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fresher or differently sourced URLs before trusting deployment claims.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43800" y="4983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153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Malicious URL Dataset Analysis</dc:title>
  <dc:subject>Improved Malicious URL Dataset Analysis</dc:subject>
  <dc:creator>OpenAI</dc:creator>
  <cp:lastModifiedBy>OpenAI</cp:lastModifiedBy>
  <cp:revision>1</cp:revision>
  <dcterms:created xsi:type="dcterms:W3CDTF">2026-03-11T02:21:47Z</dcterms:created>
  <dcterms:modified xsi:type="dcterms:W3CDTF">2026-03-11T02:21:47Z</dcterms:modified>
</cp:coreProperties>
</file>